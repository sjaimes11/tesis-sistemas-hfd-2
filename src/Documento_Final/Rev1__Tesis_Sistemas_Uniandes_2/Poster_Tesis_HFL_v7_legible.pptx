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200864" cy="36009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200864" cy="36009072"/>
          </a:xfrm>
          <a:prstGeom prst="rect">
            <a:avLst/>
          </a:prstGeom>
          <a:solidFill>
            <a:srgbClr val="FAF8F4"/>
          </a:solidFill>
          <a:ln w="12700"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mplate_header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200864" cy="24871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2487168"/>
            <a:ext cx="12390120" cy="502920"/>
          </a:xfrm>
          <a:prstGeom prst="rect">
            <a:avLst/>
          </a:prstGeom>
          <a:solidFill>
            <a:srgbClr val="F1DACE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774168" y="2487168"/>
            <a:ext cx="12042648" cy="502920"/>
          </a:xfrm>
          <a:prstGeom prst="rect">
            <a:avLst/>
          </a:prstGeom>
          <a:solidFill>
            <a:srgbClr val="F1DACE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96896"/>
            <a:ext cx="119786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40" b="1">
                <a:solidFill>
                  <a:srgbClr val="1E2226"/>
                </a:solidFill>
                <a:latin typeface="Segoe UI"/>
              </a:defRPr>
            </a:pPr>
            <a:r>
              <a:t>COMITÉ - Seguridad, Redes e 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0" y="2596896"/>
            <a:ext cx="11750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880" b="0">
                <a:solidFill>
                  <a:srgbClr val="1E2226"/>
                </a:solidFill>
                <a:latin typeface="Segoe UI"/>
              </a:defRPr>
            </a:pPr>
            <a:r>
              <a:t>Asesor: Prof. Carlos Andrés Lozano Garzón, PhD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063240"/>
            <a:ext cx="23820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22951440" cy="8961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1E2226"/>
                </a:solidFill>
                <a:latin typeface="Segoe UI"/>
              </a:defRPr>
            </a:pPr>
            <a:r>
              <a:t>Sistema de detección de intrusiones para redes IoT/MQTT mediante TinyML, HFL y ASCON-128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15968"/>
            <a:ext cx="2382012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53712"/>
            <a:ext cx="2295144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70" b="1">
                <a:solidFill>
                  <a:srgbClr val="255B9A"/>
                </a:solidFill>
                <a:latin typeface="Segoe UI"/>
              </a:defRPr>
            </a:pPr>
            <a:r>
              <a:t>Santiago Alejandro Jaimes Puerto  |  Nicolás Casas Ibarra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92624"/>
            <a:ext cx="2295144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255B9A"/>
                </a:solidFill>
                <a:latin typeface="Segoe UI"/>
              </a:defRPr>
            </a:pPr>
            <a:r>
              <a:t>Correos institucionales: por completar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21808"/>
            <a:ext cx="229514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0">
                <a:solidFill>
                  <a:srgbClr val="5B636A"/>
                </a:solidFill>
                <a:latin typeface="Segoe UI"/>
              </a:defRPr>
            </a:pPr>
            <a:r>
              <a:t>Universidad de los Andes - Departamento de Ingeniería de Sistemas y Computación - 2026</a:t>
            </a:r>
          </a:p>
        </p:txBody>
      </p:sp>
      <p:pic>
        <p:nvPicPr>
          <p:cNvPr id="14" name="Picture 13" descr="template_bar_blue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72200"/>
            <a:ext cx="23820120" cy="6035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1832" y="6300216"/>
            <a:ext cx="2330805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520" b="1">
                <a:solidFill>
                  <a:srgbClr val="FFFFFF"/>
                </a:solidFill>
                <a:latin typeface="Segoe UI"/>
              </a:defRPr>
            </a:pPr>
            <a:r>
              <a:t>Resumen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775704"/>
            <a:ext cx="23820120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7068312"/>
            <a:ext cx="23161752" cy="199339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E2226"/>
                </a:solidFill>
                <a:latin typeface="Segoe UI"/>
              </a:defRPr>
            </a:pPr>
            <a:r>
              <a:t>Esta tesis diseña, implementa y evalúa un IDS para tráfico IoT/MQTT sobre una arquitectura Edge-Fog-Cloud. El sistema ejecuta inferencia TinyML en ESP32-S3, entrenamiento local y agregación en Raspberry Pi, y coordinación global en PC. Se comparan variantes RN/MLP, CNN-1D, ASCON/no-ASCON y FOG/no-FOG. Los resultados muestran que HFL puede operar en hardware real con accuracy global entre 92.98% y 97.50%, mientras ASCON-128 protege pesos y features con overhead temporal menor a 0.1% del ciclo federado.</a:t>
            </a:r>
          </a:p>
        </p:txBody>
      </p:sp>
      <p:pic>
        <p:nvPicPr>
          <p:cNvPr id="18" name="Picture 17" descr="template_bar_orange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9738360"/>
            <a:ext cx="11658600" cy="6035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1832" y="9866376"/>
            <a:ext cx="111465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520" b="1">
                <a:solidFill>
                  <a:srgbClr val="FFFFFF"/>
                </a:solidFill>
                <a:latin typeface="Segoe UI"/>
              </a:defRPr>
            </a:pPr>
            <a:r>
              <a:t>Introducción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10341864"/>
            <a:ext cx="11658600" cy="3191256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3" y="10634472"/>
            <a:ext cx="11000232" cy="2679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130" b="0">
                <a:solidFill>
                  <a:srgbClr val="1E2226"/>
                </a:solidFill>
                <a:latin typeface="Segoe UI"/>
              </a:defRPr>
            </a:pPr>
            <a:r>
              <a:t>• Las redes IoT/IIoT aumentan la superficie de ataque y usan hardware restringido.</a:t>
            </a:r>
          </a:p>
          <a:p>
            <a:pPr algn="l">
              <a:spcAft>
                <a:spcPts val="0"/>
              </a:spcAft>
              <a:defRPr sz="1130" b="0">
                <a:solidFill>
                  <a:srgbClr val="1E2226"/>
                </a:solidFill>
                <a:latin typeface="Segoe UI"/>
              </a:defRPr>
            </a:pPr>
            <a:r>
              <a:t>• Los IDS centralizados exigen mover datos crudos y modelos grandes.</a:t>
            </a:r>
          </a:p>
          <a:p>
            <a:pPr algn="l">
              <a:spcAft>
                <a:spcPts val="0"/>
              </a:spcAft>
              <a:defRPr sz="1130" b="0">
                <a:solidFill>
                  <a:srgbClr val="1E2226"/>
                </a:solidFill>
                <a:latin typeface="Segoe UI"/>
              </a:defRPr>
            </a:pPr>
            <a:r>
              <a:t>• FL reduce transferencia de datos, pero los pesos y métricas siguen siendo activos sensibles.</a:t>
            </a:r>
          </a:p>
          <a:p>
            <a:pPr algn="l">
              <a:spcAft>
                <a:spcPts val="0"/>
              </a:spcAft>
              <a:defRPr sz="1130" b="0">
                <a:solidFill>
                  <a:srgbClr val="1E2226"/>
                </a:solidFill>
                <a:latin typeface="Segoe UI"/>
              </a:defRPr>
            </a:pPr>
            <a:r>
              <a:t>• ASCON-128 se integra como cifrado autenticado ligero para proteger el ciclo federado.</a:t>
            </a:r>
          </a:p>
        </p:txBody>
      </p:sp>
      <p:pic>
        <p:nvPicPr>
          <p:cNvPr id="22" name="Picture 21" descr="template_bar_orange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898880"/>
            <a:ext cx="11658600" cy="6035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1832" y="14026896"/>
            <a:ext cx="111465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520" b="1">
                <a:solidFill>
                  <a:srgbClr val="FFFFFF"/>
                </a:solidFill>
                <a:latin typeface="Segoe UI"/>
              </a:defRPr>
            </a:pPr>
            <a:r>
              <a:t>Objetivos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14502384"/>
            <a:ext cx="11658600" cy="3465576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3" y="14794992"/>
            <a:ext cx="11000232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160" b="1">
                <a:solidFill>
                  <a:srgbClr val="1E2226"/>
                </a:solidFill>
                <a:latin typeface="Segoe UI"/>
              </a:defRPr>
            </a:pPr>
            <a:r>
              <a:t>Objetivo general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15233904"/>
            <a:ext cx="11000232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1E2226"/>
                </a:solidFill>
                <a:latin typeface="Segoe UI"/>
              </a:defRPr>
            </a:pPr>
            <a:r>
              <a:t>Diseñar, implementar y evaluar un IDS IoT/MQTT basado en TinyML, HFL y ASCON-128.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3" y="16056863"/>
            <a:ext cx="11000232" cy="1673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E2226"/>
                </a:solidFill>
                <a:latin typeface="Segoe UI"/>
              </a:defRPr>
            </a:pPr>
            <a:r>
              <a:t>• Construir pipeline de 13 features y tres clases.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1E2226"/>
                </a:solidFill>
                <a:latin typeface="Segoe UI"/>
              </a:defRPr>
            </a:pPr>
            <a:r>
              <a:t>• Comparar modelos compactos: MLP/RN, CNN-1D, Residual-MLP y Transformer.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1E2226"/>
                </a:solidFill>
                <a:latin typeface="Segoe UI"/>
              </a:defRPr>
            </a:pPr>
            <a:r>
              <a:t>• Implementar HFL bidireccional PC-RPi-ESP32.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1E2226"/>
                </a:solidFill>
                <a:latin typeface="Segoe UI"/>
              </a:defRPr>
            </a:pPr>
            <a:r>
              <a:t>• Medir impacto de ASCON, no-ASCON y FOG.</a:t>
            </a:r>
          </a:p>
        </p:txBody>
      </p:sp>
      <p:pic>
        <p:nvPicPr>
          <p:cNvPr id="28" name="Picture 27" descr="template_bar_orange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333720"/>
            <a:ext cx="11658600" cy="6035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41832" y="18461736"/>
            <a:ext cx="111465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520" b="1">
                <a:solidFill>
                  <a:srgbClr val="FFFFFF"/>
                </a:solidFill>
                <a:latin typeface="Segoe UI"/>
              </a:defRPr>
            </a:pPr>
            <a:r>
              <a:t>Metodología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18937224"/>
            <a:ext cx="11658600" cy="10094976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3" y="19229832"/>
            <a:ext cx="11000232" cy="2057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E2226"/>
                </a:solidFill>
                <a:latin typeface="Segoe UI"/>
              </a:defRPr>
            </a:pPr>
            <a:r>
              <a:t>• Fase 1: preparación de dataset con 256 276 flujos y StandardScaler.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1E2226"/>
                </a:solidFill>
                <a:latin typeface="Segoe UI"/>
              </a:defRPr>
            </a:pPr>
            <a:r>
              <a:t>• Fase 2: entrenamiento offline y exportación de pesos/scaler.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1E2226"/>
                </a:solidFill>
                <a:latin typeface="Segoe UI"/>
              </a:defRPr>
            </a:pPr>
            <a:r>
              <a:t>• Fase 3: despliegue TinyML en ESP32-S3.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1E2226"/>
                </a:solidFill>
                <a:latin typeface="Segoe UI"/>
              </a:defRPr>
            </a:pPr>
            <a:r>
              <a:t>• Fase 4: HFL con Raspberry Pi y PC usando FedAvg ponderado.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1E2226"/>
                </a:solidFill>
                <a:latin typeface="Segoe UI"/>
              </a:defRPr>
            </a:pPr>
            <a:r>
              <a:t>• Fase 5: cifrado ASCON-128 y baseline JSON plano.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1E2226"/>
                </a:solidFill>
                <a:latin typeface="Segoe UI"/>
              </a:defRPr>
            </a:pPr>
            <a:r>
              <a:t>• Fase 6: análisis temporal de accuracy, loss y magnitud de pesos.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983" y="21652992"/>
            <a:ext cx="11000232" cy="1874519"/>
          </a:xfrm>
          <a:prstGeom prst="rect">
            <a:avLst/>
          </a:prstGeom>
          <a:solidFill>
            <a:srgbClr val="F5F7F8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9575" y="21817584"/>
            <a:ext cx="10671048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19" b="1">
                <a:solidFill>
                  <a:srgbClr val="255B9A"/>
                </a:solidFill>
                <a:latin typeface="Segoe UI"/>
              </a:defRPr>
            </a:pPr>
            <a:r>
              <a:t>Configuración HFL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5" y="22201632"/>
            <a:ext cx="10671048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E2226"/>
                </a:solidFill>
                <a:latin typeface="Segoe UI"/>
              </a:defRPr>
            </a:pPr>
            <a:r>
              <a:t>Gateway: 40 muestras por actualización, 5 épocas, batch=8, Adam lr=0.005.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E2226"/>
                </a:solidFill>
                <a:latin typeface="Segoe UI"/>
              </a:defRPr>
            </a:pPr>
            <a:r>
              <a:t>MLP/RN: 13 -&gt; 32 -&gt; 16 -&gt; 8 -&gt; 3; 1 139 parámetros; 163 federados.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E2226"/>
                </a:solidFill>
                <a:latin typeface="Segoe UI"/>
              </a:defRPr>
            </a:pPr>
            <a:r>
              <a:t>CNN-1D: Conv1D + BN + GAP + densas federadas.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3" y="23847552"/>
            <a:ext cx="11000232" cy="4434840"/>
          </a:xfrm>
          <a:prstGeom prst="rect">
            <a:avLst/>
          </a:prstGeom>
          <a:solidFill>
            <a:srgbClr val="F5F7F8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9575" y="24030432"/>
            <a:ext cx="10671048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19" b="1">
                <a:solidFill>
                  <a:srgbClr val="255B9A"/>
                </a:solidFill>
                <a:latin typeface="Segoe UI"/>
              </a:defRPr>
            </a:pPr>
            <a:r>
              <a:t>Variantes evaluadas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9575" y="24414480"/>
            <a:ext cx="10671048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1E2226"/>
                </a:solidFill>
                <a:latin typeface="Segoe UI"/>
              </a:defRPr>
            </a:pPr>
            <a:r>
              <a:t>• hfl_v7-RN: MLP/RN + ASCON, estándar y FOG.</a:t>
            </a:r>
          </a:p>
          <a:p>
            <a:pPr algn="l">
              <a:spcAft>
                <a:spcPts val="0"/>
              </a:spcAft>
              <a:defRPr sz="940" b="0">
                <a:solidFill>
                  <a:srgbClr val="1E2226"/>
                </a:solidFill>
                <a:latin typeface="Segoe UI"/>
              </a:defRPr>
            </a:pPr>
            <a:r>
              <a:t>• hfl_v7-no-ascon: MLP/RN + JSON plano, estándar y FOG.</a:t>
            </a:r>
          </a:p>
          <a:p>
            <a:pPr algn="l">
              <a:spcAft>
                <a:spcPts val="0"/>
              </a:spcAft>
              <a:defRPr sz="940" b="0">
                <a:solidFill>
                  <a:srgbClr val="1E2226"/>
                </a:solidFill>
                <a:latin typeface="Segoe UI"/>
              </a:defRPr>
            </a:pPr>
            <a:r>
              <a:t>• hfl_v7-CNN: CNN-1D + ASCON, estándar y FOG.</a:t>
            </a:r>
          </a:p>
          <a:p>
            <a:pPr algn="l">
              <a:spcAft>
                <a:spcPts val="0"/>
              </a:spcAft>
              <a:defRPr sz="940" b="0">
                <a:solidFill>
                  <a:srgbClr val="1E2226"/>
                </a:solidFill>
                <a:latin typeface="Segoe UI"/>
              </a:defRPr>
            </a:pPr>
            <a:r>
              <a:t>• FOG: leader/peer con topics fog/weights y fog/global_model.</a:t>
            </a:r>
          </a:p>
          <a:p>
            <a:pPr algn="l">
              <a:spcAft>
                <a:spcPts val="0"/>
              </a:spcAft>
              <a:defRPr sz="940" b="0">
                <a:solidFill>
                  <a:srgbClr val="1E2226"/>
                </a:solidFill>
                <a:latin typeface="Segoe UI"/>
              </a:defRPr>
            </a:pPr>
            <a:r>
              <a:t>• No-ASCON: topics fl/features_plain y fl/global_model_plain.</a:t>
            </a:r>
          </a:p>
        </p:txBody>
      </p:sp>
      <p:pic>
        <p:nvPicPr>
          <p:cNvPr id="38" name="Picture 37" descr="template_bar_orange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7320" y="9738360"/>
            <a:ext cx="11658600" cy="6035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103352" y="9866376"/>
            <a:ext cx="111465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520" b="1">
                <a:solidFill>
                  <a:srgbClr val="FFFFFF"/>
                </a:solidFill>
                <a:latin typeface="Segoe UI"/>
              </a:defRPr>
            </a:pPr>
            <a:r>
              <a:t>Diseño e implementación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47320" y="10341864"/>
            <a:ext cx="11658600" cy="7397496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6806580" y="10725912"/>
            <a:ext cx="3740078" cy="822960"/>
          </a:xfrm>
          <a:prstGeom prst="roundRect">
            <a:avLst/>
          </a:prstGeom>
          <a:solidFill>
            <a:srgbClr val="EBF2F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879732" y="10835640"/>
            <a:ext cx="3593774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19" b="1">
                <a:solidFill>
                  <a:srgbClr val="1E2226"/>
                </a:solidFill>
                <a:latin typeface="Segoe UI"/>
              </a:defRPr>
            </a:pPr>
            <a:r>
              <a:t>PC</a:t>
            </a:r>
          </a:p>
          <a:p>
            <a:pPr algn="ctr">
              <a:spcAft>
                <a:spcPts val="0"/>
              </a:spcAft>
              <a:defRPr sz="1019" b="1">
                <a:solidFill>
                  <a:srgbClr val="1E2226"/>
                </a:solidFill>
                <a:latin typeface="Segoe UI"/>
              </a:defRPr>
            </a:pPr>
            <a:r>
              <a:t>Cloud + FedAvg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836517" y="12006072"/>
            <a:ext cx="4180088" cy="822960"/>
          </a:xfrm>
          <a:prstGeom prst="roundRect">
            <a:avLst/>
          </a:prstGeom>
          <a:solidFill>
            <a:srgbClr val="EEF8E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909669" y="12115800"/>
            <a:ext cx="4033784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19" b="1">
                <a:solidFill>
                  <a:srgbClr val="1E2226"/>
                </a:solidFill>
                <a:latin typeface="Segoe UI"/>
              </a:defRPr>
            </a:pPr>
            <a:r>
              <a:t>RPi</a:t>
            </a:r>
          </a:p>
          <a:p>
            <a:pPr algn="ctr">
              <a:spcAft>
                <a:spcPts val="0"/>
              </a:spcAft>
              <a:defRPr sz="1019" b="1">
                <a:solidFill>
                  <a:srgbClr val="1E2226"/>
                </a:solidFill>
                <a:latin typeface="Segoe UI"/>
              </a:defRPr>
            </a:pPr>
            <a:r>
              <a:t>FOG leader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336633" y="12006072"/>
            <a:ext cx="4180088" cy="822960"/>
          </a:xfrm>
          <a:prstGeom prst="roundRect">
            <a:avLst/>
          </a:prstGeom>
          <a:solidFill>
            <a:srgbClr val="EEF8E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409785" y="12115800"/>
            <a:ext cx="4033784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19" b="1">
                <a:solidFill>
                  <a:srgbClr val="1E2226"/>
                </a:solidFill>
                <a:latin typeface="Segoe UI"/>
              </a:defRPr>
            </a:pPr>
            <a:r>
              <a:t>RPi</a:t>
            </a:r>
          </a:p>
          <a:p>
            <a:pPr algn="ctr">
              <a:spcAft>
                <a:spcPts val="0"/>
              </a:spcAft>
              <a:defRPr sz="1019" b="1">
                <a:solidFill>
                  <a:srgbClr val="1E2226"/>
                </a:solidFill>
                <a:latin typeface="Segoe UI"/>
              </a:defRPr>
            </a:pPr>
            <a:r>
              <a:t>FOG peer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836517" y="13377672"/>
            <a:ext cx="4180088" cy="822960"/>
          </a:xfrm>
          <a:prstGeom prst="roundRect">
            <a:avLst/>
          </a:prstGeom>
          <a:solidFill>
            <a:srgbClr val="FDEFE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909669" y="13487400"/>
            <a:ext cx="4033784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19" b="1">
                <a:solidFill>
                  <a:srgbClr val="1E2226"/>
                </a:solidFill>
                <a:latin typeface="Segoe UI"/>
              </a:defRPr>
            </a:pPr>
            <a:r>
              <a:t>ESP32-S3</a:t>
            </a:r>
          </a:p>
          <a:p>
            <a:pPr algn="ctr">
              <a:spcAft>
                <a:spcPts val="0"/>
              </a:spcAft>
              <a:defRPr sz="1019" b="1">
                <a:solidFill>
                  <a:srgbClr val="1E2226"/>
                </a:solidFill>
                <a:latin typeface="Segoe UI"/>
              </a:defRPr>
            </a:pPr>
            <a:r>
              <a:t>Edge 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336633" y="13377672"/>
            <a:ext cx="4180088" cy="822960"/>
          </a:xfrm>
          <a:prstGeom prst="roundRect">
            <a:avLst/>
          </a:prstGeom>
          <a:solidFill>
            <a:srgbClr val="FDEFE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409785" y="13487400"/>
            <a:ext cx="4033784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19" b="1">
                <a:solidFill>
                  <a:srgbClr val="1E2226"/>
                </a:solidFill>
                <a:latin typeface="Segoe UI"/>
              </a:defRPr>
            </a:pPr>
            <a:r>
              <a:t>ESP32-S3</a:t>
            </a:r>
          </a:p>
          <a:p>
            <a:pPr algn="ctr">
              <a:spcAft>
                <a:spcPts val="0"/>
              </a:spcAft>
              <a:defRPr sz="1019" b="1">
                <a:solidFill>
                  <a:srgbClr val="1E2226"/>
                </a:solidFill>
                <a:latin typeface="Segoe UI"/>
              </a:defRPr>
            </a:pPr>
            <a:r>
              <a:t>Edge B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18566617" y="11594592"/>
            <a:ext cx="292608" cy="438912"/>
          </a:xfrm>
          <a:prstGeom prst="downArrow">
            <a:avLst/>
          </a:prstGeom>
          <a:solidFill>
            <a:srgbClr val="EF6922"/>
          </a:solidFill>
          <a:ln>
            <a:solidFill>
              <a:srgbClr val="EF6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15816559" y="12874752"/>
            <a:ext cx="292608" cy="438912"/>
          </a:xfrm>
          <a:prstGeom prst="downArrow">
            <a:avLst/>
          </a:prstGeom>
          <a:solidFill>
            <a:srgbClr val="EF6922"/>
          </a:solidFill>
          <a:ln>
            <a:solidFill>
              <a:srgbClr val="EF6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21316675" y="12874752"/>
            <a:ext cx="292608" cy="438912"/>
          </a:xfrm>
          <a:prstGeom prst="downArrow">
            <a:avLst/>
          </a:prstGeom>
          <a:solidFill>
            <a:srgbClr val="EF6922"/>
          </a:solidFill>
          <a:ln>
            <a:solidFill>
              <a:srgbClr val="EF6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176504" y="14383512"/>
            <a:ext cx="11000232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B636A"/>
                </a:solidFill>
                <a:latin typeface="Segoe UI"/>
              </a:defRPr>
            </a:pPr>
            <a:r>
              <a:t>Top-down: modelo global. Bottom-up: features, pesos locales y FedAvg.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176504" y="15069312"/>
            <a:ext cx="11000232" cy="24048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1E2226"/>
                </a:solidFill>
                <a:latin typeface="Segoe UI"/>
              </a:defRPr>
            </a:pPr>
            <a:r>
              <a:t>• PC: FastAPI, modelo global, dashboard y FedAvg global.</a:t>
            </a:r>
          </a:p>
          <a:p>
            <a:pPr algn="l">
              <a:spcAft>
                <a:spcPts val="0"/>
              </a:spcAft>
              <a:defRPr sz="950" b="0">
                <a:solidFill>
                  <a:srgbClr val="1E2226"/>
                </a:solidFill>
                <a:latin typeface="Segoe UI"/>
              </a:defRPr>
            </a:pPr>
            <a:r>
              <a:t>• Raspberry Pi: broker MQTT, etiquetado heurístico, entrenamiento local y FedAvg fog.</a:t>
            </a:r>
          </a:p>
          <a:p>
            <a:pPr algn="l">
              <a:spcAft>
                <a:spcPts val="0"/>
              </a:spcAft>
              <a:defRPr sz="950" b="0">
                <a:solidFill>
                  <a:srgbClr val="1E2226"/>
                </a:solidFill>
                <a:latin typeface="Segoe UI"/>
              </a:defRPr>
            </a:pPr>
            <a:r>
              <a:t>• ESP32-S3: inferencia TinyML, cálculo/publicación de features y alertamiento.</a:t>
            </a:r>
          </a:p>
          <a:p>
            <a:pPr algn="l">
              <a:spcAft>
                <a:spcPts val="0"/>
              </a:spcAft>
              <a:defRPr sz="950" b="0">
                <a:solidFill>
                  <a:srgbClr val="1E2226"/>
                </a:solidFill>
                <a:latin typeface="Segoe UI"/>
              </a:defRPr>
            </a:pPr>
            <a:r>
              <a:t>• ASCON: payload autenticado {ct, tag, nonce}; no-ASCON: JSON plano comparable.</a:t>
            </a:r>
          </a:p>
        </p:txBody>
      </p:sp>
      <p:pic>
        <p:nvPicPr>
          <p:cNvPr id="56" name="Picture 55" descr="template_bar_orange_ha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7320" y="18105120"/>
            <a:ext cx="11658600" cy="60350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3103352" y="18233136"/>
            <a:ext cx="111465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520" b="1">
                <a:solidFill>
                  <a:srgbClr val="FFFFFF"/>
                </a:solidFill>
                <a:latin typeface="Segoe UI"/>
              </a:defRPr>
            </a:pPr>
            <a:r>
              <a:t>Resultados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47320" y="18708624"/>
            <a:ext cx="11658600" cy="10597896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176504" y="19001232"/>
            <a:ext cx="4730099" cy="468629"/>
          </a:xfrm>
          <a:prstGeom prst="rect">
            <a:avLst/>
          </a:prstGeom>
          <a:solidFill>
            <a:srgbClr val="255B9A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231368" y="19065240"/>
            <a:ext cx="4620371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1">
                <a:solidFill>
                  <a:srgbClr val="FFFFFF"/>
                </a:solidFill>
                <a:latin typeface="Segoe UI"/>
              </a:defRPr>
            </a:pPr>
            <a:r>
              <a:t>Variante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906603" y="19001232"/>
            <a:ext cx="1980041" cy="468629"/>
          </a:xfrm>
          <a:prstGeom prst="rect">
            <a:avLst/>
          </a:prstGeom>
          <a:solidFill>
            <a:srgbClr val="255B9A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961467" y="19065240"/>
            <a:ext cx="1870313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1">
                <a:solidFill>
                  <a:srgbClr val="FFFFFF"/>
                </a:solidFill>
                <a:latin typeface="Segoe UI"/>
              </a:defRPr>
            </a:pPr>
            <a:r>
              <a:t>Acc.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886645" y="19001232"/>
            <a:ext cx="1980041" cy="468629"/>
          </a:xfrm>
          <a:prstGeom prst="rect">
            <a:avLst/>
          </a:prstGeom>
          <a:solidFill>
            <a:srgbClr val="255B9A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941509" y="19065240"/>
            <a:ext cx="1870313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1">
                <a:solidFill>
                  <a:srgbClr val="FFFFFF"/>
                </a:solidFill>
                <a:latin typeface="Segoe UI"/>
              </a:defRPr>
            </a:pPr>
            <a:r>
              <a:t>Loss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866687" y="19001232"/>
            <a:ext cx="2310048" cy="468629"/>
          </a:xfrm>
          <a:prstGeom prst="rect">
            <a:avLst/>
          </a:prstGeom>
          <a:solidFill>
            <a:srgbClr val="255B9A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921551" y="19065240"/>
            <a:ext cx="2200320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1">
                <a:solidFill>
                  <a:srgbClr val="FFFFFF"/>
                </a:solidFill>
                <a:latin typeface="Segoe UI"/>
              </a:defRPr>
            </a:pPr>
            <a:r>
              <a:t>Ronda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176504" y="19469862"/>
            <a:ext cx="4730099" cy="468629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231368" y="19533870"/>
            <a:ext cx="4620371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RN + ASCON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906603" y="19469862"/>
            <a:ext cx="1980041" cy="468629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961467" y="19533870"/>
            <a:ext cx="1870313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94.63%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886645" y="19469862"/>
            <a:ext cx="1980041" cy="468629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941509" y="19533870"/>
            <a:ext cx="1870313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0.1415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866687" y="19469862"/>
            <a:ext cx="2310048" cy="468629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921551" y="19533870"/>
            <a:ext cx="2200320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61.25 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176504" y="19938492"/>
            <a:ext cx="4730099" cy="468629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231368" y="20002500"/>
            <a:ext cx="4620371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RN sin ASCON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906603" y="19938492"/>
            <a:ext cx="1980041" cy="468629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7961467" y="20002500"/>
            <a:ext cx="1870313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92.98%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886645" y="19938492"/>
            <a:ext cx="1980041" cy="468629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941509" y="20002500"/>
            <a:ext cx="1870313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0.1581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866687" y="19938492"/>
            <a:ext cx="2310048" cy="468629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921551" y="20002500"/>
            <a:ext cx="2200320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51.01 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176504" y="20407122"/>
            <a:ext cx="4730099" cy="468629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231368" y="20471130"/>
            <a:ext cx="4620371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CNN-1D + FOG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906603" y="20407122"/>
            <a:ext cx="1980041" cy="468629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7961467" y="20471130"/>
            <a:ext cx="1870313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97.50%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886645" y="20407122"/>
            <a:ext cx="1980041" cy="468629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9941509" y="20471130"/>
            <a:ext cx="1870313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0.0910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1866687" y="20407122"/>
            <a:ext cx="2310048" cy="468629"/>
          </a:xfrm>
          <a:prstGeom prst="rect">
            <a:avLst/>
          </a:prstGeom>
          <a:solidFill>
            <a:srgbClr val="EEF2F7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921551" y="20471130"/>
            <a:ext cx="2200320" cy="41376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30" b="0">
                <a:solidFill>
                  <a:srgbClr val="1E2226"/>
                </a:solidFill>
                <a:latin typeface="Segoe UI"/>
              </a:defRPr>
            </a:pPr>
            <a:r>
              <a:t>58.61 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176504" y="21150072"/>
            <a:ext cx="1100023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69" b="1">
                <a:solidFill>
                  <a:srgbClr val="1E2226"/>
                </a:solidFill>
                <a:latin typeface="Segoe UI"/>
              </a:defRPr>
            </a:pPr>
            <a:r>
              <a:t>Accuracy global final promedio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176504" y="21579840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69" b="1">
                <a:solidFill>
                  <a:srgbClr val="1E2226"/>
                </a:solidFill>
                <a:latin typeface="Segoe UI"/>
              </a:defRPr>
            </a:pPr>
            <a:r>
              <a:t>RN + ASCON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5599663" y="21598128"/>
            <a:ext cx="7296912" cy="182880"/>
          </a:xfrm>
          <a:prstGeom prst="rect">
            <a:avLst/>
          </a:prstGeom>
          <a:solidFill>
            <a:srgbClr val="E6E9EC"/>
          </a:solidFill>
          <a:ln w="12700"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599663" y="21598128"/>
            <a:ext cx="4031543" cy="182880"/>
          </a:xfrm>
          <a:prstGeom prst="rect">
            <a:avLst/>
          </a:prstGeom>
          <a:solidFill>
            <a:srgbClr val="255B9A"/>
          </a:solidFill>
          <a:ln w="12700">
            <a:solidFill>
              <a:srgbClr val="255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3079456" y="21524976"/>
            <a:ext cx="10515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255B9A"/>
                </a:solidFill>
                <a:latin typeface="Segoe UI"/>
              </a:defRPr>
            </a:pPr>
            <a:r>
              <a:t>94.63%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176504" y="22067520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69" b="1">
                <a:solidFill>
                  <a:srgbClr val="1E2226"/>
                </a:solidFill>
                <a:latin typeface="Segoe UI"/>
              </a:defRPr>
            </a:pPr>
            <a:r>
              <a:t>RN sin ASCON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5599663" y="22085808"/>
            <a:ext cx="7296912" cy="182880"/>
          </a:xfrm>
          <a:prstGeom prst="rect">
            <a:avLst/>
          </a:prstGeom>
          <a:solidFill>
            <a:srgbClr val="E6E9EC"/>
          </a:solidFill>
          <a:ln w="12700"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5599663" y="22085808"/>
            <a:ext cx="3028218" cy="182880"/>
          </a:xfrm>
          <a:prstGeom prst="rect">
            <a:avLst/>
          </a:prstGeom>
          <a:solidFill>
            <a:srgbClr val="2D9B80"/>
          </a:solidFill>
          <a:ln w="12700">
            <a:solidFill>
              <a:srgbClr val="2D9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079456" y="22012656"/>
            <a:ext cx="10515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2D9B80"/>
                </a:solidFill>
                <a:latin typeface="Segoe UI"/>
              </a:defRPr>
            </a:pPr>
            <a:r>
              <a:t>92.98%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176504" y="22555200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69" b="1">
                <a:solidFill>
                  <a:srgbClr val="1E2226"/>
                </a:solidFill>
                <a:latin typeface="Segoe UI"/>
              </a:defRPr>
            </a:pPr>
            <a:r>
              <a:t>CNN-1D + FOG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599663" y="22573488"/>
            <a:ext cx="7296912" cy="182880"/>
          </a:xfrm>
          <a:prstGeom prst="rect">
            <a:avLst/>
          </a:prstGeom>
          <a:solidFill>
            <a:srgbClr val="E6E9EC"/>
          </a:solidFill>
          <a:ln w="12700">
            <a:solidFill>
              <a:srgbClr val="E6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5599663" y="22573488"/>
            <a:ext cx="5776721" cy="182880"/>
          </a:xfrm>
          <a:prstGeom prst="rect">
            <a:avLst/>
          </a:prstGeom>
          <a:solidFill>
            <a:srgbClr val="EF6922"/>
          </a:solidFill>
          <a:ln w="12700">
            <a:solidFill>
              <a:srgbClr val="EF6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079456" y="22500336"/>
            <a:ext cx="10515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EF6922"/>
                </a:solidFill>
                <a:latin typeface="Segoe UI"/>
              </a:defRPr>
            </a:pPr>
            <a:r>
              <a:t>97.50%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176504" y="23097744"/>
            <a:ext cx="11000232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1E2226"/>
                </a:solidFill>
                <a:latin typeface="Segoe UI"/>
              </a:defRPr>
            </a:pPr>
            <a:r>
              <a:t>Curvas federadas v7: accuracy/loss y magnitud de pesos</a:t>
            </a:r>
          </a:p>
        </p:txBody>
      </p:sp>
      <p:pic>
        <p:nvPicPr>
          <p:cNvPr id="105" name="Picture 104" descr="hfl_v7_accuracy_loss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6504" y="23579383"/>
            <a:ext cx="5399531" cy="3691016"/>
          </a:xfrm>
          <a:prstGeom prst="rect">
            <a:avLst/>
          </a:prstGeom>
        </p:spPr>
      </p:pic>
      <p:pic>
        <p:nvPicPr>
          <p:cNvPr id="106" name="Picture 105" descr="hfl_v7_weight_magnitude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77203" y="23579383"/>
            <a:ext cx="5399531" cy="3691016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13176504" y="27550872"/>
            <a:ext cx="11000232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5B636A"/>
                </a:solidFill>
                <a:latin typeface="Segoe UI"/>
              </a:defRPr>
            </a:pPr>
            <a:r>
              <a:t>ASCON añade ~36% de tamaño por mensaje, pero el costo temporal medido es ~42 ms por ronda, equivalente a ~0.06% del ciclo FL.</a:t>
            </a:r>
          </a:p>
        </p:txBody>
      </p:sp>
      <p:pic>
        <p:nvPicPr>
          <p:cNvPr id="108" name="Picture 107" descr="template_bar_blue_hal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47320" y="29763719"/>
            <a:ext cx="11658600" cy="603504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3103352" y="29891735"/>
            <a:ext cx="111465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520" b="1">
                <a:solidFill>
                  <a:srgbClr val="FFFFFF"/>
                </a:solidFill>
                <a:latin typeface="Segoe UI"/>
              </a:defRPr>
            </a:pPr>
            <a:r>
              <a:t>Conclusiones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2847320" y="30367223"/>
            <a:ext cx="11658600" cy="3465576"/>
          </a:xfrm>
          <a:prstGeom prst="rect">
            <a:avLst/>
          </a:prstGeom>
          <a:solidFill>
            <a:srgbClr val="FFFFFF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3176504" y="30659831"/>
            <a:ext cx="11000232" cy="29535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40" b="0">
                <a:solidFill>
                  <a:srgbClr val="1E2226"/>
                </a:solidFill>
                <a:latin typeface="Segoe UI"/>
              </a:defRPr>
            </a:pPr>
            <a:r>
              <a:t>• La arquitectura HFL bidireccional fue validada en hardware real ESP32-S3, Raspberry Pi y PC.</a:t>
            </a:r>
          </a:p>
          <a:p>
            <a:pPr algn="l">
              <a:spcAft>
                <a:spcPts val="0"/>
              </a:spcAft>
              <a:defRPr sz="940" b="0">
                <a:solidFill>
                  <a:srgbClr val="1E2226"/>
                </a:solidFill>
                <a:latin typeface="Segoe UI"/>
              </a:defRPr>
            </a:pPr>
            <a:r>
              <a:t>• El MLP/RN ofrece el mejor balance entre simplicidad edge, memoria e inferencia.</a:t>
            </a:r>
          </a:p>
          <a:p>
            <a:pPr algn="l">
              <a:spcAft>
                <a:spcPts val="0"/>
              </a:spcAft>
              <a:defRPr sz="940" b="0">
                <a:solidFill>
                  <a:srgbClr val="1E2226"/>
                </a:solidFill>
                <a:latin typeface="Segoe UI"/>
              </a:defRPr>
            </a:pPr>
            <a:r>
              <a:t>• CNN-1D+FOG obtuvo el mejor accuracy promedio, aunque con mayor complejidad de implementación.</a:t>
            </a:r>
          </a:p>
          <a:p>
            <a:pPr algn="l">
              <a:spcAft>
                <a:spcPts val="0"/>
              </a:spcAft>
              <a:defRPr sz="940" b="0">
                <a:solidFill>
                  <a:srgbClr val="1E2226"/>
                </a:solidFill>
                <a:latin typeface="Segoe UI"/>
              </a:defRPr>
            </a:pPr>
            <a:r>
              <a:t>• ASCON-128 protege el ciclo federado con overhead temporal despreciable.</a:t>
            </a:r>
          </a:p>
          <a:p>
            <a:pPr algn="l">
              <a:spcAft>
                <a:spcPts val="0"/>
              </a:spcAft>
              <a:defRPr sz="940" b="0">
                <a:solidFill>
                  <a:srgbClr val="1E2226"/>
                </a:solidFill>
                <a:latin typeface="Segoe UI"/>
              </a:defRPr>
            </a:pPr>
            <a:r>
              <a:t>• Trabajo futuro: más gateways, datos non-IID reales y pruebas adversariales de poisoning.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0" y="34610040"/>
            <a:ext cx="25200864" cy="822960"/>
          </a:xfrm>
          <a:prstGeom prst="rect">
            <a:avLst/>
          </a:prstGeom>
          <a:solidFill>
            <a:srgbClr val="F1DACE"/>
          </a:solidFill>
          <a:ln w="12700">
            <a:solidFill>
              <a:srgbClr val="F1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383280" y="34866072"/>
            <a:ext cx="1847088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E2226"/>
                </a:solidFill>
                <a:latin typeface="Segoe UI"/>
              </a:defRPr>
            </a:pPr>
            <a:r>
              <a:t>http://sistemas.uniandes.edu.co     /DISCuniandes     @ISISUniandes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