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25203150" cy="36004500"/>
  <p:notesSz cx="6858000" cy="9144000"/>
  <p:defaultTextStyle>
    <a:defPPr>
      <a:defRPr lang="es-CO"/>
    </a:defPPr>
    <a:lvl1pPr marL="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1pPr>
    <a:lvl2pPr marL="174879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2pPr>
    <a:lvl3pPr marL="349758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3pPr>
    <a:lvl4pPr marL="524637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4pPr>
    <a:lvl5pPr marL="699516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5pPr>
    <a:lvl6pPr marL="874395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6pPr>
    <a:lvl7pPr marL="1049274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7pPr>
    <a:lvl8pPr marL="1224153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8pPr>
    <a:lvl9pPr marL="1399032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79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2D9"/>
    <a:srgbClr val="DBC965"/>
    <a:srgbClr val="295688"/>
    <a:srgbClr val="CC6634"/>
    <a:srgbClr val="668C46"/>
    <a:srgbClr val="663366"/>
    <a:srgbClr val="E66400"/>
    <a:srgbClr val="003399"/>
    <a:srgbClr val="915000"/>
    <a:srgbClr val="006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4" autoAdjust="0"/>
    <p:restoredTop sz="94604"/>
  </p:normalViewPr>
  <p:slideViewPr>
    <p:cSldViewPr>
      <p:cViewPr>
        <p:scale>
          <a:sx n="50" d="100"/>
          <a:sy n="50" d="100"/>
        </p:scale>
        <p:origin x="1158" y="-6120"/>
      </p:cViewPr>
      <p:guideLst>
        <p:guide orient="horz" pos="11340"/>
        <p:guide pos="79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58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ABEAF-95F9-44D9-8220-B5EB390C6BFF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B9EF3-57EF-49F1-93E1-F89EDA84B7D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44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7.png"/><Relationship Id="rId7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890236" y="11184739"/>
            <a:ext cx="21422678" cy="77176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780473" y="20402552"/>
            <a:ext cx="17642205" cy="92011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48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497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246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995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74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83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156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90876" y="23136226"/>
            <a:ext cx="21422678" cy="7150894"/>
          </a:xfrm>
        </p:spPr>
        <p:txBody>
          <a:bodyPr anchor="t"/>
          <a:lstStyle>
            <a:lvl1pPr algn="l">
              <a:defRPr sz="15300" b="1" cap="all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990876" y="15260249"/>
            <a:ext cx="21422678" cy="7875980"/>
          </a:xfrm>
        </p:spPr>
        <p:txBody>
          <a:bodyPr anchor="b"/>
          <a:lstStyle>
            <a:lvl1pPr marL="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1pPr>
            <a:lvl2pPr marL="174879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2pPr>
            <a:lvl3pPr marL="349758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524637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4pPr>
            <a:lvl5pPr marL="699516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5pPr>
            <a:lvl6pPr marL="874395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77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160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811603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62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9" y="8059343"/>
            <a:ext cx="11135768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60159" y="11418095"/>
            <a:ext cx="11135768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2802855" y="8059343"/>
            <a:ext cx="11140141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2802855" y="11418095"/>
            <a:ext cx="11140141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6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5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202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2" y="-71757"/>
            <a:ext cx="25269826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COMIT – Sub área / Programa estudiante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EC7327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pic>
        <p:nvPicPr>
          <p:cNvPr id="8" name="7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1233" y="35156826"/>
            <a:ext cx="720000" cy="72000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84" y="35104130"/>
            <a:ext cx="720000" cy="720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03" y="35140153"/>
            <a:ext cx="720000" cy="720000"/>
          </a:xfrm>
          <a:prstGeom prst="rect">
            <a:avLst/>
          </a:prstGeom>
        </p:spPr>
      </p:pic>
      <p:sp>
        <p:nvSpPr>
          <p:cNvPr id="14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145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S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TICSw</a:t>
            </a:r>
            <a:r>
              <a:rPr lang="es-ES" dirty="0"/>
              <a:t> – Sub área / Programa estudiante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24AAE1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25200000" cy="2538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4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84" y="35140234"/>
            <a:ext cx="720000" cy="720000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583" y="35104130"/>
            <a:ext cx="720000" cy="720000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5871" y="35201896"/>
            <a:ext cx="720000" cy="580646"/>
          </a:xfrm>
          <a:prstGeom prst="rect">
            <a:avLst/>
          </a:prstGeom>
        </p:spPr>
      </p:pic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82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IMAGINE / Programa estudiante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57AC4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" y="251"/>
            <a:ext cx="25282526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D:\Dropbox\Personales\Uniandes\Proyectos\Websis\iconos\svg\Redes\twitter_9F417E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2" y="3520938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ropbox\Personales\Uniandes\Proyectos\Websis\iconos\svg\Redes\web_9F417E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1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Dropbox\Personales\Uniandes\Proyectos\Websis\iconos\svg\Redes\facebook_9F417E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38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64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772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ARTIxxx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77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2050" name="Picture 2" descr="D:\Dropbox\Personales\Uniandes\Proyectos\Websis\iconos\svg\Redes\twitter_BB7F00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871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Dropbox\Personales\Uniandes\Proyectos\Websis\iconos\svg\Redes\web_BB7F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facebook_BB7F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94" y="351258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480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63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MSINxxx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63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web_9150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141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facebook_9150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81" y="3515500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twitter_9150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673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295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339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MBITxxx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0033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 descr="D:\Dropbox\Personales\Uniandes\Proyectos\Websis\iconos\svg\Redes\facebook_E66400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057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twitter_E66400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1" y="35206688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D:\Dropbox\Personales\Uniandes\Proyectos\Websis\iconos\svg\Redes\web_E664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18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356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66336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MISOxxx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66336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D:\Dropbox\Personales\Uniandes\Proyectos\Websis\iconos\svg\Redes\web_668c46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854" y="3508403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Dropbox\Personales\Uniandes\Proyectos\Websis\iconos\svg\Redes\facebook_668c46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503" y="35140233"/>
            <a:ext cx="720000" cy="72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Dropbox\Personales\Uniandes\Proyectos\Websis\iconos\svg\Redes\twitter_668c46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7959" y="35212162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165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448520"/>
            <a:ext cx="25235825" cy="720081"/>
          </a:xfrm>
          <a:solidFill>
            <a:srgbClr val="CC6634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ISISxxx</a:t>
            </a:r>
            <a:r>
              <a:rPr lang="es-ES" dirty="0"/>
              <a:t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CC663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624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7/05/2026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n-US" dirty="0" err="1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500313"/>
            <a:ext cx="12601321" cy="668288"/>
          </a:xfrm>
          <a:solidFill>
            <a:srgbClr val="DBC965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/>
              <a:t>Ingenier</a:t>
            </a:r>
            <a:r>
              <a:rPr lang="en-US" dirty="0" err="1"/>
              <a:t>ía</a:t>
            </a:r>
            <a:r>
              <a:rPr lang="en-US" dirty="0"/>
              <a:t> de </a:t>
            </a:r>
            <a:r>
              <a:rPr lang="en-US" dirty="0" err="1"/>
              <a:t>Sistemas</a:t>
            </a:r>
            <a:r>
              <a:rPr lang="en-US" dirty="0"/>
              <a:t> y </a:t>
            </a:r>
            <a:r>
              <a:rPr lang="en-US" dirty="0" err="1"/>
              <a:t>Computación</a:t>
            </a:r>
            <a:endParaRPr lang="es-ES" dirty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DBC965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 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http://sistemas.uniandes.edu.co</a:t>
            </a:r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/</a:t>
            </a:r>
            <a:r>
              <a:rPr lang="es-CO" sz="2400" b="1" dirty="0" err="1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introducción</a:t>
            </a:r>
            <a:r>
              <a:rPr lang="es-CO" dirty="0"/>
              <a:t> del proyecto</a:t>
            </a:r>
            <a:endParaRPr lang="es-ES" dirty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objetivos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el diseño e implementación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 metodología </a:t>
            </a:r>
            <a:r>
              <a:rPr lang="es-CO" dirty="0"/>
              <a:t>del proyecto</a:t>
            </a:r>
            <a:endParaRPr lang="es-ES" dirty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los resultados del </a:t>
            </a:r>
            <a:r>
              <a:rPr lang="es-CO" dirty="0"/>
              <a:t>proyecto</a:t>
            </a:r>
            <a:endParaRPr lang="es-ES" dirty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/>
              <a:t>Haga clic para ingresar las conclusiones del </a:t>
            </a:r>
            <a:r>
              <a:rPr lang="es-CO" dirty="0"/>
              <a:t>proyecto</a:t>
            </a:r>
            <a:endParaRPr lang="es-ES" dirty="0"/>
          </a:p>
        </p:txBody>
      </p:sp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01495" y="2500313"/>
            <a:ext cx="12644518" cy="668208"/>
          </a:xfrm>
          <a:solidFill>
            <a:srgbClr val="F7F2D9"/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/>
              <a:t>Asesor: &lt;asesor&gt; (&lt;correo asesor&gt;@uniandes.edu.co)</a:t>
            </a:r>
          </a:p>
        </p:txBody>
      </p:sp>
    </p:spTree>
    <p:extLst>
      <p:ext uri="{BB962C8B-B14F-4D97-AF65-F5344CB8AC3E}">
        <p14:creationId xmlns:p14="http://schemas.microsoft.com/office/powerpoint/2010/main" val="1759878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60159" y="1433514"/>
            <a:ext cx="8291664" cy="6100763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853733" y="1433516"/>
            <a:ext cx="14089263" cy="30728846"/>
          </a:xfrm>
        </p:spPr>
        <p:txBody>
          <a:bodyPr/>
          <a:lstStyle>
            <a:lvl1pPr>
              <a:defRPr sz="12200"/>
            </a:lvl1pPr>
            <a:lvl2pPr>
              <a:defRPr sz="10700"/>
            </a:lvl2pPr>
            <a:lvl3pPr>
              <a:defRPr sz="92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260159" y="7534279"/>
            <a:ext cx="8291664" cy="24628081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0237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39994" y="25203153"/>
            <a:ext cx="15121890" cy="2975376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39994" y="3217067"/>
            <a:ext cx="15121890" cy="21602700"/>
          </a:xfrm>
        </p:spPr>
        <p:txBody>
          <a:bodyPr/>
          <a:lstStyle>
            <a:lvl1pPr marL="0" indent="0">
              <a:buNone/>
              <a:defRPr sz="12200"/>
            </a:lvl1pPr>
            <a:lvl2pPr marL="1748790" indent="0">
              <a:buNone/>
              <a:defRPr sz="10700"/>
            </a:lvl2pPr>
            <a:lvl3pPr marL="3497580" indent="0">
              <a:buNone/>
              <a:defRPr sz="9200"/>
            </a:lvl3pPr>
            <a:lvl4pPr marL="5246370" indent="0">
              <a:buNone/>
              <a:defRPr sz="7700"/>
            </a:lvl4pPr>
            <a:lvl5pPr marL="6995160" indent="0">
              <a:buNone/>
              <a:defRPr sz="7700"/>
            </a:lvl5pPr>
            <a:lvl6pPr marL="8743950" indent="0">
              <a:buNone/>
              <a:defRPr sz="7700"/>
            </a:lvl6pPr>
            <a:lvl7pPr marL="10492740" indent="0">
              <a:buNone/>
              <a:defRPr sz="7700"/>
            </a:lvl7pPr>
            <a:lvl8pPr marL="12241530" indent="0">
              <a:buNone/>
              <a:defRPr sz="7700"/>
            </a:lvl8pPr>
            <a:lvl9pPr marL="13990320" indent="0">
              <a:buNone/>
              <a:defRPr sz="7700"/>
            </a:lvl9pPr>
          </a:lstStyle>
          <a:p>
            <a:r>
              <a:rPr lang="en-US"/>
              <a:t>Drag picture to placeholder or click icon to add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39994" y="28178529"/>
            <a:ext cx="15121890" cy="4225524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0331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843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8272286" y="1441856"/>
            <a:ext cx="5670709" cy="307205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157" y="1441856"/>
            <a:ext cx="16592074" cy="307205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23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260158" y="1441852"/>
            <a:ext cx="22682835" cy="6000750"/>
          </a:xfrm>
          <a:prstGeom prst="rect">
            <a:avLst/>
          </a:prstGeom>
        </p:spPr>
        <p:txBody>
          <a:bodyPr vert="horz" lIns="349758" tIns="174879" rIns="349758" bIns="174879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8" y="8401058"/>
            <a:ext cx="22682835" cy="23761304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2601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l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8611076" y="33370843"/>
            <a:ext cx="7980998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ct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80622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69A6C-8983-4CE5-98F7-B967F05418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219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56" r:id="rId17"/>
    <p:sldLayoutId id="2147483657" r:id="rId18"/>
    <p:sldLayoutId id="2147483658" r:id="rId19"/>
    <p:sldLayoutId id="2147483659" r:id="rId20"/>
  </p:sldLayoutIdLst>
  <p:txStyles>
    <p:titleStyle>
      <a:lvl1pPr algn="ctr" defTabSz="3497580" rtl="0" eaLnBrk="1" latinLnBrk="0" hangingPunct="1">
        <a:spcBef>
          <a:spcPct val="0"/>
        </a:spcBef>
        <a:buNone/>
        <a:defRPr sz="1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1593" indent="-1311593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200" kern="1200">
          <a:solidFill>
            <a:schemeClr val="tx1"/>
          </a:solidFill>
          <a:latin typeface="+mn-lt"/>
          <a:ea typeface="+mn-ea"/>
          <a:cs typeface="+mn-cs"/>
        </a:defRPr>
      </a:lvl1pPr>
      <a:lvl2pPr marL="2841784" indent="-1092994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700" kern="1200">
          <a:solidFill>
            <a:schemeClr val="tx1"/>
          </a:solidFill>
          <a:latin typeface="+mn-lt"/>
          <a:ea typeface="+mn-ea"/>
          <a:cs typeface="+mn-cs"/>
        </a:defRPr>
      </a:lvl2pPr>
      <a:lvl3pPr marL="437197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76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7700" kern="1200">
          <a:solidFill>
            <a:schemeClr val="tx1"/>
          </a:solidFill>
          <a:latin typeface="+mn-lt"/>
          <a:ea typeface="+mn-ea"/>
          <a:cs typeface="+mn-cs"/>
        </a:defRPr>
      </a:lvl4pPr>
      <a:lvl5pPr marL="786955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»"/>
        <a:defRPr sz="7700" kern="1200">
          <a:solidFill>
            <a:schemeClr val="tx1"/>
          </a:solidFill>
          <a:latin typeface="+mn-lt"/>
          <a:ea typeface="+mn-ea"/>
          <a:cs typeface="+mn-cs"/>
        </a:defRPr>
      </a:lvl5pPr>
      <a:lvl6pPr marL="961834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6pPr>
      <a:lvl7pPr marL="1136713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7pPr>
      <a:lvl8pPr marL="1311592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8pPr>
      <a:lvl9pPr marL="1486471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1pPr>
      <a:lvl2pPr marL="174879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2pPr>
      <a:lvl3pPr marL="349758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3pPr>
      <a:lvl4pPr marL="524637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699516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74395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49274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224153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4CDA58E3-C53D-661B-F020-915F27225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0005" y="12744313"/>
            <a:ext cx="7327990" cy="7327990"/>
          </a:xfrm>
          <a:prstGeom prst="rect">
            <a:avLst/>
          </a:prstGeom>
        </p:spPr>
      </p:pic>
      <p:pic>
        <p:nvPicPr>
          <p:cNvPr id="22" name="Picture 21" descr="hfl_v7_bidirectiona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72" y="25491082"/>
            <a:ext cx="11002797" cy="9321508"/>
          </a:xfrm>
          <a:prstGeom prst="rect">
            <a:avLst/>
          </a:prstGeom>
        </p:spPr>
      </p:pic>
      <p:pic>
        <p:nvPicPr>
          <p:cNvPr id="23" name="Picture 22" descr="global_accuracy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5586" y="21314618"/>
            <a:ext cx="12587564" cy="4964185"/>
          </a:xfrm>
          <a:prstGeom prst="rect">
            <a:avLst/>
          </a:prstGeom>
        </p:spPr>
      </p:pic>
      <p:sp>
        <p:nvSpPr>
          <p:cNvPr id="2" name="1 Titulo"/>
          <p:cNvSpPr>
            <a:spLocks noGrp="1"/>
          </p:cNvSpPr>
          <p:nvPr>
            <p:ph type="title"/>
          </p:nvPr>
        </p:nvSpPr>
        <p:spPr>
          <a:xfrm>
            <a:off x="339914" y="3913419"/>
            <a:ext cx="24482720" cy="1440000"/>
          </a:xfrm>
        </p:spPr>
        <p:txBody>
          <a:bodyPr>
            <a:noAutofit/>
          </a:bodyPr>
          <a:lstStyle/>
          <a:p>
            <a:r>
              <a:rPr lang="es-CO" sz="4000" b="1" dirty="0"/>
              <a:t>Sistema de deteccion de intrusiones para redes IoT mediante TinyML, aprendizaje federado jerarquico y cifrado ligero ASCON-128 en una arquitectura Edge-Fog-Cloud</a:t>
            </a:r>
            <a:endParaRPr lang="es-CO" sz="4000" dirty="0"/>
          </a:p>
        </p:txBody>
      </p:sp>
      <p:sp>
        <p:nvSpPr>
          <p:cNvPr id="3" name="2 Header Resumen"/>
          <p:cNvSpPr>
            <a:spLocks noGrp="1"/>
          </p:cNvSpPr>
          <p:nvPr>
            <p:ph type="body" sz="quarter" idx="13"/>
          </p:nvPr>
        </p:nvSpPr>
        <p:spPr>
          <a:xfrm>
            <a:off x="585765" y="6187514"/>
            <a:ext cx="24050672" cy="941528"/>
          </a:xfrm>
        </p:spPr>
        <p:txBody>
          <a:bodyPr/>
          <a:lstStyle/>
          <a:p>
            <a:r>
              <a:rPr lang="es-CO" b="1" dirty="0"/>
              <a:t>Resumen</a:t>
            </a:r>
            <a:endParaRPr lang="es-CO" dirty="0"/>
          </a:p>
        </p:txBody>
      </p:sp>
      <p:sp>
        <p:nvSpPr>
          <p:cNvPr id="5" name="4 Header Introduccion"/>
          <p:cNvSpPr>
            <a:spLocks noGrp="1"/>
          </p:cNvSpPr>
          <p:nvPr>
            <p:ph type="body" sz="quarter" idx="15"/>
          </p:nvPr>
        </p:nvSpPr>
        <p:spPr>
          <a:xfrm>
            <a:off x="697127" y="10157092"/>
            <a:ext cx="11520000" cy="1054724"/>
          </a:xfrm>
        </p:spPr>
        <p:txBody>
          <a:bodyPr/>
          <a:lstStyle/>
          <a:p>
            <a:r>
              <a:rPr lang="es-CO" b="1" dirty="0"/>
              <a:t>Introducción</a:t>
            </a:r>
            <a:endParaRPr lang="es-CO" dirty="0"/>
          </a:p>
        </p:txBody>
      </p:sp>
      <p:sp>
        <p:nvSpPr>
          <p:cNvPr id="6" name="5 Header Objetivos"/>
          <p:cNvSpPr>
            <a:spLocks noGrp="1"/>
          </p:cNvSpPr>
          <p:nvPr>
            <p:ph type="body" sz="quarter" idx="16"/>
          </p:nvPr>
        </p:nvSpPr>
        <p:spPr>
          <a:xfrm>
            <a:off x="710744" y="15914018"/>
            <a:ext cx="11520000" cy="986431"/>
          </a:xfrm>
        </p:spPr>
        <p:txBody>
          <a:bodyPr>
            <a:normAutofit fontScale="92500" lnSpcReduction="10000"/>
          </a:bodyPr>
          <a:lstStyle/>
          <a:p>
            <a:r>
              <a:rPr lang="es-CO" b="1" dirty="0"/>
              <a:t>Objetivos</a:t>
            </a:r>
            <a:endParaRPr lang="es-CO" dirty="0"/>
          </a:p>
        </p:txBody>
      </p:sp>
      <p:sp>
        <p:nvSpPr>
          <p:cNvPr id="7" name="6 Header Metodologia"/>
          <p:cNvSpPr>
            <a:spLocks noGrp="1"/>
          </p:cNvSpPr>
          <p:nvPr>
            <p:ph type="body" sz="quarter" idx="17"/>
          </p:nvPr>
        </p:nvSpPr>
        <p:spPr>
          <a:xfrm>
            <a:off x="731101" y="22538754"/>
            <a:ext cx="11520000" cy="1008112"/>
          </a:xfrm>
        </p:spPr>
        <p:txBody>
          <a:bodyPr>
            <a:normAutofit fontScale="92500" lnSpcReduction="20000"/>
          </a:bodyPr>
          <a:lstStyle/>
          <a:p>
            <a:r>
              <a:rPr lang="es-CO" sz="5400" b="1" dirty="0"/>
              <a:t>Protocolo de Comunicación</a:t>
            </a:r>
            <a:endParaRPr lang="es-CO" dirty="0"/>
          </a:p>
          <a:p>
            <a:endParaRPr lang="es-CO" dirty="0"/>
          </a:p>
        </p:txBody>
      </p:sp>
      <p:sp>
        <p:nvSpPr>
          <p:cNvPr id="8" name="7 Header Diseno"/>
          <p:cNvSpPr>
            <a:spLocks noGrp="1"/>
          </p:cNvSpPr>
          <p:nvPr>
            <p:ph type="body" sz="quarter" idx="18"/>
          </p:nvPr>
        </p:nvSpPr>
        <p:spPr>
          <a:xfrm>
            <a:off x="13261229" y="10178772"/>
            <a:ext cx="11520000" cy="1054725"/>
          </a:xfrm>
        </p:spPr>
        <p:txBody>
          <a:bodyPr>
            <a:normAutofit/>
          </a:bodyPr>
          <a:lstStyle/>
          <a:p>
            <a:r>
              <a:rPr lang="es-CO" sz="4400" b="1" dirty="0"/>
              <a:t>Arquitectura del Sistema</a:t>
            </a:r>
          </a:p>
          <a:p>
            <a:endParaRPr lang="es-CO" sz="4800" dirty="0"/>
          </a:p>
        </p:txBody>
      </p:sp>
      <p:sp>
        <p:nvSpPr>
          <p:cNvPr id="9" name="8 Header Resultados"/>
          <p:cNvSpPr>
            <a:spLocks noGrp="1"/>
          </p:cNvSpPr>
          <p:nvPr>
            <p:ph type="body" sz="quarter" idx="19"/>
          </p:nvPr>
        </p:nvSpPr>
        <p:spPr>
          <a:xfrm>
            <a:off x="13268390" y="20022342"/>
            <a:ext cx="11520000" cy="1144392"/>
          </a:xfrm>
        </p:spPr>
        <p:txBody>
          <a:bodyPr>
            <a:normAutofit/>
          </a:bodyPr>
          <a:lstStyle/>
          <a:p>
            <a:r>
              <a:rPr lang="es-CO" sz="4800" b="1" dirty="0"/>
              <a:t>Resultados</a:t>
            </a:r>
            <a:endParaRPr lang="es-CO" sz="4800" dirty="0"/>
          </a:p>
        </p:txBody>
      </p:sp>
      <p:sp>
        <p:nvSpPr>
          <p:cNvPr id="10" name="9 Header Conclusiones"/>
          <p:cNvSpPr>
            <a:spLocks noGrp="1"/>
          </p:cNvSpPr>
          <p:nvPr>
            <p:ph type="body" sz="quarter" idx="20"/>
          </p:nvPr>
        </p:nvSpPr>
        <p:spPr>
          <a:xfrm>
            <a:off x="13029248" y="28631828"/>
            <a:ext cx="11810480" cy="1035718"/>
          </a:xfrm>
        </p:spPr>
        <p:txBody>
          <a:bodyPr>
            <a:normAutofit lnSpcReduction="10000"/>
          </a:bodyPr>
          <a:lstStyle/>
          <a:p>
            <a:r>
              <a:rPr lang="es-CO" b="1" dirty="0"/>
              <a:t>Conclusiones</a:t>
            </a:r>
            <a:endParaRPr lang="es-CO" dirty="0"/>
          </a:p>
        </p:txBody>
      </p:sp>
      <p:sp>
        <p:nvSpPr>
          <p:cNvPr id="11" name="10 Programa"/>
          <p:cNvSpPr>
            <a:spLocks noGrp="1"/>
          </p:cNvSpPr>
          <p:nvPr>
            <p:ph type="body" sz="quarter" idx="30"/>
          </p:nvPr>
        </p:nvSpPr>
        <p:spPr>
          <a:xfrm>
            <a:off x="-27187" y="2497094"/>
            <a:ext cx="13420850" cy="1223869"/>
          </a:xfrm>
        </p:spPr>
        <p:txBody>
          <a:bodyPr/>
          <a:lstStyle/>
          <a:p>
            <a:r>
              <a:rPr lang="es-CO" dirty="0"/>
              <a:t>COMIT – Seguridad y Sistemas Distribuidos / Maestria en Ingenieria de Sistemas y Computacion</a:t>
            </a:r>
          </a:p>
        </p:txBody>
      </p:sp>
      <p:sp>
        <p:nvSpPr>
          <p:cNvPr id="12" name="11 Integrantes"/>
          <p:cNvSpPr>
            <a:spLocks noGrp="1"/>
          </p:cNvSpPr>
          <p:nvPr>
            <p:ph type="body" sz="quarter" idx="31"/>
          </p:nvPr>
        </p:nvSpPr>
        <p:spPr>
          <a:xfrm>
            <a:off x="731101" y="5112898"/>
            <a:ext cx="23760000" cy="720000"/>
          </a:xfrm>
        </p:spPr>
        <p:txBody>
          <a:bodyPr/>
          <a:lstStyle/>
          <a:p>
            <a:r>
              <a:rPr lang="es-CO" dirty="0"/>
              <a:t>Santiago Alejandro Jaimes Puerto, Nicolas Casas Ibarra</a:t>
            </a:r>
          </a:p>
        </p:txBody>
      </p:sp>
      <p:sp>
        <p:nvSpPr>
          <p:cNvPr id="13" name="12 Correos"/>
          <p:cNvSpPr>
            <a:spLocks noGrp="1"/>
          </p:cNvSpPr>
          <p:nvPr>
            <p:ph type="body" sz="quarter" idx="32"/>
          </p:nvPr>
        </p:nvSpPr>
        <p:spPr>
          <a:xfrm>
            <a:off x="731101" y="5544866"/>
            <a:ext cx="23760000" cy="720000"/>
          </a:xfrm>
        </p:spPr>
        <p:txBody>
          <a:bodyPr/>
          <a:lstStyle/>
          <a:p>
            <a:r>
              <a:rPr lang="es-CO" dirty="0"/>
              <a:t>sa.jaimesp@uniandes.edu.co, n.casasi@uniandes.edu.co</a:t>
            </a:r>
          </a:p>
        </p:txBody>
      </p:sp>
      <p:sp>
        <p:nvSpPr>
          <p:cNvPr id="14" name="13 Asesor"/>
          <p:cNvSpPr>
            <a:spLocks noGrp="1"/>
          </p:cNvSpPr>
          <p:nvPr>
            <p:ph type="body" sz="quarter" idx="33"/>
          </p:nvPr>
        </p:nvSpPr>
        <p:spPr>
          <a:xfrm>
            <a:off x="13393663" y="2448387"/>
            <a:ext cx="11852351" cy="1249009"/>
          </a:xfrm>
        </p:spPr>
        <p:txBody>
          <a:bodyPr/>
          <a:lstStyle/>
          <a:p>
            <a:r>
              <a:rPr lang="es-CO" dirty="0"/>
              <a:t>Asesor: Prof. Carlos Andres Lozano Garzon, PhD  (calozanog@uniandes.edu.co)</a:t>
            </a:r>
          </a:p>
        </p:txBody>
      </p:sp>
      <p:sp>
        <p:nvSpPr>
          <p:cNvPr id="15" name="14 Introduccion contenido"/>
          <p:cNvSpPr>
            <a:spLocks noGrp="1"/>
          </p:cNvSpPr>
          <p:nvPr>
            <p:ph sz="quarter" idx="34"/>
          </p:nvPr>
        </p:nvSpPr>
        <p:spPr>
          <a:xfrm>
            <a:off x="288207" y="11233497"/>
            <a:ext cx="12466066" cy="5412150"/>
          </a:xfrm>
        </p:spPr>
        <p:txBody>
          <a:bodyPr>
            <a:noAutofit/>
          </a:bodyPr>
          <a:lstStyle/>
          <a:p>
            <a:r>
              <a:rPr lang="es-MX" sz="2400" dirty="0">
                <a:cs typeface="Arial" panose="020B0604020202020204" pitchFamily="34" charset="0"/>
              </a:rPr>
              <a:t>El despliegue masivo de redes </a:t>
            </a:r>
            <a:r>
              <a:rPr lang="es-MX" sz="2400" dirty="0" err="1">
                <a:cs typeface="Arial" panose="020B0604020202020204" pitchFamily="34" charset="0"/>
              </a:rPr>
              <a:t>IoT</a:t>
            </a:r>
            <a:r>
              <a:rPr lang="es-MX" sz="2400" dirty="0">
                <a:cs typeface="Arial" panose="020B0604020202020204" pitchFamily="34" charset="0"/>
              </a:rPr>
              <a:t>/MQTT incrementa la superficie de ataque, mientras que los IDS tradicionales asumen servidores potentes, datos centralizados y comunicaciones sin cifrar, supuestos incompatibles con sistemas </a:t>
            </a:r>
            <a:r>
              <a:rPr lang="es-MX" sz="2400" dirty="0" err="1">
                <a:cs typeface="Arial" panose="020B0604020202020204" pitchFamily="34" charset="0"/>
              </a:rPr>
              <a:t>IoT</a:t>
            </a:r>
            <a:r>
              <a:rPr lang="es-MX" sz="2400" dirty="0">
                <a:cs typeface="Arial" panose="020B0604020202020204" pitchFamily="34" charset="0"/>
              </a:rPr>
              <a:t> basados en dispositivos de recursos limitados. Además, modelos de alta precisión como Random Forest y SVM-RBF superan el 99% de </a:t>
            </a:r>
            <a:r>
              <a:rPr lang="es-MX" sz="2400" dirty="0" err="1">
                <a:cs typeface="Arial" panose="020B0604020202020204" pitchFamily="34" charset="0"/>
              </a:rPr>
              <a:t>accuracy</a:t>
            </a:r>
            <a:r>
              <a:rPr lang="es-MX" sz="2400" dirty="0">
                <a:cs typeface="Arial" panose="020B0604020202020204" pitchFamily="34" charset="0"/>
              </a:rPr>
              <a:t>, pero requieren grandes cantidades de memoria, lo que dificulta su ejecución en este tipo de dispositivos. Asimismo, centralizar el tráfico incrementa los costos y compromete la privacidad, mientras que los modelos federados suelen transmitir los pesos sin mecanismos de protección adecuados o mediante esquemas criptográficos vulnerables. Como respuesta, este trabajo propone una arquitectura jerárquica Edge–Fog–Cloud que integra </a:t>
            </a:r>
            <a:r>
              <a:rPr lang="es-MX" sz="2400" dirty="0" err="1">
                <a:cs typeface="Arial" panose="020B0604020202020204" pitchFamily="34" charset="0"/>
              </a:rPr>
              <a:t>TinyML</a:t>
            </a:r>
            <a:r>
              <a:rPr lang="es-MX" sz="2400" dirty="0">
                <a:cs typeface="Arial" panose="020B0604020202020204" pitchFamily="34" charset="0"/>
              </a:rPr>
              <a:t> para inferencia local, aprendizaje federado bidireccional para entrenamiento distribuido sin compartir datos crudos y ASCON-128, estándar NIST 2023 de criptografía ligera, para garantizar la confidencialidad e integridad de los canales MQTT/HTTP.</a:t>
            </a:r>
          </a:p>
        </p:txBody>
      </p:sp>
      <p:sp>
        <p:nvSpPr>
          <p:cNvPr id="16" name="15 Objetivos contenido"/>
          <p:cNvSpPr>
            <a:spLocks noGrp="1"/>
          </p:cNvSpPr>
          <p:nvPr>
            <p:ph sz="quarter" idx="35"/>
          </p:nvPr>
        </p:nvSpPr>
        <p:spPr>
          <a:xfrm>
            <a:off x="339914" y="16850122"/>
            <a:ext cx="12247651" cy="605454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MX" sz="5500" b="1" dirty="0"/>
              <a:t>Objetivo </a:t>
            </a:r>
            <a:r>
              <a:rPr sz="5500" b="1" dirty="0"/>
              <a:t>General: </a:t>
            </a:r>
            <a:r>
              <a:rPr lang="es-MX" sz="5100" dirty="0"/>
              <a:t>Validar que la detección de intrusiones en el borde de redes </a:t>
            </a:r>
            <a:r>
              <a:rPr lang="es-MX" sz="5100" dirty="0" err="1"/>
              <a:t>IoT</a:t>
            </a:r>
            <a:r>
              <a:rPr lang="es-MX" sz="5100" dirty="0"/>
              <a:t> puede ser simultáneamente precisa, privada y segura, mediante una arquitectura jerárquica Edge–Fog–Cloud que integra inferencia </a:t>
            </a:r>
            <a:r>
              <a:rPr lang="es-MX" sz="5100" dirty="0" err="1"/>
              <a:t>TinyML</a:t>
            </a:r>
            <a:r>
              <a:rPr lang="es-MX" sz="5100" dirty="0"/>
              <a:t>, aprendizaje federado y criptografía ligera estandarizada como ASCON 128. </a:t>
            </a:r>
          </a:p>
          <a:p>
            <a:pPr marL="0" indent="0">
              <a:buNone/>
            </a:pPr>
            <a:r>
              <a:rPr lang="es-MX" sz="5100" b="1" dirty="0"/>
              <a:t>Objetivos </a:t>
            </a:r>
            <a:r>
              <a:rPr sz="5100" b="1" dirty="0" err="1"/>
              <a:t>Especificos</a:t>
            </a:r>
            <a:r>
              <a:rPr sz="5100" b="1" dirty="0"/>
              <a:t>:</a:t>
            </a:r>
          </a:p>
          <a:p>
            <a:r>
              <a:rPr lang="es-MX" sz="5100" b="1" dirty="0"/>
              <a:t>Construir el pipeline de datos</a:t>
            </a:r>
            <a:r>
              <a:rPr lang="es-MX" sz="5100" dirty="0"/>
              <a:t> para captura, normalización y extracción de </a:t>
            </a:r>
            <a:r>
              <a:rPr lang="es-MX" sz="5100" dirty="0" err="1"/>
              <a:t>features</a:t>
            </a:r>
            <a:r>
              <a:rPr lang="es-MX" sz="5100" dirty="0"/>
              <a:t> de tráfico </a:t>
            </a:r>
            <a:r>
              <a:rPr lang="es-MX" sz="5100" dirty="0" err="1"/>
              <a:t>IoT</a:t>
            </a:r>
            <a:r>
              <a:rPr lang="es-MX" sz="5100" dirty="0"/>
              <a:t>/MQTT, seleccionando </a:t>
            </a:r>
            <a:r>
              <a:rPr lang="es-MX" sz="5100" dirty="0" err="1"/>
              <a:t>datasets</a:t>
            </a:r>
            <a:r>
              <a:rPr lang="es-MX" sz="5100" dirty="0"/>
              <a:t> públicos adecuados para entrenamiento y evaluación comparativa.</a:t>
            </a:r>
          </a:p>
          <a:p>
            <a:r>
              <a:rPr lang="es-MX" sz="5100" b="1" dirty="0"/>
              <a:t>Entrenar y comparar modelos compactos</a:t>
            </a:r>
            <a:r>
              <a:rPr lang="es-MX" sz="5100" dirty="0"/>
              <a:t> (MLP, CNN-1D, Residual-MLP, Tiny </a:t>
            </a:r>
            <a:r>
              <a:rPr lang="es-MX" sz="5100" dirty="0" err="1"/>
              <a:t>Transformer</a:t>
            </a:r>
            <a:r>
              <a:rPr lang="es-MX" sz="5100" dirty="0"/>
              <a:t>) para IDS </a:t>
            </a:r>
            <a:r>
              <a:rPr lang="es-MX" sz="5100" dirty="0" err="1"/>
              <a:t>IoT</a:t>
            </a:r>
            <a:r>
              <a:rPr lang="es-MX" sz="5100" dirty="0"/>
              <a:t>, exportando pesos y parámetros de normalización para ejecución en el microcontrolador ESP32-S3.</a:t>
            </a:r>
          </a:p>
          <a:p>
            <a:r>
              <a:rPr lang="es-MX" sz="5100" b="1" dirty="0"/>
              <a:t>Implementar un esquema de aprendizaje federado jerárquico</a:t>
            </a:r>
            <a:r>
              <a:rPr lang="es-MX" sz="5100" dirty="0"/>
              <a:t> para entrenamiento distribuido, evaluando agregación </a:t>
            </a:r>
            <a:r>
              <a:rPr lang="es-MX" sz="5100" dirty="0" err="1"/>
              <a:t>FedAvg</a:t>
            </a:r>
            <a:r>
              <a:rPr lang="es-MX" sz="5100" dirty="0"/>
              <a:t>, estabilidad con datos no IID y costos de comunicación en una arquitectura Edge–Fog–Cloud.</a:t>
            </a:r>
          </a:p>
          <a:p>
            <a:r>
              <a:rPr lang="es-MX" sz="5100" b="1" dirty="0"/>
              <a:t>Integrar cifrado ligero ASCON-128</a:t>
            </a:r>
            <a:r>
              <a:rPr lang="es-MX" sz="5100" dirty="0"/>
              <a:t> y validar experimentalmente el sistema completo, evaluando precisión de detección, impacto del aprendizaje federado frente al centralizado, y efectos en latencia, consumo y desempeño general.</a:t>
            </a:r>
          </a:p>
        </p:txBody>
      </p:sp>
      <p:sp>
        <p:nvSpPr>
          <p:cNvPr id="19" name="18 Resultados contenido"/>
          <p:cNvSpPr>
            <a:spLocks noGrp="1"/>
          </p:cNvSpPr>
          <p:nvPr>
            <p:ph sz="quarter" idx="38"/>
          </p:nvPr>
        </p:nvSpPr>
        <p:spPr>
          <a:xfrm>
            <a:off x="13115989" y="26157977"/>
            <a:ext cx="11810480" cy="2717481"/>
          </a:xfrm>
        </p:spPr>
        <p:txBody>
          <a:bodyPr>
            <a:normAutofit fontScale="92500" lnSpcReduction="20000"/>
          </a:bodyPr>
          <a:lstStyle/>
          <a:p>
            <a:r>
              <a:rPr lang="es-MX" sz="2800" dirty="0"/>
              <a:t>La variante CNN_ASCON_FOG logra el mejor desempeño global (</a:t>
            </a:r>
            <a:r>
              <a:rPr lang="es-MX" sz="2800" dirty="0" err="1"/>
              <a:t>acc</a:t>
            </a:r>
            <a:r>
              <a:rPr lang="es-MX" sz="2800" dirty="0"/>
              <a:t> 0.975, </a:t>
            </a:r>
            <a:r>
              <a:rPr lang="es-MX" sz="2800" dirty="0" err="1"/>
              <a:t>loss</a:t>
            </a:r>
            <a:r>
              <a:rPr lang="es-MX" sz="2800" dirty="0"/>
              <a:t> 0.091). Las configuraciones con ASCON-128 superan en promedio +3.2 puntos porcentuales de </a:t>
            </a:r>
            <a:r>
              <a:rPr lang="es-MX" sz="2800" dirty="0" err="1"/>
              <a:t>accuracy</a:t>
            </a:r>
            <a:r>
              <a:rPr lang="es-MX" sz="2800" dirty="0"/>
              <a:t> a sus contrapartes sin cifrado, con un </a:t>
            </a:r>
            <a:r>
              <a:rPr lang="es-MX" sz="2800" dirty="0" err="1"/>
              <a:t>overhead</a:t>
            </a:r>
            <a:r>
              <a:rPr lang="es-MX" sz="2800" dirty="0"/>
              <a:t> temporal de apenas 0.10–0.27% del ciclo FL y un incremento de tamaño de mensaje de +48% (~1.07 KB). Todas las variantes convergen por encima de 0.90 de </a:t>
            </a:r>
            <a:r>
              <a:rPr lang="es-MX" sz="2800" dirty="0" err="1"/>
              <a:t>accuracy</a:t>
            </a:r>
            <a:r>
              <a:rPr lang="es-MX" sz="2800" dirty="0"/>
              <a:t> en 5 a 10 rondas globales, confirmando la viabilidad del esquema HFL cifrado sobre hardware restringido.</a:t>
            </a:r>
            <a:endParaRPr sz="2800" b="0" dirty="0"/>
          </a:p>
        </p:txBody>
      </p:sp>
      <p:sp>
        <p:nvSpPr>
          <p:cNvPr id="31" name="Marcador de contenido 30">
            <a:extLst>
              <a:ext uri="{FF2B5EF4-FFF2-40B4-BE49-F238E27FC236}">
                <a16:creationId xmlns:a16="http://schemas.microsoft.com/office/drawing/2014/main" id="{84F20F61-3544-F9C5-E3F7-0AD31294007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12937425" y="29595538"/>
            <a:ext cx="12343216" cy="5374520"/>
          </a:xfrm>
        </p:spPr>
        <p:txBody>
          <a:bodyPr>
            <a:normAutofit fontScale="70000" lnSpcReduction="20000"/>
          </a:bodyPr>
          <a:lstStyle/>
          <a:p>
            <a:r>
              <a:rPr lang="es-MX" dirty="0"/>
              <a:t>•</a:t>
            </a:r>
            <a:r>
              <a:rPr lang="es-MX" b="1" dirty="0"/>
              <a:t> </a:t>
            </a:r>
            <a:r>
              <a:rPr lang="es-MX" sz="3400" b="1" dirty="0"/>
              <a:t>Viabilidad </a:t>
            </a:r>
            <a:r>
              <a:rPr lang="es-MX" sz="3400" b="1" dirty="0" err="1"/>
              <a:t>TinyML</a:t>
            </a:r>
            <a:r>
              <a:rPr lang="es-MX" sz="3400" b="1" dirty="0"/>
              <a:t>: </a:t>
            </a:r>
            <a:r>
              <a:rPr lang="es-MX" sz="3400" dirty="0"/>
              <a:t>un MLP de 1.139 parámetros (~4.5 KB) y una CNN-1D federada se ejecutan en el ESP32-S3 con </a:t>
            </a:r>
            <a:r>
              <a:rPr lang="es-MX" sz="3400" dirty="0" err="1"/>
              <a:t>accuracy</a:t>
            </a:r>
            <a:r>
              <a:rPr lang="es-MX" sz="3400" dirty="0"/>
              <a:t> operativa entre 0.93 y 0.97, validando que </a:t>
            </a:r>
            <a:r>
              <a:rPr lang="es-MX" sz="3400" dirty="0" err="1"/>
              <a:t>MCUs</a:t>
            </a:r>
            <a:r>
              <a:rPr lang="es-MX" sz="3400" dirty="0"/>
              <a:t> comerciales pueden hospedar IDS de red sin acelerador externo ni cuantización agresiva.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Privacidad sin sacrificio relevante: </a:t>
            </a:r>
            <a:r>
              <a:rPr lang="es-MX" sz="3400" dirty="0"/>
              <a:t>el HFL reduce &gt;99.99% el intercambio de datos sensibles (de ~13.3M valores crudos a 163 parámetros por ronda) con una penalización de solo 2-3 </a:t>
            </a:r>
            <a:r>
              <a:rPr lang="es-MX" sz="3400" dirty="0" err="1"/>
              <a:t>pts</a:t>
            </a:r>
            <a:r>
              <a:rPr lang="es-MX" sz="3400" dirty="0"/>
              <a:t> de </a:t>
            </a:r>
            <a:r>
              <a:rPr lang="es-MX" sz="3400" dirty="0" err="1"/>
              <a:t>accuracy</a:t>
            </a:r>
            <a:r>
              <a:rPr lang="es-MX" sz="3400" dirty="0"/>
              <a:t> frente al modelo centralizado equivalente.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ASCON-128 mejora, no degrada: </a:t>
            </a:r>
            <a:r>
              <a:rPr lang="es-MX" sz="3400" dirty="0"/>
              <a:t>lejos de ser un costo a aceptar, el cifrado autenticado mejora +3.2 </a:t>
            </a:r>
            <a:r>
              <a:rPr lang="es-MX" sz="3400" dirty="0" err="1"/>
              <a:t>pts</a:t>
            </a:r>
            <a:r>
              <a:rPr lang="es-MX" sz="3400" dirty="0"/>
              <a:t> la </a:t>
            </a:r>
            <a:r>
              <a:rPr lang="es-MX" sz="3400" dirty="0" err="1"/>
              <a:t>accuracy</a:t>
            </a:r>
            <a:r>
              <a:rPr lang="es-MX" sz="3400" dirty="0"/>
              <a:t> promedio frente a la </a:t>
            </a:r>
            <a:r>
              <a:rPr lang="es-MX" sz="3400" dirty="0" err="1"/>
              <a:t>baseline</a:t>
            </a:r>
            <a:r>
              <a:rPr lang="es-MX" sz="3400" dirty="0"/>
              <a:t> PLAIN porque su validación de tag actúa como filtro implícito de mensajes corruptos; el </a:t>
            </a:r>
            <a:r>
              <a:rPr lang="es-MX" sz="3400" dirty="0" err="1"/>
              <a:t>overhead</a:t>
            </a:r>
            <a:r>
              <a:rPr lang="es-MX" sz="3400" dirty="0"/>
              <a:t> temporal queda en 0.10–0.27% del ciclo federado.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FOG depende de la integridad del canal: </a:t>
            </a:r>
            <a:r>
              <a:rPr lang="es-MX" sz="3400" dirty="0"/>
              <a:t>la </a:t>
            </a:r>
            <a:r>
              <a:rPr lang="es-MX" sz="3400" dirty="0" err="1"/>
              <a:t>pre-agregación</a:t>
            </a:r>
            <a:r>
              <a:rPr lang="es-MX" sz="3400" dirty="0"/>
              <a:t> FOG mejora CNN +1.5 </a:t>
            </a:r>
            <a:r>
              <a:rPr lang="es-MX" sz="3400" dirty="0" err="1"/>
              <a:t>pts</a:t>
            </a:r>
            <a:r>
              <a:rPr lang="es-MX" sz="3400" dirty="0"/>
              <a:t> y RN+ASCON +2.5 </a:t>
            </a:r>
            <a:r>
              <a:rPr lang="es-MX" sz="3400" dirty="0" err="1"/>
              <a:t>pts</a:t>
            </a:r>
            <a:r>
              <a:rPr lang="es-MX" sz="3400" dirty="0"/>
              <a:t>, pero degrada RN_PLAIN_FOG (-3 </a:t>
            </a:r>
            <a:r>
              <a:rPr lang="es-MX" sz="3400" dirty="0" err="1"/>
              <a:t>pts</a:t>
            </a:r>
            <a:r>
              <a:rPr lang="es-MX" sz="3400" dirty="0"/>
              <a:t>), lo que muestra que la integridad autenticada no es complementaria a la topología </a:t>
            </a:r>
            <a:r>
              <a:rPr lang="es-MX" sz="3400" dirty="0" err="1"/>
              <a:t>fog</a:t>
            </a:r>
            <a:r>
              <a:rPr lang="es-MX" sz="3400" dirty="0"/>
              <a:t> sino condición habilitante.</a:t>
            </a:r>
          </a:p>
          <a:p>
            <a:r>
              <a:rPr lang="es-MX" sz="3400" dirty="0"/>
              <a:t>• </a:t>
            </a:r>
            <a:r>
              <a:rPr lang="es-MX" sz="3400" b="1" dirty="0"/>
              <a:t>Trabajo futuro: </a:t>
            </a:r>
            <a:r>
              <a:rPr lang="es-MX" sz="3400" dirty="0"/>
              <a:t>extender la arquitectura con robustez bizantina (Krum, </a:t>
            </a:r>
            <a:r>
              <a:rPr lang="es-MX" sz="3400" dirty="0" err="1"/>
              <a:t>FLTrust</a:t>
            </a:r>
            <a:r>
              <a:rPr lang="es-MX" sz="3400" dirty="0"/>
              <a:t>), cuantización INT8 para </a:t>
            </a:r>
            <a:r>
              <a:rPr lang="es-MX" sz="3400" dirty="0" err="1"/>
              <a:t>MCUs</a:t>
            </a:r>
            <a:r>
              <a:rPr lang="es-MX" sz="3400" dirty="0"/>
              <a:t> aún más pequeños, contramedidas de canal lateral sobre ASCON, </a:t>
            </a:r>
            <a:r>
              <a:rPr lang="es-MX" sz="3400" dirty="0" err="1"/>
              <a:t>datasets</a:t>
            </a:r>
            <a:r>
              <a:rPr lang="es-MX" sz="3400" dirty="0"/>
              <a:t> reales (CICIoT2023, </a:t>
            </a:r>
            <a:r>
              <a:rPr lang="es-MX" sz="3400" dirty="0" err="1"/>
              <a:t>TON_IoT</a:t>
            </a:r>
            <a:r>
              <a:rPr lang="es-MX" sz="3400" dirty="0"/>
              <a:t>) y privacidad diferencial.</a:t>
            </a:r>
          </a:p>
          <a:p>
            <a:endParaRPr lang="es-CO" dirty="0"/>
          </a:p>
        </p:txBody>
      </p:sp>
      <p:sp>
        <p:nvSpPr>
          <p:cNvPr id="34" name="3 Resumen contenido">
            <a:extLst>
              <a:ext uri="{FF2B5EF4-FFF2-40B4-BE49-F238E27FC236}">
                <a16:creationId xmlns:a16="http://schemas.microsoft.com/office/drawing/2014/main" id="{64F52985-828A-2078-1192-DAAF5B7788A6}"/>
              </a:ext>
            </a:extLst>
          </p:cNvPr>
          <p:cNvSpPr txBox="1">
            <a:spLocks/>
          </p:cNvSpPr>
          <p:nvPr/>
        </p:nvSpPr>
        <p:spPr>
          <a:xfrm>
            <a:off x="630958" y="7461268"/>
            <a:ext cx="24050672" cy="2609845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>
            <a:lvl1pPr marL="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879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9758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4637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000" dirty="0"/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9D2862F5-B3FA-8663-5E08-0C5C59D916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215" y="6942759"/>
            <a:ext cx="24440353" cy="3031537"/>
          </a:xfrm>
        </p:spPr>
        <p:txBody>
          <a:bodyPr/>
          <a:lstStyle/>
          <a:p>
            <a:r>
              <a:rPr lang="es-MX" sz="3200" b="0" i="0" dirty="0"/>
              <a:t>Se desarrolló un sistema de detección de intrusiones (IDS) para tráfico </a:t>
            </a:r>
            <a:r>
              <a:rPr lang="es-MX" sz="3200" b="0" i="0" dirty="0" err="1"/>
              <a:t>IoT</a:t>
            </a:r>
            <a:r>
              <a:rPr lang="es-MX" sz="3200" b="0" i="0" dirty="0"/>
              <a:t>/MQTT desplegado sobre una arquitectura jerárquica Edge–Fog–Cloud compuesta por microcontroladores ESP32-S3, </a:t>
            </a:r>
            <a:r>
              <a:rPr lang="es-MX" sz="3200" b="0" i="0" dirty="0" err="1"/>
              <a:t>gateways</a:t>
            </a:r>
            <a:r>
              <a:rPr lang="es-MX" sz="3200" b="0" i="0" dirty="0"/>
              <a:t> Raspberry Pi 4 y un servidor PC coordinador. El sistema integra inferencia </a:t>
            </a:r>
            <a:r>
              <a:rPr lang="es-MX" sz="3200" b="0" i="0" dirty="0" err="1"/>
              <a:t>TinyML</a:t>
            </a:r>
            <a:r>
              <a:rPr lang="es-MX" sz="3200" b="0" i="0" dirty="0"/>
              <a:t> en el borde, aprendizaje federado jerárquico (HFL) bidireccional para entrenar modelos distribuidos sin centralizar datos, y cifrado autenticado ASCON-128 (estándar NIST 2023) en todos los canales de comunicación. Se evaluaron 8 variantes experimentales (MLP/CNN × ASCON/PLAIN × </a:t>
            </a:r>
            <a:r>
              <a:rPr lang="es-MX" sz="3200" b="0" i="0" dirty="0" err="1"/>
              <a:t>NoFOG</a:t>
            </a:r>
            <a:r>
              <a:rPr lang="es-MX" sz="3200" b="0" i="0" dirty="0"/>
              <a:t>/FOG) en 58 corridas sobre hardware real. La configuración CNN_ASCON_FOG alcanzó la mejor precisión con </a:t>
            </a:r>
            <a:r>
              <a:rPr lang="es-MX" sz="3200" b="0" i="0" dirty="0" err="1"/>
              <a:t>accuracy</a:t>
            </a:r>
            <a:r>
              <a:rPr lang="es-MX" sz="3200" b="0" i="0" dirty="0"/>
              <a:t> de 0.975 y </a:t>
            </a:r>
            <a:r>
              <a:rPr lang="es-MX" sz="3200" b="0" i="0" dirty="0" err="1"/>
              <a:t>loss</a:t>
            </a:r>
            <a:r>
              <a:rPr lang="es-MX" sz="3200" b="0" i="0" dirty="0"/>
              <a:t> de 0.091, demostrando que el cifrado ligero no compromete el desempeño de detección.</a:t>
            </a:r>
            <a:endParaRPr lang="es-CO" sz="3200" dirty="0"/>
          </a:p>
        </p:txBody>
      </p:sp>
      <p:sp>
        <p:nvSpPr>
          <p:cNvPr id="17" name="15 Objetivos contenido">
            <a:extLst>
              <a:ext uri="{FF2B5EF4-FFF2-40B4-BE49-F238E27FC236}">
                <a16:creationId xmlns:a16="http://schemas.microsoft.com/office/drawing/2014/main" id="{B3228DD6-2DF6-8AB0-424D-C3B4FF073C71}"/>
              </a:ext>
            </a:extLst>
          </p:cNvPr>
          <p:cNvSpPr txBox="1">
            <a:spLocks/>
          </p:cNvSpPr>
          <p:nvPr/>
        </p:nvSpPr>
        <p:spPr>
          <a:xfrm>
            <a:off x="321904" y="23690882"/>
            <a:ext cx="12111440" cy="2364599"/>
          </a:xfrm>
          <a:prstGeom prst="rect">
            <a:avLst/>
          </a:prstGeom>
        </p:spPr>
        <p:txBody>
          <a:bodyPr vert="horz" lIns="349758" tIns="174879" rIns="349758" bIns="174879" rtlCol="0">
            <a:normAutofit fontScale="47500" lnSpcReduction="20000"/>
          </a:bodyPr>
          <a:lstStyle>
            <a:lvl1pPr marL="457200" indent="-45720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1784" indent="-1092994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7197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76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100" dirty="0"/>
              <a:t>El ciclo HFL opera en tres fases. </a:t>
            </a:r>
            <a:r>
              <a:rPr lang="es-MX" sz="5100" b="1" dirty="0"/>
              <a:t>Fase 1 (top-</a:t>
            </a:r>
            <a:r>
              <a:rPr lang="es-MX" sz="5100" b="1" dirty="0" err="1"/>
              <a:t>down</a:t>
            </a:r>
            <a:r>
              <a:rPr lang="es-MX" sz="5100" b="1" dirty="0"/>
              <a:t>):</a:t>
            </a:r>
            <a:r>
              <a:rPr lang="es-MX" sz="5100" dirty="0"/>
              <a:t> el servidor despliega el modelo global al </a:t>
            </a:r>
            <a:r>
              <a:rPr lang="es-MX" sz="5100" dirty="0" err="1"/>
              <a:t>gateway</a:t>
            </a:r>
            <a:r>
              <a:rPr lang="es-MX" sz="5100" dirty="0"/>
              <a:t> vía HTTP; el </a:t>
            </a:r>
            <a:r>
              <a:rPr lang="es-MX" sz="5100" dirty="0" err="1"/>
              <a:t>gateway</a:t>
            </a:r>
            <a:r>
              <a:rPr lang="es-MX" sz="5100" dirty="0"/>
              <a:t> lo redistribuye a los ESP32 vía MQTT con </a:t>
            </a:r>
            <a:r>
              <a:rPr lang="es-MX" sz="5100" dirty="0" err="1"/>
              <a:t>envelope</a:t>
            </a:r>
            <a:r>
              <a:rPr lang="es-MX" sz="5100" dirty="0"/>
              <a:t> ASCON. </a:t>
            </a:r>
            <a:r>
              <a:rPr lang="es-MX" sz="5100" b="1" dirty="0"/>
              <a:t>Fase 2 (local):</a:t>
            </a:r>
            <a:r>
              <a:rPr lang="es-MX" sz="5100" dirty="0"/>
              <a:t> los ESP32 publican </a:t>
            </a:r>
            <a:r>
              <a:rPr lang="es-MX" sz="5100" dirty="0" err="1"/>
              <a:t>features</a:t>
            </a:r>
            <a:r>
              <a:rPr lang="es-MX" sz="5100" dirty="0"/>
              <a:t> cifradas cada ~5 s; el </a:t>
            </a:r>
            <a:r>
              <a:rPr lang="es-MX" sz="5100" dirty="0" err="1"/>
              <a:t>gateway</a:t>
            </a:r>
            <a:r>
              <a:rPr lang="es-MX" sz="5100" dirty="0"/>
              <a:t> acumula un buffer de 30 muestras, las etiqueta con una heurística estadística y entrena localmente (5 épocas, Adam, </a:t>
            </a:r>
            <a:r>
              <a:rPr lang="es-MX" sz="5100" dirty="0" err="1"/>
              <a:t>lr</a:t>
            </a:r>
            <a:r>
              <a:rPr lang="es-MX" sz="5100" dirty="0"/>
              <a:t>=0.005). </a:t>
            </a:r>
            <a:r>
              <a:rPr lang="es-MX" sz="5100" b="1" dirty="0"/>
              <a:t>Fase 3 (bottom-up):</a:t>
            </a:r>
            <a:r>
              <a:rPr lang="es-MX" sz="5100" dirty="0"/>
              <a:t> el </a:t>
            </a:r>
            <a:r>
              <a:rPr lang="es-MX" sz="5100" dirty="0" err="1"/>
              <a:t>gateway</a:t>
            </a:r>
            <a:r>
              <a:rPr lang="es-MX" sz="5100" dirty="0"/>
              <a:t> envía pesos y métricas al PC, que agrega con </a:t>
            </a:r>
            <a:r>
              <a:rPr lang="es-MX" sz="5100" dirty="0" err="1"/>
              <a:t>FedAvg</a:t>
            </a:r>
            <a:r>
              <a:rPr lang="es-MX" sz="5100" dirty="0"/>
              <a:t> ponderado al recibir los K=2 </a:t>
            </a:r>
            <a:r>
              <a:rPr lang="es-MX" sz="5100" dirty="0" err="1"/>
              <a:t>gateways</a:t>
            </a:r>
            <a:r>
              <a:rPr lang="es-MX" sz="5100" dirty="0"/>
              <a:t> e inicia una nueva ronda.</a:t>
            </a:r>
            <a:endParaRPr lang="es-MX" dirty="0"/>
          </a:p>
        </p:txBody>
      </p:sp>
      <p:sp>
        <p:nvSpPr>
          <p:cNvPr id="24" name="15 Objetivos contenido">
            <a:extLst>
              <a:ext uri="{FF2B5EF4-FFF2-40B4-BE49-F238E27FC236}">
                <a16:creationId xmlns:a16="http://schemas.microsoft.com/office/drawing/2014/main" id="{11A0C3FA-1DA8-B1B7-351F-35266ABC60A8}"/>
              </a:ext>
            </a:extLst>
          </p:cNvPr>
          <p:cNvSpPr txBox="1">
            <a:spLocks/>
          </p:cNvSpPr>
          <p:nvPr/>
        </p:nvSpPr>
        <p:spPr>
          <a:xfrm>
            <a:off x="13268390" y="13497850"/>
            <a:ext cx="4742170" cy="1200416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>
            <a:lvl1pPr marL="457200" indent="-45720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1784" indent="-1092994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7197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76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95160" indent="0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1834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36713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1592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864715" indent="-874395" algn="l" defTabSz="34975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352952-8517-5781-009C-C178F74E8F2C}"/>
              </a:ext>
            </a:extLst>
          </p:cNvPr>
          <p:cNvSpPr txBox="1"/>
          <p:nvPr/>
        </p:nvSpPr>
        <p:spPr>
          <a:xfrm>
            <a:off x="13311003" y="11322444"/>
            <a:ext cx="1128418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200" i="0" dirty="0">
                <a:effectLst/>
              </a:rPr>
              <a:t>El sistema se organiza en tres capas: Edge (ESP32-S3), Fog (Raspberry Pi 4) y Cloud (PC). En modo estándar (a), cada </a:t>
            </a:r>
            <a:r>
              <a:rPr lang="es-MX" sz="2200" i="0" dirty="0" err="1">
                <a:effectLst/>
              </a:rPr>
              <a:t>gateway</a:t>
            </a:r>
            <a:r>
              <a:rPr lang="es-MX" sz="2200" i="0" dirty="0">
                <a:effectLst/>
              </a:rPr>
              <a:t> entrena localmente con muestras etiquetadas heurísticamente y envía los pesos federados al servidor PC, que aplica </a:t>
            </a:r>
            <a:r>
              <a:rPr lang="es-MX" sz="2200" i="0" dirty="0" err="1">
                <a:effectLst/>
              </a:rPr>
              <a:t>FedAvg</a:t>
            </a:r>
            <a:r>
              <a:rPr lang="es-MX" sz="2200" i="0" dirty="0">
                <a:effectLst/>
              </a:rPr>
              <a:t> ponderado por muestras y redistribuye el modelo global. En modo FOG (b), un </a:t>
            </a:r>
            <a:r>
              <a:rPr lang="es-MX" sz="2200" i="0" dirty="0" err="1">
                <a:effectLst/>
              </a:rPr>
              <a:t>gateway</a:t>
            </a:r>
            <a:r>
              <a:rPr lang="es-MX" sz="2200" i="0" dirty="0">
                <a:effectLst/>
              </a:rPr>
              <a:t> líder </a:t>
            </a:r>
            <a:r>
              <a:rPr lang="es-MX" sz="2200" i="0" dirty="0" err="1">
                <a:effectLst/>
              </a:rPr>
              <a:t>preagrega</a:t>
            </a:r>
            <a:r>
              <a:rPr lang="es-MX" sz="2200" i="0" dirty="0">
                <a:effectLst/>
              </a:rPr>
              <a:t> los pesos de </a:t>
            </a:r>
            <a:r>
              <a:rPr lang="es-MX" sz="2200" i="0" dirty="0" err="1">
                <a:effectLst/>
              </a:rPr>
              <a:t>gateways</a:t>
            </a:r>
            <a:r>
              <a:rPr lang="es-MX" sz="2200" i="0" dirty="0">
                <a:effectLst/>
              </a:rPr>
              <a:t> </a:t>
            </a:r>
            <a:r>
              <a:rPr lang="es-MX" sz="2200" i="0" dirty="0" err="1">
                <a:effectLst/>
              </a:rPr>
              <a:t>peers</a:t>
            </a:r>
            <a:r>
              <a:rPr lang="es-MX" sz="2200" i="0" dirty="0">
                <a:effectLst/>
              </a:rPr>
              <a:t> antes de enviar al Cloud, reduciendo tráfico ascendente. Todos los canales MQTT y HTTP se cifran con ASCON-128.</a:t>
            </a:r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2424691945"/>
      </p:ext>
    </p:extLst>
  </p:cSld>
  <p:clrMapOvr>
    <a:masterClrMapping/>
  </p:clrMapOvr>
</p:sld>
</file>

<file path=ppt/theme/theme1.xml><?xml version="1.0" encoding="utf-8"?>
<a:theme xmlns:a="http://schemas.openxmlformats.org/drawingml/2006/main" name="FormatoPoster_ISI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sInvestigacion" id="{D959789F-7C6C-C840-A820-9D76BA96E514}" vid="{DE1612A0-BF95-BF4E-B9AF-E78A0732F9A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Words>1114</Words>
  <Application>Microsoft Office PowerPoint</Application>
  <PresentationFormat>Personalizado</PresentationFormat>
  <Paragraphs>28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FormatoPoster_ISIS</vt:lpstr>
      <vt:lpstr>Sistema de deteccion de intrusiones para redes IoT mediante TinyML, aprendizaje federado jerarquico y cifrado ligero ASCON-128 en una arquitectura Edge-Fog-Cloud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Eduardo Sanchez Puccini</dc:creator>
  <cp:lastModifiedBy>Santiago Alejandro Jaimes Puerto</cp:lastModifiedBy>
  <cp:revision>24</cp:revision>
  <dcterms:created xsi:type="dcterms:W3CDTF">2016-02-24T12:38:22Z</dcterms:created>
  <dcterms:modified xsi:type="dcterms:W3CDTF">2026-05-07T21:48:10Z</dcterms:modified>
</cp:coreProperties>
</file>