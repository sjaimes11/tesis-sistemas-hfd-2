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6" r:id="rId2"/>
  </p:sldIdLst>
  <p:sldSz cx="25203150" cy="36004500"/>
  <p:notesSz cx="6858000" cy="9144000"/>
  <p:defaultTextStyle>
    <a:defPPr>
      <a:defRPr lang="es-CO"/>
    </a:defPPr>
    <a:lvl1pPr marL="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1pPr>
    <a:lvl2pPr marL="174879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2pPr>
    <a:lvl3pPr marL="349758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3pPr>
    <a:lvl4pPr marL="524637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4pPr>
    <a:lvl5pPr marL="699516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5pPr>
    <a:lvl6pPr marL="874395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6pPr>
    <a:lvl7pPr marL="1049274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7pPr>
    <a:lvl8pPr marL="1224153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8pPr>
    <a:lvl9pPr marL="13990320" algn="l" defTabSz="3497580" rtl="0" eaLnBrk="1" latinLnBrk="0" hangingPunct="1">
      <a:defRPr sz="6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>
          <p15:clr>
            <a:srgbClr val="A4A3A4"/>
          </p15:clr>
        </p15:guide>
        <p15:guide id="2" pos="79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2D9"/>
    <a:srgbClr val="DBC965"/>
    <a:srgbClr val="295688"/>
    <a:srgbClr val="CC6634"/>
    <a:srgbClr val="668C46"/>
    <a:srgbClr val="663366"/>
    <a:srgbClr val="E66400"/>
    <a:srgbClr val="003399"/>
    <a:srgbClr val="915000"/>
    <a:srgbClr val="006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3"/>
    <p:restoredTop sz="94604"/>
  </p:normalViewPr>
  <p:slideViewPr>
    <p:cSldViewPr>
      <p:cViewPr>
        <p:scale>
          <a:sx n="60" d="100"/>
          <a:sy n="60" d="100"/>
        </p:scale>
        <p:origin x="400" y="-5536"/>
      </p:cViewPr>
      <p:guideLst>
        <p:guide orient="horz" pos="11340"/>
        <p:guide pos="79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-385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ABEAF-95F9-44D9-8220-B5EB390C6BFF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B9EF3-57EF-49F1-93E1-F89EDA84B7D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4490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13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890236" y="11184739"/>
            <a:ext cx="21422678" cy="77176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3780473" y="20402552"/>
            <a:ext cx="17642205" cy="92011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48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497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46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995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4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8341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61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90876" y="23136226"/>
            <a:ext cx="21422678" cy="7150894"/>
          </a:xfrm>
        </p:spPr>
        <p:txBody>
          <a:bodyPr anchor="t"/>
          <a:lstStyle>
            <a:lvl1pPr algn="l">
              <a:defRPr sz="15300" b="1" cap="all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990876" y="15260249"/>
            <a:ext cx="21422678" cy="7875980"/>
          </a:xfrm>
        </p:spPr>
        <p:txBody>
          <a:bodyPr anchor="b"/>
          <a:lstStyle>
            <a:lvl1pPr marL="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1pPr>
            <a:lvl2pPr marL="1748790" indent="0">
              <a:buNone/>
              <a:defRPr sz="6900">
                <a:solidFill>
                  <a:schemeClr val="tx1">
                    <a:tint val="75000"/>
                  </a:schemeClr>
                </a:solidFill>
              </a:defRPr>
            </a:lvl2pPr>
            <a:lvl3pPr marL="349758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3pPr>
            <a:lvl4pPr marL="524637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4pPr>
            <a:lvl5pPr marL="699516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5pPr>
            <a:lvl6pPr marL="874395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6pPr>
            <a:lvl7pPr marL="1049274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7pPr>
            <a:lvl8pPr marL="1224153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8pPr>
            <a:lvl9pPr marL="13990320" indent="0">
              <a:buNone/>
              <a:defRPr sz="5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793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160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811603" y="8401058"/>
            <a:ext cx="11131391" cy="23761304"/>
          </a:xfrm>
        </p:spPr>
        <p:txBody>
          <a:bodyPr/>
          <a:lstStyle>
            <a:lvl1pPr>
              <a:defRPr sz="10700"/>
            </a:lvl1pPr>
            <a:lvl2pPr>
              <a:defRPr sz="9200"/>
            </a:lvl2pPr>
            <a:lvl3pPr>
              <a:defRPr sz="7700"/>
            </a:lvl3pPr>
            <a:lvl4pPr>
              <a:defRPr sz="6900"/>
            </a:lvl4pPr>
            <a:lvl5pPr>
              <a:defRPr sz="6900"/>
            </a:lvl5pPr>
            <a:lvl6pPr>
              <a:defRPr sz="6900"/>
            </a:lvl6pPr>
            <a:lvl7pPr>
              <a:defRPr sz="6900"/>
            </a:lvl7pPr>
            <a:lvl8pPr>
              <a:defRPr sz="6900"/>
            </a:lvl8pPr>
            <a:lvl9pPr>
              <a:defRPr sz="6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626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9" y="8059343"/>
            <a:ext cx="11135768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260159" y="11418095"/>
            <a:ext cx="11135768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2802855" y="8059343"/>
            <a:ext cx="11140141" cy="3358751"/>
          </a:xfrm>
        </p:spPr>
        <p:txBody>
          <a:bodyPr anchor="b"/>
          <a:lstStyle>
            <a:lvl1pPr marL="0" indent="0">
              <a:buNone/>
              <a:defRPr sz="9200" b="1"/>
            </a:lvl1pPr>
            <a:lvl2pPr marL="1748790" indent="0">
              <a:buNone/>
              <a:defRPr sz="7700" b="1"/>
            </a:lvl2pPr>
            <a:lvl3pPr marL="3497580" indent="0">
              <a:buNone/>
              <a:defRPr sz="6900" b="1"/>
            </a:lvl3pPr>
            <a:lvl4pPr marL="5246370" indent="0">
              <a:buNone/>
              <a:defRPr sz="6100" b="1"/>
            </a:lvl4pPr>
            <a:lvl5pPr marL="6995160" indent="0">
              <a:buNone/>
              <a:defRPr sz="6100" b="1"/>
            </a:lvl5pPr>
            <a:lvl6pPr marL="8743950" indent="0">
              <a:buNone/>
              <a:defRPr sz="6100" b="1"/>
            </a:lvl6pPr>
            <a:lvl7pPr marL="10492740" indent="0">
              <a:buNone/>
              <a:defRPr sz="6100" b="1"/>
            </a:lvl7pPr>
            <a:lvl8pPr marL="12241530" indent="0">
              <a:buNone/>
              <a:defRPr sz="6100" b="1"/>
            </a:lvl8pPr>
            <a:lvl9pPr marL="13990320" indent="0">
              <a:buNone/>
              <a:defRPr sz="61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2802855" y="11418095"/>
            <a:ext cx="11140141" cy="20744261"/>
          </a:xfrm>
        </p:spPr>
        <p:txBody>
          <a:bodyPr/>
          <a:lstStyle>
            <a:lvl1pPr>
              <a:defRPr sz="9200"/>
            </a:lvl1pPr>
            <a:lvl2pPr>
              <a:defRPr sz="7700"/>
            </a:lvl2pPr>
            <a:lvl3pPr>
              <a:defRPr sz="6900"/>
            </a:lvl3pPr>
            <a:lvl4pPr>
              <a:defRPr sz="6100"/>
            </a:lvl4pPr>
            <a:lvl5pPr>
              <a:defRPr sz="6100"/>
            </a:lvl5pPr>
            <a:lvl6pPr>
              <a:defRPr sz="6100"/>
            </a:lvl6pPr>
            <a:lvl7pPr>
              <a:defRPr sz="6100"/>
            </a:lvl7pPr>
            <a:lvl8pPr>
              <a:defRPr sz="6100"/>
            </a:lvl8pPr>
            <a:lvl9pPr>
              <a:defRPr sz="6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65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50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2026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812" y="-71757"/>
            <a:ext cx="25269826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 xml:space="preserve">COMIT – Sub </a:t>
            </a:r>
            <a:r>
              <a:rPr lang="es-ES" dirty="0" smtClean="0"/>
              <a:t>área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5579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EC7327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EC7327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pic>
        <p:nvPicPr>
          <p:cNvPr id="8" name="7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233" y="35156826"/>
            <a:ext cx="720000" cy="720000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184" y="35104130"/>
            <a:ext cx="720000" cy="7200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03" y="35140153"/>
            <a:ext cx="720000" cy="720000"/>
          </a:xfrm>
          <a:prstGeom prst="rect">
            <a:avLst/>
          </a:prstGeom>
        </p:spPr>
      </p:pic>
      <p:sp>
        <p:nvSpPr>
          <p:cNvPr id="14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3371459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S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TICSw</a:t>
            </a:r>
            <a:r>
              <a:rPr lang="es-ES" dirty="0" smtClean="0"/>
              <a:t xml:space="preserve"> – Sub </a:t>
            </a:r>
            <a:r>
              <a:rPr lang="es-ES" dirty="0" smtClean="0"/>
              <a:t>área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1244B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24AAE1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24AAE1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25200000" cy="2538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84" y="35140234"/>
            <a:ext cx="720000" cy="720000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3583" y="35104130"/>
            <a:ext cx="720000" cy="720000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5871" y="35201896"/>
            <a:ext cx="720000" cy="580646"/>
          </a:xfrm>
          <a:prstGeom prst="rect">
            <a:avLst/>
          </a:prstGeom>
        </p:spPr>
      </p:pic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4146826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-23814" y="2448521"/>
            <a:ext cx="12672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IMAGINE / Programa estudiante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F417E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57AC4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32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46013" y="2448521"/>
            <a:ext cx="12600000" cy="720000"/>
          </a:xfrm>
          <a:solidFill>
            <a:srgbClr val="57AC46">
              <a:alpha val="25098"/>
            </a:srgbClr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" y="251"/>
            <a:ext cx="25282526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D:\Dropbox\Personales\Uniandes\Proyectos\Websis\iconos\svg\Redes\twitter_9F417E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2" y="3520938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Dropbox\Personales\Uniandes\Proyectos\Websis\iconos\svg\Redes\web_9F417E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1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D:\Dropbox\Personales\Uniandes\Proyectos\Websis\iconos\svg\Redes\facebook_9F417E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38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642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772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ARTIxxx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BB7F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772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2050" name="Picture 2" descr="D:\Dropbox\Personales\Uniandes\Proyectos\Websis\iconos\svg\Redes\twitter_BB7F00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871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D:\Dropbox\Personales\Uniandes\Proyectos\Websis\iconos\svg\Redes\web_BB7F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facebook_BB7F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94" y="351258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6480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663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MSINxxx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9150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-1" y="34924130"/>
            <a:ext cx="25200000" cy="1080000"/>
          </a:xfrm>
          <a:prstGeom prst="rect">
            <a:avLst/>
          </a:prstGeom>
          <a:solidFill>
            <a:srgbClr val="00663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282526" cy="2500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web_915000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141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facebook_915000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81" y="3515500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twitter_9150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8673" y="35224235"/>
            <a:ext cx="720000" cy="581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295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003399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MBITxxx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E66400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0033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 descr="D:\Dropbox\Personales\Uniandes\Proyectos\Websis\iconos\svg\Redes\facebook_E66400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7057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:\Dropbox\Personales\Uniandes\Proyectos\Websis\iconos\svg\Redes\twitter_E66400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5951" y="35206688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D:\Dropbox\Personales\Uniandes\Proyectos\Websis\iconos\svg\Redes\web_E66400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218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3564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5" y="2448521"/>
            <a:ext cx="25200000" cy="720000"/>
          </a:xfrm>
          <a:solidFill>
            <a:srgbClr val="663366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MISOxxx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668C46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66336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3073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D:\Dropbox\Personales\Uniandes\Proyectos\Websis\iconos\svg\Redes\web_668c46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54" y="35084033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D:\Dropbox\Personales\Uniandes\Proyectos\Websis\iconos\svg\Redes\facebook_668c46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503" y="35140233"/>
            <a:ext cx="720000" cy="72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:\Dropbox\Personales\Uniandes\Proyectos\Websis\iconos\svg\Redes\twitter_668c46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7959" y="35212162"/>
            <a:ext cx="720000" cy="58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5165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448520"/>
            <a:ext cx="25235825" cy="720081"/>
          </a:xfrm>
          <a:solidFill>
            <a:srgbClr val="CC6634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ISISxxx</a:t>
            </a:r>
            <a:r>
              <a:rPr lang="es-ES" dirty="0" smtClean="0"/>
              <a:t xml:space="preserve"> - &lt;Nombre del Curso&gt;</a:t>
            </a:r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CC6634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7" name="Picture 1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6241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1224313" y="35262986"/>
            <a:ext cx="4464497" cy="468000"/>
          </a:xfrm>
        </p:spPr>
        <p:txBody>
          <a:bodyPr/>
          <a:lstStyle>
            <a:lvl1pPr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pPr/>
              <a:t>24/02/16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8650248" y="35266154"/>
            <a:ext cx="6120680" cy="468000"/>
          </a:xfrm>
        </p:spPr>
        <p:txBody>
          <a:bodyPr/>
          <a:lstStyle>
            <a:lvl1pPr algn="l"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6 Título"/>
          <p:cNvSpPr>
            <a:spLocks noGrp="1"/>
          </p:cNvSpPr>
          <p:nvPr>
            <p:ph type="title" hasCustomPrompt="1"/>
          </p:nvPr>
        </p:nvSpPr>
        <p:spPr>
          <a:xfrm>
            <a:off x="731101" y="3456794"/>
            <a:ext cx="23760000" cy="1440000"/>
          </a:xfrm>
        </p:spPr>
        <p:txBody>
          <a:bodyPr>
            <a:normAutofit/>
          </a:bodyPr>
          <a:lstStyle>
            <a:lvl1pPr>
              <a:defRPr sz="6000" baseline="0"/>
            </a:lvl1pPr>
          </a:lstStyle>
          <a:p>
            <a:r>
              <a:rPr lang="es-ES" dirty="0" smtClean="0"/>
              <a:t>Título del Proyecto</a:t>
            </a:r>
            <a:endParaRPr lang="es-CO" dirty="0"/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648247" y="7057036"/>
            <a:ext cx="24050672" cy="1080119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n-US" dirty="0" err="1" smtClean="0"/>
              <a:t>Resumen</a:t>
            </a:r>
            <a:endParaRPr lang="es-CO" dirty="0"/>
          </a:p>
        </p:txBody>
      </p:sp>
      <p:sp>
        <p:nvSpPr>
          <p:cNvPr id="22" name="2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693442" y="8353177"/>
            <a:ext cx="24005479" cy="2088231"/>
          </a:xfrm>
        </p:spPr>
        <p:txBody>
          <a:bodyPr>
            <a:noAutofit/>
          </a:bodyPr>
          <a:lstStyle>
            <a:lvl1pPr marL="0" indent="0">
              <a:buNone/>
              <a:defRPr sz="3600" b="1" i="1"/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Resumen del proyecto</a:t>
            </a:r>
          </a:p>
        </p:txBody>
      </p:sp>
      <p:sp>
        <p:nvSpPr>
          <p:cNvPr id="25" name="14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648247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l">
              <a:buNone/>
              <a:defRPr sz="48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Introducción</a:t>
            </a:r>
            <a:endParaRPr lang="es-CO" dirty="0"/>
          </a:p>
        </p:txBody>
      </p:sp>
      <p:sp>
        <p:nvSpPr>
          <p:cNvPr id="26" name="14 Marcador de texto"/>
          <p:cNvSpPr>
            <a:spLocks noGrp="1"/>
          </p:cNvSpPr>
          <p:nvPr>
            <p:ph type="body" sz="quarter" idx="16" hasCustomPrompt="1"/>
          </p:nvPr>
        </p:nvSpPr>
        <p:spPr>
          <a:xfrm>
            <a:off x="648247" y="163460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Objetivos</a:t>
            </a:r>
            <a:endParaRPr lang="es-CO" dirty="0"/>
          </a:p>
        </p:txBody>
      </p:sp>
      <p:sp>
        <p:nvSpPr>
          <p:cNvPr id="27" name="14 Marcador de texto"/>
          <p:cNvSpPr>
            <a:spLocks noGrp="1"/>
          </p:cNvSpPr>
          <p:nvPr>
            <p:ph type="body" sz="quarter" idx="17" hasCustomPrompt="1"/>
          </p:nvPr>
        </p:nvSpPr>
        <p:spPr>
          <a:xfrm>
            <a:off x="648247" y="22898795"/>
            <a:ext cx="11520000" cy="108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Metodología</a:t>
            </a:r>
            <a:endParaRPr lang="es-CO" dirty="0"/>
          </a:p>
        </p:txBody>
      </p:sp>
      <p:sp>
        <p:nvSpPr>
          <p:cNvPr id="28" name="14 Marcador de texto"/>
          <p:cNvSpPr>
            <a:spLocks noGrp="1"/>
          </p:cNvSpPr>
          <p:nvPr>
            <p:ph type="body" sz="quarter" idx="18" hasCustomPrompt="1"/>
          </p:nvPr>
        </p:nvSpPr>
        <p:spPr>
          <a:xfrm>
            <a:off x="13394944" y="10945469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Diseño e implementación</a:t>
            </a:r>
            <a:endParaRPr lang="es-CO" dirty="0"/>
          </a:p>
        </p:txBody>
      </p:sp>
      <p:sp>
        <p:nvSpPr>
          <p:cNvPr id="29" name="14 Marcador de texto"/>
          <p:cNvSpPr>
            <a:spLocks noGrp="1"/>
          </p:cNvSpPr>
          <p:nvPr>
            <p:ph type="body" sz="quarter" idx="19" hasCustomPrompt="1"/>
          </p:nvPr>
        </p:nvSpPr>
        <p:spPr>
          <a:xfrm>
            <a:off x="13393663" y="19154382"/>
            <a:ext cx="11520000" cy="1080119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Resultados</a:t>
            </a:r>
            <a:endParaRPr lang="es-CO" dirty="0"/>
          </a:p>
        </p:txBody>
      </p:sp>
      <p:sp>
        <p:nvSpPr>
          <p:cNvPr id="30" name="14 Marcador de texto"/>
          <p:cNvSpPr>
            <a:spLocks noGrp="1"/>
          </p:cNvSpPr>
          <p:nvPr>
            <p:ph type="body" sz="quarter" idx="20" hasCustomPrompt="1"/>
          </p:nvPr>
        </p:nvSpPr>
        <p:spPr>
          <a:xfrm>
            <a:off x="13393663" y="28155381"/>
            <a:ext cx="11520000" cy="1080119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buNone/>
              <a:defRPr sz="5000" baseline="0">
                <a:solidFill>
                  <a:schemeClr val="bg1"/>
                </a:solidFill>
              </a:defRPr>
            </a:lvl1pPr>
            <a:lvl2pPr marL="1748790" indent="0">
              <a:buNone/>
              <a:defRPr/>
            </a:lvl2pPr>
            <a:lvl3pPr marL="3497580" indent="0">
              <a:buNone/>
              <a:defRPr/>
            </a:lvl3pPr>
            <a:lvl4pPr marL="5246370" indent="0">
              <a:buNone/>
              <a:defRPr/>
            </a:lvl4pPr>
            <a:lvl5pPr marL="6995160" indent="0">
              <a:buNone/>
              <a:defRPr/>
            </a:lvl5pPr>
          </a:lstStyle>
          <a:p>
            <a:pPr lvl="0"/>
            <a:r>
              <a:rPr lang="es-ES" dirty="0" smtClean="0"/>
              <a:t>Conclusiones</a:t>
            </a:r>
            <a:endParaRPr lang="es-CO" dirty="0"/>
          </a:p>
        </p:txBody>
      </p:sp>
      <p:sp>
        <p:nvSpPr>
          <p:cNvPr id="44" name="21 Marcador de texto"/>
          <p:cNvSpPr>
            <a:spLocks noGrp="1"/>
          </p:cNvSpPr>
          <p:nvPr>
            <p:ph type="body" sz="quarter" idx="30" hasCustomPrompt="1"/>
          </p:nvPr>
        </p:nvSpPr>
        <p:spPr>
          <a:xfrm>
            <a:off x="174" y="2500313"/>
            <a:ext cx="12601321" cy="668288"/>
          </a:xfrm>
          <a:solidFill>
            <a:srgbClr val="DBC965">
              <a:alpha val="25098"/>
            </a:srgbClr>
          </a:solidFill>
        </p:spPr>
        <p:txBody>
          <a:bodyPr>
            <a:noAutofit/>
          </a:bodyPr>
          <a:lstStyle>
            <a:lvl1pPr marL="0" indent="0" algn="ctr">
              <a:buNone/>
              <a:defRPr sz="3600" b="1" i="0" baseline="0"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err="1" smtClean="0"/>
              <a:t>Ingenier</a:t>
            </a:r>
            <a:r>
              <a:rPr lang="en-US" dirty="0" err="1" smtClean="0"/>
              <a:t>ía</a:t>
            </a:r>
            <a:r>
              <a:rPr lang="en-US" dirty="0" smtClean="0"/>
              <a:t xml:space="preserve"> de </a:t>
            </a:r>
            <a:r>
              <a:rPr lang="en-US" dirty="0" err="1" smtClean="0"/>
              <a:t>Sistemas</a:t>
            </a:r>
            <a:r>
              <a:rPr lang="en-US" dirty="0" smtClean="0"/>
              <a:t xml:space="preserve"> y </a:t>
            </a:r>
            <a:r>
              <a:rPr lang="en-US" dirty="0" err="1" smtClean="0"/>
              <a:t>Computación</a:t>
            </a:r>
            <a:endParaRPr lang="es-ES" dirty="0" smtClean="0"/>
          </a:p>
        </p:txBody>
      </p:sp>
      <p:sp>
        <p:nvSpPr>
          <p:cNvPr id="46" name="21 Marcador de texto"/>
          <p:cNvSpPr>
            <a:spLocks noGrp="1"/>
          </p:cNvSpPr>
          <p:nvPr>
            <p:ph type="body" sz="quarter" idx="31" hasCustomPrompt="1"/>
          </p:nvPr>
        </p:nvSpPr>
        <p:spPr>
          <a:xfrm>
            <a:off x="731101" y="5040810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&lt;Integrante 1&gt;, &lt;Integrante 2&gt;, &lt;Integrante 3&gt;</a:t>
            </a:r>
          </a:p>
        </p:txBody>
      </p:sp>
      <p:sp>
        <p:nvSpPr>
          <p:cNvPr id="47" name="21 Marcador de texto"/>
          <p:cNvSpPr>
            <a:spLocks noGrp="1"/>
          </p:cNvSpPr>
          <p:nvPr>
            <p:ph type="body" sz="quarter" idx="32" hasCustomPrompt="1"/>
          </p:nvPr>
        </p:nvSpPr>
        <p:spPr>
          <a:xfrm>
            <a:off x="731101" y="5904906"/>
            <a:ext cx="23760000" cy="720000"/>
          </a:xfrm>
        </p:spPr>
        <p:txBody>
          <a:bodyPr>
            <a:noAutofit/>
          </a:bodyPr>
          <a:lstStyle>
            <a:lvl1pPr marL="0" indent="0" algn="ctr">
              <a:buNone/>
              <a:defRPr sz="2400" b="1" i="1">
                <a:solidFill>
                  <a:srgbClr val="295688"/>
                </a:solidFill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&lt;correo1&gt;@uniandes.edu.co, &lt;correo2&gt;@uniandes.edu.co, &lt;correo3&gt;@uniandes.edu.co</a:t>
            </a:r>
          </a:p>
        </p:txBody>
      </p:sp>
      <p:sp>
        <p:nvSpPr>
          <p:cNvPr id="41" name="40 Rectángulo"/>
          <p:cNvSpPr/>
          <p:nvPr userDrawn="1"/>
        </p:nvSpPr>
        <p:spPr>
          <a:xfrm>
            <a:off x="0" y="34924130"/>
            <a:ext cx="25236000" cy="1080000"/>
          </a:xfrm>
          <a:prstGeom prst="rect">
            <a:avLst/>
          </a:prstGeom>
          <a:solidFill>
            <a:srgbClr val="DBC965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mtClean="0"/>
              <a:t xml:space="preserve"> </a:t>
            </a:r>
            <a:endParaRPr lang="es-CO"/>
          </a:p>
        </p:txBody>
      </p:sp>
      <p:sp>
        <p:nvSpPr>
          <p:cNvPr id="2" name="1 CuadroTexto"/>
          <p:cNvSpPr txBox="1"/>
          <p:nvPr userDrawn="1"/>
        </p:nvSpPr>
        <p:spPr>
          <a:xfrm>
            <a:off x="7272905" y="35269324"/>
            <a:ext cx="4364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http://</a:t>
            </a:r>
            <a:r>
              <a:rPr lang="es-CO" sz="2400" b="1" dirty="0" smtClean="0"/>
              <a:t>sistemas.uniandes.edu.co</a:t>
            </a:r>
            <a:endParaRPr lang="es-CO" sz="2400" b="1" dirty="0"/>
          </a:p>
        </p:txBody>
      </p:sp>
      <p:sp>
        <p:nvSpPr>
          <p:cNvPr id="33" name="32 CuadroTexto"/>
          <p:cNvSpPr txBox="1"/>
          <p:nvPr userDrawn="1"/>
        </p:nvSpPr>
        <p:spPr>
          <a:xfrm>
            <a:off x="12621207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4" name="33 CuadroTexto"/>
          <p:cNvSpPr txBox="1"/>
          <p:nvPr userDrawn="1"/>
        </p:nvSpPr>
        <p:spPr>
          <a:xfrm>
            <a:off x="15853625" y="35284172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smtClean="0"/>
              <a:t>/</a:t>
            </a:r>
            <a:r>
              <a:rPr lang="es-CO" sz="2400" b="1" dirty="0" err="1" smtClean="0"/>
              <a:t>DISCUniandes</a:t>
            </a:r>
            <a:endParaRPr lang="es-CO" sz="2400" b="1" dirty="0"/>
          </a:p>
        </p:txBody>
      </p:sp>
      <p:sp>
        <p:nvSpPr>
          <p:cNvPr id="38" name="13 Marcador de contenido"/>
          <p:cNvSpPr>
            <a:spLocks noGrp="1"/>
          </p:cNvSpPr>
          <p:nvPr>
            <p:ph sz="quarter" idx="34" hasCustomPrompt="1"/>
          </p:nvPr>
        </p:nvSpPr>
        <p:spPr>
          <a:xfrm>
            <a:off x="648247" y="12313619"/>
            <a:ext cx="11520000" cy="3600450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>Haga clic para ingresar la introducción</a:t>
            </a:r>
            <a:r>
              <a:rPr lang="es-CO" dirty="0" smtClean="0"/>
              <a:t xml:space="preserve"> del proyecto</a:t>
            </a:r>
            <a:endParaRPr lang="es-ES" dirty="0" smtClean="0"/>
          </a:p>
        </p:txBody>
      </p:sp>
      <p:sp>
        <p:nvSpPr>
          <p:cNvPr id="42" name="13 Marcador de contenido"/>
          <p:cNvSpPr>
            <a:spLocks noGrp="1"/>
          </p:cNvSpPr>
          <p:nvPr>
            <p:ph sz="quarter" idx="35" hasCustomPrompt="1"/>
          </p:nvPr>
        </p:nvSpPr>
        <p:spPr>
          <a:xfrm>
            <a:off x="612904" y="17714219"/>
            <a:ext cx="11520000" cy="4896544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objetivos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5" name="13 Marcador de contenido"/>
          <p:cNvSpPr>
            <a:spLocks noGrp="1"/>
          </p:cNvSpPr>
          <p:nvPr>
            <p:ph sz="quarter" idx="36" hasCustomPrompt="1"/>
          </p:nvPr>
        </p:nvSpPr>
        <p:spPr>
          <a:xfrm>
            <a:off x="13393663" y="12313568"/>
            <a:ext cx="11520000" cy="655277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el diseño e implementación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48" name="13 Marcador de contenido"/>
          <p:cNvSpPr>
            <a:spLocks noGrp="1"/>
          </p:cNvSpPr>
          <p:nvPr>
            <p:ph sz="quarter" idx="37" hasCustomPrompt="1"/>
          </p:nvPr>
        </p:nvSpPr>
        <p:spPr>
          <a:xfrm>
            <a:off x="648247" y="24482970"/>
            <a:ext cx="11520000" cy="10081120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 metodología </a:t>
            </a:r>
            <a:r>
              <a:rPr lang="es-CO" dirty="0" smtClean="0"/>
              <a:t>del proyecto</a:t>
            </a:r>
            <a:endParaRPr lang="es-ES" dirty="0" smtClean="0"/>
          </a:p>
        </p:txBody>
      </p:sp>
      <p:sp>
        <p:nvSpPr>
          <p:cNvPr id="49" name="13 Marcador de contenido"/>
          <p:cNvSpPr>
            <a:spLocks noGrp="1"/>
          </p:cNvSpPr>
          <p:nvPr>
            <p:ph sz="quarter" idx="38" hasCustomPrompt="1"/>
          </p:nvPr>
        </p:nvSpPr>
        <p:spPr>
          <a:xfrm>
            <a:off x="13393663" y="20594488"/>
            <a:ext cx="11520000" cy="727285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los resultados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sp>
        <p:nvSpPr>
          <p:cNvPr id="50" name="13 Marcador de contenido"/>
          <p:cNvSpPr>
            <a:spLocks noGrp="1"/>
          </p:cNvSpPr>
          <p:nvPr>
            <p:ph sz="quarter" idx="39" hasCustomPrompt="1"/>
          </p:nvPr>
        </p:nvSpPr>
        <p:spPr>
          <a:xfrm>
            <a:off x="13393663" y="29451522"/>
            <a:ext cx="11520000" cy="5112619"/>
          </a:xfrm>
        </p:spPr>
        <p:txBody>
          <a:bodyPr>
            <a:normAutofit/>
          </a:bodyPr>
          <a:lstStyle>
            <a:lvl1pPr marL="0" indent="0">
              <a:buNone/>
              <a:defRPr sz="3200" baseline="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 marL="6995160" indent="0">
              <a:buNone/>
              <a:defRPr sz="3200"/>
            </a:lvl5pPr>
          </a:lstStyle>
          <a:p>
            <a:pPr lvl="0"/>
            <a:r>
              <a:rPr lang="es-ES" dirty="0" smtClean="0"/>
              <a:t xml:space="preserve">Haga clic para ingresar las conclusiones del </a:t>
            </a:r>
            <a:r>
              <a:rPr lang="es-CO" dirty="0" smtClean="0"/>
              <a:t>proyecto</a:t>
            </a:r>
            <a:endParaRPr lang="es-ES" dirty="0" smtClean="0"/>
          </a:p>
        </p:txBody>
      </p:sp>
      <p:pic>
        <p:nvPicPr>
          <p:cNvPr id="4098" name="Picture 2" descr="D:\Dropbox\Personales\Uniandes\Proyectos\Websis\iconos\svg\Redes\twitter_29568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4522" y="35104130"/>
            <a:ext cx="8914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D:\Dropbox\Personales\Uniandes\Proyectos\Websis\iconos\svg\Redes\web_295685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905" y="3514023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:\Dropbox\Personales\Uniandes\Proyectos\Websis\iconos\svg\Redes\facebook_295685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1495" y="351041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3730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21 Marcador de texto"/>
          <p:cNvSpPr>
            <a:spLocks noGrp="1"/>
          </p:cNvSpPr>
          <p:nvPr>
            <p:ph type="body" sz="quarter" idx="33" hasCustomPrompt="1"/>
          </p:nvPr>
        </p:nvSpPr>
        <p:spPr>
          <a:xfrm>
            <a:off x="12601495" y="2500313"/>
            <a:ext cx="12644518" cy="668208"/>
          </a:xfrm>
          <a:solidFill>
            <a:srgbClr val="F7F2D9"/>
          </a:solidFill>
        </p:spPr>
        <p:txBody>
          <a:bodyPr>
            <a:noAutofit/>
          </a:bodyPr>
          <a:lstStyle>
            <a:lvl1pPr marL="0" indent="0" algn="r">
              <a:buNone/>
              <a:defRPr sz="3200" b="1" i="1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1748790" indent="0">
              <a:buNone/>
              <a:defRPr sz="4400"/>
            </a:lvl2pPr>
            <a:lvl3pPr marL="3497580" indent="0">
              <a:buNone/>
              <a:defRPr sz="3600"/>
            </a:lvl3pPr>
            <a:lvl4pPr marL="5246370" indent="0">
              <a:buNone/>
              <a:defRPr sz="2800"/>
            </a:lvl4pPr>
            <a:lvl5pPr marL="6995160" indent="0">
              <a:buNone/>
              <a:defRPr sz="2800"/>
            </a:lvl5pPr>
          </a:lstStyle>
          <a:p>
            <a:pPr lvl="0"/>
            <a:r>
              <a:rPr lang="es-ES" dirty="0" smtClean="0"/>
              <a:t>Asesor: &lt;asesor&gt; (&lt;correo asesor&gt;@uniandes.edu.co)</a:t>
            </a:r>
          </a:p>
        </p:txBody>
      </p:sp>
    </p:spTree>
    <p:extLst>
      <p:ext uri="{BB962C8B-B14F-4D97-AF65-F5344CB8AC3E}">
        <p14:creationId xmlns:p14="http://schemas.microsoft.com/office/powerpoint/2010/main" val="1759878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60159" y="1433514"/>
            <a:ext cx="8291664" cy="6100763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853733" y="1433516"/>
            <a:ext cx="14089263" cy="30728846"/>
          </a:xfrm>
        </p:spPr>
        <p:txBody>
          <a:bodyPr/>
          <a:lstStyle>
            <a:lvl1pPr>
              <a:defRPr sz="12200"/>
            </a:lvl1pPr>
            <a:lvl2pPr>
              <a:defRPr sz="10700"/>
            </a:lvl2pPr>
            <a:lvl3pPr>
              <a:defRPr sz="92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260159" y="7534279"/>
            <a:ext cx="8291664" cy="24628081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0237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39994" y="25203153"/>
            <a:ext cx="15121890" cy="2975376"/>
          </a:xfrm>
        </p:spPr>
        <p:txBody>
          <a:bodyPr anchor="b"/>
          <a:lstStyle>
            <a:lvl1pPr algn="l">
              <a:defRPr sz="7700" b="1"/>
            </a:lvl1pPr>
          </a:lstStyle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939994" y="3217067"/>
            <a:ext cx="15121890" cy="21602700"/>
          </a:xfrm>
        </p:spPr>
        <p:txBody>
          <a:bodyPr/>
          <a:lstStyle>
            <a:lvl1pPr marL="0" indent="0">
              <a:buNone/>
              <a:defRPr sz="12200"/>
            </a:lvl1pPr>
            <a:lvl2pPr marL="1748790" indent="0">
              <a:buNone/>
              <a:defRPr sz="10700"/>
            </a:lvl2pPr>
            <a:lvl3pPr marL="3497580" indent="0">
              <a:buNone/>
              <a:defRPr sz="9200"/>
            </a:lvl3pPr>
            <a:lvl4pPr marL="5246370" indent="0">
              <a:buNone/>
              <a:defRPr sz="7700"/>
            </a:lvl4pPr>
            <a:lvl5pPr marL="6995160" indent="0">
              <a:buNone/>
              <a:defRPr sz="7700"/>
            </a:lvl5pPr>
            <a:lvl6pPr marL="8743950" indent="0">
              <a:buNone/>
              <a:defRPr sz="7700"/>
            </a:lvl6pPr>
            <a:lvl7pPr marL="10492740" indent="0">
              <a:buNone/>
              <a:defRPr sz="7700"/>
            </a:lvl7pPr>
            <a:lvl8pPr marL="12241530" indent="0">
              <a:buNone/>
              <a:defRPr sz="7700"/>
            </a:lvl8pPr>
            <a:lvl9pPr marL="13990320" indent="0">
              <a:buNone/>
              <a:defRPr sz="7700"/>
            </a:lvl9pPr>
          </a:lstStyle>
          <a:p>
            <a:r>
              <a:rPr lang="en-US" smtClean="0"/>
              <a:t>Drag picture to placeholder or click icon to add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39994" y="28178529"/>
            <a:ext cx="15121890" cy="4225524"/>
          </a:xfrm>
        </p:spPr>
        <p:txBody>
          <a:bodyPr/>
          <a:lstStyle>
            <a:lvl1pPr marL="0" indent="0">
              <a:buNone/>
              <a:defRPr sz="5400"/>
            </a:lvl1pPr>
            <a:lvl2pPr marL="1748790" indent="0">
              <a:buNone/>
              <a:defRPr sz="4600"/>
            </a:lvl2pPr>
            <a:lvl3pPr marL="3497580" indent="0">
              <a:buNone/>
              <a:defRPr sz="3800"/>
            </a:lvl3pPr>
            <a:lvl4pPr marL="5246370" indent="0">
              <a:buNone/>
              <a:defRPr sz="3400"/>
            </a:lvl4pPr>
            <a:lvl5pPr marL="6995160" indent="0">
              <a:buNone/>
              <a:defRPr sz="3400"/>
            </a:lvl5pPr>
            <a:lvl6pPr marL="8743950" indent="0">
              <a:buNone/>
              <a:defRPr sz="3400"/>
            </a:lvl6pPr>
            <a:lvl7pPr marL="10492740" indent="0">
              <a:buNone/>
              <a:defRPr sz="3400"/>
            </a:lvl7pPr>
            <a:lvl8pPr marL="12241530" indent="0">
              <a:buNone/>
              <a:defRPr sz="3400"/>
            </a:lvl8pPr>
            <a:lvl9pPr marL="13990320" indent="0">
              <a:buNone/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0331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8430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18272286" y="1441856"/>
            <a:ext cx="5670709" cy="307205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157" y="1441856"/>
            <a:ext cx="16592074" cy="307205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238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1260158" y="1441852"/>
            <a:ext cx="22682835" cy="6000750"/>
          </a:xfrm>
          <a:prstGeom prst="rect">
            <a:avLst/>
          </a:prstGeom>
        </p:spPr>
        <p:txBody>
          <a:bodyPr vert="horz" lIns="349758" tIns="174879" rIns="349758" bIns="174879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60158" y="8401058"/>
            <a:ext cx="22682835" cy="23761304"/>
          </a:xfrm>
          <a:prstGeom prst="rect">
            <a:avLst/>
          </a:prstGeom>
        </p:spPr>
        <p:txBody>
          <a:bodyPr vert="horz" lIns="349758" tIns="174879" rIns="349758" bIns="174879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12601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l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2EE88-468A-48F5-896A-B4CE8ACA2C11}" type="datetimeFigureOut">
              <a:rPr lang="es-CO" smtClean="0"/>
              <a:t>24/02/16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8611076" y="33370843"/>
            <a:ext cx="7980998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ct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8062258" y="33370843"/>
            <a:ext cx="5880735" cy="1916906"/>
          </a:xfrm>
          <a:prstGeom prst="rect">
            <a:avLst/>
          </a:prstGeom>
        </p:spPr>
        <p:txBody>
          <a:bodyPr vert="horz" lIns="349758" tIns="174879" rIns="349758" bIns="174879" rtlCol="0" anchor="ctr"/>
          <a:lstStyle>
            <a:lvl1pPr algn="r">
              <a:defRPr sz="4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9A6C-8983-4CE5-98F7-B967F05418B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192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56" r:id="rId17"/>
    <p:sldLayoutId id="2147483657" r:id="rId18"/>
    <p:sldLayoutId id="2147483658" r:id="rId19"/>
    <p:sldLayoutId id="2147483659" r:id="rId20"/>
  </p:sldLayoutIdLst>
  <p:timing>
    <p:tnLst>
      <p:par>
        <p:cTn id="1" dur="indefinite" restart="never" nodeType="tmRoot"/>
      </p:par>
    </p:tnLst>
  </p:timing>
  <p:txStyles>
    <p:titleStyle>
      <a:lvl1pPr algn="ctr" defTabSz="3497580" rtl="0" eaLnBrk="1" latinLnBrk="0" hangingPunct="1">
        <a:spcBef>
          <a:spcPct val="0"/>
        </a:spcBef>
        <a:buNone/>
        <a:defRPr sz="16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1593" indent="-1311593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00" kern="1200">
          <a:solidFill>
            <a:schemeClr val="tx1"/>
          </a:solidFill>
          <a:latin typeface="+mn-lt"/>
          <a:ea typeface="+mn-ea"/>
          <a:cs typeface="+mn-cs"/>
        </a:defRPr>
      </a:lvl1pPr>
      <a:lvl2pPr marL="2841784" indent="-1092994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00" kern="1200">
          <a:solidFill>
            <a:schemeClr val="tx1"/>
          </a:solidFill>
          <a:latin typeface="+mn-lt"/>
          <a:ea typeface="+mn-ea"/>
          <a:cs typeface="+mn-cs"/>
        </a:defRPr>
      </a:lvl2pPr>
      <a:lvl3pPr marL="437197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76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–"/>
        <a:defRPr sz="7700" kern="1200">
          <a:solidFill>
            <a:schemeClr val="tx1"/>
          </a:solidFill>
          <a:latin typeface="+mn-lt"/>
          <a:ea typeface="+mn-ea"/>
          <a:cs typeface="+mn-cs"/>
        </a:defRPr>
      </a:lvl4pPr>
      <a:lvl5pPr marL="786955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»"/>
        <a:defRPr sz="7700" kern="1200">
          <a:solidFill>
            <a:schemeClr val="tx1"/>
          </a:solidFill>
          <a:latin typeface="+mn-lt"/>
          <a:ea typeface="+mn-ea"/>
          <a:cs typeface="+mn-cs"/>
        </a:defRPr>
      </a:lvl5pPr>
      <a:lvl6pPr marL="961834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6pPr>
      <a:lvl7pPr marL="1136713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7pPr>
      <a:lvl8pPr marL="1311592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8pPr>
      <a:lvl9pPr marL="14864715" indent="-874395" algn="l" defTabSz="3497580" rtl="0" eaLnBrk="1" latinLnBrk="0" hangingPunct="1">
        <a:spcBef>
          <a:spcPct val="20000"/>
        </a:spcBef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1pPr>
      <a:lvl2pPr marL="174879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2pPr>
      <a:lvl3pPr marL="349758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3pPr>
      <a:lvl4pPr marL="524637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4pPr>
      <a:lvl5pPr marL="699516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5pPr>
      <a:lvl6pPr marL="874395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6pPr>
      <a:lvl7pPr marL="1049274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7pPr>
      <a:lvl8pPr marL="1224153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algn="l" defTabSz="3497580" rtl="0" eaLnBrk="1" latinLnBrk="0" hangingPunct="1">
        <a:defRPr sz="6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i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s-CO" b="1" dirty="0"/>
              <a:t>Sistema de Deteccion de Intrusiones IoT/MQTT mediante Aprendizaje Federado Jerarquico (HFL) y Cifrado Ligero ASCON-128 sobre Arquitectura Edge-Fog-Cloud</a:t>
            </a:r>
            <a:endParaRPr lang="es-CO" dirty="0"/>
          </a:p>
        </p:txBody>
      </p:sp>
      <p:sp>
        <p:nvSpPr>
          <p:cNvPr id="3" name="2 Header Resumen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O" b="1"/>
              <a:t>Resumen</a:t>
            </a:r>
            <a:endParaRPr lang="es-CO"/>
          </a:p>
        </p:txBody>
      </p:sp>
      <p:sp>
        <p:nvSpPr>
          <p:cNvPr id="4" name="3 Resumen contenido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/>
              <a:t>Se disena, implementa y evalua un Sistema de Deteccion de Intrusiones (IDS) para trafico IoT/MQTT desplegado sobre una arquitectura jerarquica Edge-Fog-Cloud (ESP32-S3 + Raspberry Pi 4 + PC). Los nodos edge ejecutan inferencia TinyML sobre 13 features de flujo y publican datos al gateway; el gateway entrena localmente y reporta pesos al PC, que coordina rondas de FedAvg. Todas las comunicaciones MQTT/HTTP se protegen con ASCON-128 (estandar NIST de criptografia ligera). Se comparan cuatro variantes (RN+ASCON, RN sin ASCON, CNN-1D, FOG con lider/peer) y se cuantifica el overhead de seguridad sobre el ciclo federado. Resultados: accuracy global de 0.946 (RN+ASCON) y 0.975 (CNN+FOG), con un overhead temporal de ASCON inferior al 0.1% del tiempo de ronda y un costo de tamano del 36% por mensaje, validando una arquitectura operativa, replicable y segura para IDS IoT.</a:t>
            </a:r>
            <a:endParaRPr lang="es-CO"/>
          </a:p>
        </p:txBody>
      </p:sp>
      <p:sp>
        <p:nvSpPr>
          <p:cNvPr id="5" name="4 Header Introduccion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CO" b="1"/>
              <a:t>Introduccion</a:t>
            </a:r>
            <a:endParaRPr lang="es-CO"/>
          </a:p>
        </p:txBody>
      </p:sp>
      <p:sp>
        <p:nvSpPr>
          <p:cNvPr id="6" name="5 Header Objetivos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s-CO" b="1"/>
              <a:t>Objetivos</a:t>
            </a:r>
            <a:endParaRPr lang="es-CO"/>
          </a:p>
        </p:txBody>
      </p:sp>
      <p:sp>
        <p:nvSpPr>
          <p:cNvPr id="7" name="6 Header Metodologia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s-CO" b="1"/>
              <a:t>Metodologia</a:t>
            </a:r>
            <a:endParaRPr lang="es-CO"/>
          </a:p>
        </p:txBody>
      </p:sp>
      <p:sp>
        <p:nvSpPr>
          <p:cNvPr id="8" name="7 Header Diseno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s-CO" b="1"/>
              <a:t>Diseno e implementacion</a:t>
            </a:r>
            <a:endParaRPr lang="es-CO"/>
          </a:p>
        </p:txBody>
      </p:sp>
      <p:sp>
        <p:nvSpPr>
          <p:cNvPr id="9" name="8 Header Resultados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s-CO" b="1"/>
              <a:t>Resultados</a:t>
            </a:r>
            <a:endParaRPr lang="es-CO"/>
          </a:p>
        </p:txBody>
      </p:sp>
      <p:sp>
        <p:nvSpPr>
          <p:cNvPr id="10" name="9 Header Conclusiones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es-CO" b="1"/>
              <a:t>Conclusiones</a:t>
            </a:r>
            <a:endParaRPr lang="es-CO"/>
          </a:p>
        </p:txBody>
      </p:sp>
      <p:sp>
        <p:nvSpPr>
          <p:cNvPr id="11" name="10 Programa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s-CO" dirty="0"/>
              <a:t>COMIT – Seguridad y Sistemas Distribuidos / Maestria en Ingenieria de Sistemas y Computacion</a:t>
            </a:r>
            <a:endParaRPr lang="es-CO" dirty="0"/>
          </a:p>
        </p:txBody>
      </p:sp>
      <p:sp>
        <p:nvSpPr>
          <p:cNvPr id="12" name="11 Integrantes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s-CO"/>
              <a:t>Nicolas Camargo</a:t>
            </a:r>
            <a:endParaRPr lang="es-CO"/>
          </a:p>
        </p:txBody>
      </p:sp>
      <p:sp>
        <p:nvSpPr>
          <p:cNvPr id="13" name="12 Correos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CO"/>
              <a:t>n.camargo@uniandes.edu.co</a:t>
            </a:r>
            <a:endParaRPr lang="es-CO"/>
          </a:p>
        </p:txBody>
      </p:sp>
      <p:sp>
        <p:nvSpPr>
          <p:cNvPr id="14" name="13 Asesor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s-CO"/>
              <a:t>Asesor: &lt;asesor&gt; (&lt;correo asesor&gt;@uniandes.edu.co)</a:t>
            </a:r>
            <a:endParaRPr lang="es-CO"/>
          </a:p>
        </p:txBody>
      </p:sp>
      <p:sp>
        <p:nvSpPr>
          <p:cNvPr id="15" name="14 Introduccion contenido"/>
          <p:cNvSpPr>
            <a:spLocks noGrp="1"/>
          </p:cNvSpPr>
          <p:nvPr>
            <p:ph sz="quarter" idx="3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/>
              <a:t>Las redes IoT/IIoT amplian la superficie de ataque pero los IDS clasicos asumen centralizacion de datos, servidores potentes y comunicaciones sin cifrado, supuestos incompatibles con microcontroladores. Se identifican tres brechas: viabilidad de despliegue en MCU, privacidad de datos de trafico y seguridad del ciclo federado. Esta tesis las aborda integrando TinyML, HFL bidireccional y ASCON-128 (estandar NIST de criptografia ligera, 2023) sobre una arquitectura Edge-Fog-Cloud real, evitando el uso de permutaciones ad-hoc previamente comprometidas.</a:t>
            </a:r>
            <a:endParaRPr lang="es-CO"/>
          </a:p>
        </p:txBody>
      </p:sp>
      <p:sp>
        <p:nvSpPr>
          <p:cNvPr id="16" name="15 Objetivos contenido"/>
          <p:cNvSpPr>
            <a:spLocks noGrp="1"/>
          </p:cNvSpPr>
          <p:nvPr>
            <p:ph sz="quarter" idx="35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General: disenar, implementar y evaluar un IDS IoT/MQTT con TinyML, HFL jerarquico y ASCON-128 sobre ESP32-S3, Raspberry Pi 4 y PC.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Construir un pipeline de 13 features de flujo y problema triclase (normal, mqtt_bruteforce, scan_A).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Comparar MLP, CNN-1D, Residual MLP y Tiny Transformer y exportar pesos al ESP32.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Implementar HFL bidireccional con ASCON-128 y baseline sin cifrado para medir overhead.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Evaluar variantes RN, CNN-1D y modo FOG (lider/peer) sobre hardware real.</a:t>
            </a:r>
          </a:p>
        </p:txBody>
      </p:sp>
      <p:sp>
        <p:nvSpPr>
          <p:cNvPr id="17" name="16 Diseno contenido"/>
          <p:cNvSpPr>
            <a:spLocks noGrp="1"/>
          </p:cNvSpPr>
          <p:nvPr>
            <p:ph sz="quarter" idx="36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s-CO" b="1"/>
              <a:t xml:space="preserve">Edge (ESP32-S3): </a:t>
            </a:r>
            <a:r>
              <a:rPr lang="es-CO"/>
              <a:t>genera/captura trafico MQTT, extrae 13 features de flujo y ejecuta inferencia TinyML del MLP (1.139 parametros, ~4.5 KB) o CNN-1D.</a:t>
            </a:r>
          </a:p>
          <a:p>
            <a:r>
              <a:rPr lang="es-CO" b="1"/>
              <a:t xml:space="preserve">Fog (Raspberry Pi 4): </a:t>
            </a:r>
            <a:r>
              <a:rPr lang="es-CO"/>
              <a:t>broker MQTT, etiquetado heuristico, buffer de 40 muestras, entrenamiento local (5 epocas, batch 8, Adam lr=0.005) y reenvio de pesos.</a:t>
            </a:r>
          </a:p>
          <a:p>
            <a:r>
              <a:rPr lang="es-CO" b="1"/>
              <a:t xml:space="preserve">Cloud (PC): </a:t>
            </a:r>
            <a:r>
              <a:rPr lang="es-CO"/>
              <a:t>FastAPI + FedAvg ponderado por muestras, dashboard analitico Chart.js.</a:t>
            </a:r>
          </a:p>
          <a:p>
            <a:r>
              <a:rPr lang="es-CO" b="1"/>
              <a:t xml:space="preserve">ASCON-128: </a:t>
            </a:r>
            <a:r>
              <a:rPr lang="es-CO"/>
              <a:t>AEAD (clave 128 b, nonce 128 b, tag 128 b) en C++ (ESP32) y Python (RPi/PC), interoperables. Envelope JSON {ct, tag, nonce} en Base64. Validacion de tag obligatoria.</a:t>
            </a:r>
          </a:p>
          <a:p>
            <a:r>
              <a:rPr lang="es-CO" b="1"/>
              <a:t xml:space="preserve">Modo FOG: </a:t>
            </a:r>
            <a:r>
              <a:rPr lang="es-CO"/>
              <a:t>una RPi lider hace FedAvg de gateways peers via MQTT (fog/weights, fog/global_model) y reporta al PC (/aggregate-from-fog).</a:t>
            </a:r>
          </a:p>
          <a:p>
            <a:r>
              <a:rPr lang="es-CO" b="1"/>
              <a:t xml:space="preserve">Variantes evaluadas: </a:t>
            </a:r>
            <a:r>
              <a:rPr lang="es-CO"/>
              <a:t>hfl_v7-RN (MLP+ASCON), hfl_v7-no-ascon-RN (baseline JSON plano), hfl_v7-CNN (CNN-1D, estandar y FOG).</a:t>
            </a:r>
          </a:p>
        </p:txBody>
      </p:sp>
      <p:sp>
        <p:nvSpPr>
          <p:cNvPr id="18" name="17 Metodologia contenido"/>
          <p:cNvSpPr>
            <a:spLocks noGrp="1"/>
          </p:cNvSpPr>
          <p:nvPr>
            <p:ph sz="quarter" idx="3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/>
              <a:t>Investigacion experimental cuantitativa en seis fases: (1) construccion del pipeline de 13 features y triclase; (2) entrenamiento offline comparativo de MLP, CNN-1D, Residual MLP y Tiny Transformer; (3) implementacion del HFL bidireccional sobre ESP32 + RPi + PC; (4) integracion de ASCON-128 sobre los 4 canales (ESP32&lt;-&gt;RPi via MQTT, RPi&lt;-&gt;PC via HTTP); (5) baseline funcionalmente equivalente sin cifrado para aislar el costo de seguridad; (6) evaluacion de variantes RN, CNN-1D y modo FOG, con metricas de accuracy/loss, costo de comunicacion, tiempos de cifrado y duracion de ronda. Modelo de amenazas explicito: confidencialidad, integridad y replay; quedan fuera del alcance clientes bizantinos, ataques de canal lateral e inferencia de membresia.</a:t>
            </a:r>
            <a:endParaRPr lang="es-CO"/>
          </a:p>
        </p:txBody>
      </p:sp>
      <p:sp>
        <p:nvSpPr>
          <p:cNvPr id="19" name="18 Resultados contenido"/>
          <p:cNvSpPr>
            <a:spLocks noGrp="1"/>
          </p:cNvSpPr>
          <p:nvPr>
            <p:ph sz="quarter" idx="38"/>
          </p:nvPr>
        </p:nvSpPr>
        <p:spPr/>
        <p:txBody>
          <a:bodyPr>
            <a:normAutofit fontScale="90000" lnSpcReduction="10000"/>
          </a:bodyPr>
          <a:lstStyle/>
          <a:p>
            <a:pPr marL="285750" indent="-285750">
              <a:buFont typeface="Arial" panose="020B0604020202020204" pitchFamily="34" charset="0"/>
              <a:buChar char="-"/>
            </a:pPr>
            <a:r>
              <a:rPr lang="es-CO" b="1"/>
              <a:t xml:space="preserve">Centralizado (techo): </a:t>
            </a:r>
            <a:r>
              <a:rPr lang="es-CO"/>
              <a:t>Random Forest 0.9994, SVM-RBF 0.9968 (no caben en MCU); Decision Tree 0.9987 (~15 KB).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 b="1"/>
              <a:t xml:space="preserve">HFL en hardware: </a:t>
            </a:r>
            <a:r>
              <a:rPr lang="es-CO"/>
              <a:t>RN+ASCON 0.9463 (loss 0.1415, ronda 61.25 s); RN sin ASCON 0.9298; CNN-1D + FOG + ASCON 0.9750 (loss 0.0910).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 b="1"/>
              <a:t xml:space="preserve">Privacidad: </a:t>
            </a:r>
            <a:r>
              <a:rPr lang="es-CO"/>
              <a:t>se comparten solo 163 parametros (~652 B) por ronda en lugar de ~13.3 M de valores crudos (reduccion &gt;99.99%).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 b="1"/>
              <a:t xml:space="preserve">Overhead ASCON-128: </a:t>
            </a:r>
            <a:r>
              <a:rPr lang="es-CO"/>
              <a:t>~14 ms por operacion en PC (Python), ~100-300 us en ESP32 (C++). Total ~42 ms por ronda = ~0.06% del ciclo. Tamano: +36% por mensaje (~1.3 KB).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 b="1"/>
              <a:t xml:space="preserve">Convergencia: </a:t>
            </a:r>
            <a:r>
              <a:rPr lang="es-CO"/>
              <a:t>~20-30 rondas para superar 85% de accuracy; sin degradacion observable al activar ASCON.</a:t>
            </a:r>
          </a:p>
        </p:txBody>
      </p:sp>
      <p:sp>
        <p:nvSpPr>
          <p:cNvPr id="20" name="19 Conclusiones contenido"/>
          <p:cNvSpPr>
            <a:spLocks noGrp="1"/>
          </p:cNvSpPr>
          <p:nvPr>
            <p:ph sz="quarter" idx="39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Un MLP de 4.5 KB en ESP32-S3 detecta trafico MQTT malicioso con accuracy operativa (90-97%) viable para alerta temprana.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HFL bidireccional reduce &gt;99.99% el intercambio de datos sensibles con una penalizacion de ~7 puntos de accuracy.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El overhead temporal de ASCON-128 es despreciable (&lt;0.1% del ciclo) y el de tamano (~36% por mensaje) es asumible para redes IoT.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El modo FOG con CNN-1D obtiene los mejores resultados (acc 0.975, loss 0.091) sin alterar el contrato bidireccional Edge-Fog-Cloud.</a:t>
            </a:r>
          </a:p>
          <a:p>
            <a:pPr marL="285750" indent="-285750">
              <a:buFont typeface="Arial" panose="020B0604020202020204" pitchFamily="34" charset="0"/>
              <a:buChar char="-"/>
            </a:pPr>
            <a:r>
              <a:rPr lang="es-CO"/>
              <a:t>Trabajos futuros: robustez bizantina (Krum/FLTrust), cuantizacion INT8, contramedidas SCA sobre ASCON, datasets reales (CICIoT2023, TON_IoT) y differential privacy.</a:t>
            </a:r>
          </a:p>
        </p:txBody>
      </p:sp>
    </p:spTree>
    <p:extLst>
      <p:ext uri="{BB962C8B-B14F-4D97-AF65-F5344CB8AC3E}">
        <p14:creationId xmlns:p14="http://schemas.microsoft.com/office/powerpoint/2010/main" val="2424691945"/>
      </p:ext>
    </p:extLst>
  </p:cSld>
  <p:clrMapOvr>
    <a:masterClrMapping/>
  </p:clrMapOvr>
</p:sld>
</file>

<file path=ppt/theme/theme1.xml><?xml version="1.0" encoding="utf-8"?>
<a:theme xmlns:a="http://schemas.openxmlformats.org/drawingml/2006/main" name="FormatoPoster_ISI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sInvestigacion" id="{D959789F-7C6C-C840-A820-9D76BA96E514}" vid="{DE1612A0-BF95-BF4E-B9AF-E78A0732F9A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Macintosh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Arial</vt:lpstr>
      <vt:lpstr>FormatoPoster_ISIS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Mario Eduardo Sanchez Puccini</dc:creator>
  <cp:lastModifiedBy>Mario Eduardo Sanchez Puccini</cp:lastModifiedBy>
  <cp:revision>4</cp:revision>
  <dcterms:created xsi:type="dcterms:W3CDTF">2016-02-24T12:38:22Z</dcterms:created>
  <dcterms:modified xsi:type="dcterms:W3CDTF">2016-02-24T12:45:05Z</dcterms:modified>
</cp:coreProperties>
</file>