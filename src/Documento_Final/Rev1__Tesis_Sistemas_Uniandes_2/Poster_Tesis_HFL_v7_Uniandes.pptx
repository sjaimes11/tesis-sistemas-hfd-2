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6"/>
  </p:handoutMasterIdLst>
  <p:sldIdLst>
    <p:sldId id="256" r:id="rId2"/>
  </p:sldIdLst>
  <p:sldSz cx="25203150" cy="36004500"/>
  <p:notesSz cx="6858000" cy="9144000"/>
  <p:defaultTextStyle>
    <a:defPPr>
      <a:defRPr lang="es-CO"/>
    </a:defPPr>
    <a:lvl1pPr marL="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1pPr>
    <a:lvl2pPr marL="174879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2pPr>
    <a:lvl3pPr marL="349758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3pPr>
    <a:lvl4pPr marL="524637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4pPr>
    <a:lvl5pPr marL="699516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5pPr>
    <a:lvl6pPr marL="874395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6pPr>
    <a:lvl7pPr marL="1049274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7pPr>
    <a:lvl8pPr marL="1224153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8pPr>
    <a:lvl9pPr marL="1399032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0">
          <p15:clr>
            <a:srgbClr val="A4A3A4"/>
          </p15:clr>
        </p15:guide>
        <p15:guide id="2" pos="793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2D9"/>
    <a:srgbClr val="DBC965"/>
    <a:srgbClr val="295688"/>
    <a:srgbClr val="CC6634"/>
    <a:srgbClr val="668C46"/>
    <a:srgbClr val="663366"/>
    <a:srgbClr val="E66400"/>
    <a:srgbClr val="003399"/>
    <a:srgbClr val="915000"/>
    <a:srgbClr val="0066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93"/>
    <p:restoredTop sz="94604"/>
  </p:normalViewPr>
  <p:slideViewPr>
    <p:cSldViewPr>
      <p:cViewPr>
        <p:scale>
          <a:sx n="60" d="100"/>
          <a:sy n="60" d="100"/>
        </p:scale>
        <p:origin x="400" y="-5536"/>
      </p:cViewPr>
      <p:guideLst>
        <p:guide orient="horz" pos="11340"/>
        <p:guide pos="793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8" d="100"/>
          <a:sy n="88" d="100"/>
        </p:scale>
        <p:origin x="-3858" y="-12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0ABEAF-95F9-44D9-8220-B5EB390C6BFF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CB9EF3-57EF-49F1-93E1-F89EDA84B7D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44490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Relationship Id="rId3" Type="http://schemas.openxmlformats.org/officeDocument/2006/relationships/image" Target="../media/image57.png"/><Relationship Id="rId4" Type="http://schemas.openxmlformats.org/officeDocument/2006/relationships/image" Target="../media/image52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1890236" y="11184739"/>
            <a:ext cx="21422678" cy="771763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3780473" y="20402552"/>
            <a:ext cx="17642205" cy="92011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748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4975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2463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995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7439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83410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2156151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990876" y="23136226"/>
            <a:ext cx="21422678" cy="7150894"/>
          </a:xfrm>
        </p:spPr>
        <p:txBody>
          <a:bodyPr anchor="t"/>
          <a:lstStyle>
            <a:lvl1pPr algn="l">
              <a:defRPr sz="15300" b="1" cap="all"/>
            </a:lvl1pPr>
          </a:lstStyle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990876" y="15260249"/>
            <a:ext cx="21422678" cy="7875980"/>
          </a:xfrm>
        </p:spPr>
        <p:txBody>
          <a:bodyPr anchor="b"/>
          <a:lstStyle>
            <a:lvl1pPr marL="0" indent="0">
              <a:buNone/>
              <a:defRPr sz="7700">
                <a:solidFill>
                  <a:schemeClr val="tx1">
                    <a:tint val="75000"/>
                  </a:schemeClr>
                </a:solidFill>
              </a:defRPr>
            </a:lvl1pPr>
            <a:lvl2pPr marL="1748790" indent="0">
              <a:buNone/>
              <a:defRPr sz="6900">
                <a:solidFill>
                  <a:schemeClr val="tx1">
                    <a:tint val="75000"/>
                  </a:schemeClr>
                </a:solidFill>
              </a:defRPr>
            </a:lvl2pPr>
            <a:lvl3pPr marL="3497580" indent="0">
              <a:buNone/>
              <a:defRPr sz="6100">
                <a:solidFill>
                  <a:schemeClr val="tx1">
                    <a:tint val="75000"/>
                  </a:schemeClr>
                </a:solidFill>
              </a:defRPr>
            </a:lvl3pPr>
            <a:lvl4pPr marL="524637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4pPr>
            <a:lvl5pPr marL="699516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5pPr>
            <a:lvl6pPr marL="874395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77935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1260160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811603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3862628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9" y="8059343"/>
            <a:ext cx="11135768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60159" y="11418095"/>
            <a:ext cx="11135768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12802855" y="8059343"/>
            <a:ext cx="11140141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12802855" y="11418095"/>
            <a:ext cx="11140141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40656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555074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1202620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pic>
        <p:nvPicPr>
          <p:cNvPr id="3075" name="Picture 3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812" y="-71757"/>
            <a:ext cx="25269826" cy="2547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5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 xml:space="preserve">COMIT – Sub </a:t>
            </a:r>
            <a:r>
              <a:rPr lang="es-ES" dirty="0" smtClean="0"/>
              <a:t>área / Programa estudiante</a:t>
            </a:r>
            <a:endParaRPr lang="es-ES" dirty="0" smtClean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EC7327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pic>
        <p:nvPicPr>
          <p:cNvPr id="8" name="7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11233" y="35156826"/>
            <a:ext cx="720000" cy="720000"/>
          </a:xfrm>
          <a:prstGeom prst="rect">
            <a:avLst/>
          </a:prstGeom>
        </p:spPr>
      </p:pic>
      <p:pic>
        <p:nvPicPr>
          <p:cNvPr id="9" name="8 Imagen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3184" y="35104130"/>
            <a:ext cx="720000" cy="720000"/>
          </a:xfrm>
          <a:prstGeom prst="rect">
            <a:avLst/>
          </a:prstGeom>
        </p:spPr>
      </p:pic>
      <p:pic>
        <p:nvPicPr>
          <p:cNvPr id="10" name="9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03" y="35140153"/>
            <a:ext cx="720000" cy="720000"/>
          </a:xfrm>
          <a:prstGeom prst="rect">
            <a:avLst/>
          </a:prstGeom>
        </p:spPr>
      </p:pic>
      <p:sp>
        <p:nvSpPr>
          <p:cNvPr id="14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</p:spTree>
    <p:extLst>
      <p:ext uri="{BB962C8B-B14F-4D97-AF65-F5344CB8AC3E}">
        <p14:creationId xmlns:p14="http://schemas.microsoft.com/office/powerpoint/2010/main" val="337145913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S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TICSw</a:t>
            </a:r>
            <a:r>
              <a:rPr lang="es-ES" dirty="0" smtClean="0"/>
              <a:t xml:space="preserve"> – Sub </a:t>
            </a:r>
            <a:r>
              <a:rPr lang="es-ES" dirty="0" smtClean="0"/>
              <a:t>área / Programa estudiante</a:t>
            </a:r>
            <a:endParaRPr lang="es-ES" dirty="0" smtClean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24AAE1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"/>
            <a:ext cx="25200000" cy="253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4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84" y="35140234"/>
            <a:ext cx="720000" cy="720000"/>
          </a:xfrm>
          <a:prstGeom prst="rect">
            <a:avLst/>
          </a:prstGeom>
        </p:spPr>
      </p:pic>
      <p:pic>
        <p:nvPicPr>
          <p:cNvPr id="7" name="6 Imagen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583" y="35104130"/>
            <a:ext cx="720000" cy="720000"/>
          </a:xfrm>
          <a:prstGeom prst="rect">
            <a:avLst/>
          </a:prstGeom>
        </p:spPr>
      </p:pic>
      <p:pic>
        <p:nvPicPr>
          <p:cNvPr id="11" name="10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65871" y="35201896"/>
            <a:ext cx="720000" cy="580646"/>
          </a:xfrm>
          <a:prstGeom prst="rect">
            <a:avLst/>
          </a:prstGeom>
        </p:spPr>
      </p:pic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</p:spTree>
    <p:extLst>
      <p:ext uri="{BB962C8B-B14F-4D97-AF65-F5344CB8AC3E}">
        <p14:creationId xmlns:p14="http://schemas.microsoft.com/office/powerpoint/2010/main" val="414682694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IMAGINE / Programa estudiante</a:t>
            </a:r>
            <a:endParaRPr lang="es-ES" dirty="0" smtClean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57AC4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" y="251"/>
            <a:ext cx="25282526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 descr="D:\Dropbox\Personales\Uniandes\Proyectos\Websis\iconos\svg\Redes\twitter_9F417E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2" y="3520938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:\Dropbox\Personales\Uniandes\Proyectos\Websis\iconos\svg\Redes\web_9F417E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15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D:\Dropbox\Personales\Uniandes\Proyectos\Websis\iconos\svg\Redes\facebook_9F417E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38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36422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772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ARTIxxx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772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2050" name="Picture 2" descr="D:\Dropbox\Personales\Uniandes\Proyectos\Websis\iconos\svg\Redes\twitter_BB7F00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871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D:\Dropbox\Personales\Uniandes\Proyectos\Websis\iconos\svg\Redes\web_BB7F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facebook_BB7F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6294" y="3512580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64804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63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MSINxxx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63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web_9150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141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facebook_9150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81" y="3515500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twitter_9150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8673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929506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339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MBITxxx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00339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 descr="D:\Dropbox\Personales\Uniandes\Proyectos\Websis\iconos\svg\Redes\facebook_E66400.pn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7057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twitter_E66400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1" y="35206688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D:\Dropbox\Personales\Uniandes\Proyectos\Websis\iconos\svg\Redes\web_E664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218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635645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66336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MISOxxx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66336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3073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4" name="Picture 2" descr="D:\Dropbox\Personales\Uniandes\Proyectos\Websis\iconos\svg\Redes\web_668c46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9854" y="3508403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D:\Dropbox\Personales\Uniandes\Proyectos\Websis\iconos\svg\Redes\facebook_668c46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3503" y="35140233"/>
            <a:ext cx="720000" cy="720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D:\Dropbox\Personales\Uniandes\Proyectos\Websis\iconos\svg\Redes\twitter_668c46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7959" y="35212162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516598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448520"/>
            <a:ext cx="25235825" cy="720081"/>
          </a:xfrm>
          <a:solidFill>
            <a:srgbClr val="CC6634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ISISxxx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CC6634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26241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n-US" dirty="0" err="1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500313"/>
            <a:ext cx="12601321" cy="668288"/>
          </a:xfrm>
          <a:solidFill>
            <a:srgbClr val="DBC965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Ingenier</a:t>
            </a:r>
            <a:r>
              <a:rPr lang="en-US" dirty="0" err="1" smtClean="0"/>
              <a:t>ía</a:t>
            </a:r>
            <a:r>
              <a:rPr lang="en-US" dirty="0" smtClean="0"/>
              <a:t xml:space="preserve"> de </a:t>
            </a:r>
            <a:r>
              <a:rPr lang="en-US" dirty="0" err="1" smtClean="0"/>
              <a:t>Sistemas</a:t>
            </a:r>
            <a:r>
              <a:rPr lang="en-US" dirty="0" smtClean="0"/>
              <a:t xml:space="preserve"> y </a:t>
            </a:r>
            <a:r>
              <a:rPr lang="en-US" dirty="0" err="1" smtClean="0"/>
              <a:t>Computación</a:t>
            </a:r>
            <a:endParaRPr lang="es-ES" dirty="0" smtClean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DBC965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1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01495" y="2500313"/>
            <a:ext cx="12644518" cy="668208"/>
          </a:xfrm>
          <a:solidFill>
            <a:srgbClr val="F7F2D9"/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Asesor: &lt;asesor&gt; (&lt;correo asesor&gt;@uniandes.edu.co)</a:t>
            </a:r>
          </a:p>
        </p:txBody>
      </p:sp>
    </p:spTree>
    <p:extLst>
      <p:ext uri="{BB962C8B-B14F-4D97-AF65-F5344CB8AC3E}">
        <p14:creationId xmlns:p14="http://schemas.microsoft.com/office/powerpoint/2010/main" val="175987866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260159" y="1433514"/>
            <a:ext cx="8291664" cy="6100763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853733" y="1433516"/>
            <a:ext cx="14089263" cy="30728846"/>
          </a:xfrm>
        </p:spPr>
        <p:txBody>
          <a:bodyPr/>
          <a:lstStyle>
            <a:lvl1pPr>
              <a:defRPr sz="12200"/>
            </a:lvl1pPr>
            <a:lvl2pPr>
              <a:defRPr sz="10700"/>
            </a:lvl2pPr>
            <a:lvl3pPr>
              <a:defRPr sz="9200"/>
            </a:lvl3pPr>
            <a:lvl4pPr>
              <a:defRPr sz="7700"/>
            </a:lvl4pPr>
            <a:lvl5pPr>
              <a:defRPr sz="7700"/>
            </a:lvl5pPr>
            <a:lvl6pPr>
              <a:defRPr sz="7700"/>
            </a:lvl6pPr>
            <a:lvl7pPr>
              <a:defRPr sz="7700"/>
            </a:lvl7pPr>
            <a:lvl8pPr>
              <a:defRPr sz="7700"/>
            </a:lvl8pPr>
            <a:lvl9pPr>
              <a:defRPr sz="7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260159" y="7534279"/>
            <a:ext cx="8291664" cy="24628081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9023733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939994" y="25203153"/>
            <a:ext cx="15121890" cy="2975376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4939994" y="3217067"/>
            <a:ext cx="15121890" cy="21602700"/>
          </a:xfrm>
        </p:spPr>
        <p:txBody>
          <a:bodyPr/>
          <a:lstStyle>
            <a:lvl1pPr marL="0" indent="0">
              <a:buNone/>
              <a:defRPr sz="12200"/>
            </a:lvl1pPr>
            <a:lvl2pPr marL="1748790" indent="0">
              <a:buNone/>
              <a:defRPr sz="10700"/>
            </a:lvl2pPr>
            <a:lvl3pPr marL="3497580" indent="0">
              <a:buNone/>
              <a:defRPr sz="9200"/>
            </a:lvl3pPr>
            <a:lvl4pPr marL="5246370" indent="0">
              <a:buNone/>
              <a:defRPr sz="7700"/>
            </a:lvl4pPr>
            <a:lvl5pPr marL="6995160" indent="0">
              <a:buNone/>
              <a:defRPr sz="7700"/>
            </a:lvl5pPr>
            <a:lvl6pPr marL="8743950" indent="0">
              <a:buNone/>
              <a:defRPr sz="7700"/>
            </a:lvl6pPr>
            <a:lvl7pPr marL="10492740" indent="0">
              <a:buNone/>
              <a:defRPr sz="7700"/>
            </a:lvl7pPr>
            <a:lvl8pPr marL="12241530" indent="0">
              <a:buNone/>
              <a:defRPr sz="7700"/>
            </a:lvl8pPr>
            <a:lvl9pPr marL="13990320" indent="0">
              <a:buNone/>
              <a:defRPr sz="7700"/>
            </a:lvl9pPr>
          </a:lstStyle>
          <a:p>
            <a:r>
              <a:rPr lang="en-US" smtClean="0"/>
              <a:t>Drag picture to placeholder or click icon to add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939994" y="28178529"/>
            <a:ext cx="15121890" cy="4225524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03318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7284304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18272286" y="1441856"/>
            <a:ext cx="5670709" cy="3072050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1260157" y="1441856"/>
            <a:ext cx="16592074" cy="3072050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923830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1260158" y="1441852"/>
            <a:ext cx="22682835" cy="6000750"/>
          </a:xfrm>
          <a:prstGeom prst="rect">
            <a:avLst/>
          </a:prstGeom>
        </p:spPr>
        <p:txBody>
          <a:bodyPr vert="horz" lIns="349758" tIns="174879" rIns="349758" bIns="174879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8" y="8401058"/>
            <a:ext cx="22682835" cy="23761304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12601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l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8611076" y="33370843"/>
            <a:ext cx="7980998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ct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180622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82192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56" r:id="rId17"/>
    <p:sldLayoutId id="2147483657" r:id="rId18"/>
    <p:sldLayoutId id="2147483658" r:id="rId19"/>
    <p:sldLayoutId id="2147483659" r:id="rId20"/>
  </p:sldLayoutIdLst>
  <p:timing>
    <p:tnLst>
      <p:par>
        <p:cTn id="1" dur="indefinite" restart="never" nodeType="tmRoot"/>
      </p:par>
    </p:tnLst>
  </p:timing>
  <p:txStyles>
    <p:titleStyle>
      <a:lvl1pPr algn="ctr" defTabSz="3497580" rtl="0" eaLnBrk="1" latinLnBrk="0" hangingPunct="1">
        <a:spcBef>
          <a:spcPct val="0"/>
        </a:spcBef>
        <a:buNone/>
        <a:defRPr sz="16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11593" indent="-1311593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12200" kern="1200">
          <a:solidFill>
            <a:schemeClr val="tx1"/>
          </a:solidFill>
          <a:latin typeface="+mn-lt"/>
          <a:ea typeface="+mn-ea"/>
          <a:cs typeface="+mn-cs"/>
        </a:defRPr>
      </a:lvl1pPr>
      <a:lvl2pPr marL="2841784" indent="-1092994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10700" kern="1200">
          <a:solidFill>
            <a:schemeClr val="tx1"/>
          </a:solidFill>
          <a:latin typeface="+mn-lt"/>
          <a:ea typeface="+mn-ea"/>
          <a:cs typeface="+mn-cs"/>
        </a:defRPr>
      </a:lvl2pPr>
      <a:lvl3pPr marL="437197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3pPr>
      <a:lvl4pPr marL="612076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7700" kern="1200">
          <a:solidFill>
            <a:schemeClr val="tx1"/>
          </a:solidFill>
          <a:latin typeface="+mn-lt"/>
          <a:ea typeface="+mn-ea"/>
          <a:cs typeface="+mn-cs"/>
        </a:defRPr>
      </a:lvl4pPr>
      <a:lvl5pPr marL="786955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»"/>
        <a:defRPr sz="7700" kern="1200">
          <a:solidFill>
            <a:schemeClr val="tx1"/>
          </a:solidFill>
          <a:latin typeface="+mn-lt"/>
          <a:ea typeface="+mn-ea"/>
          <a:cs typeface="+mn-cs"/>
        </a:defRPr>
      </a:lvl5pPr>
      <a:lvl6pPr marL="961834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6pPr>
      <a:lvl7pPr marL="1136713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7pPr>
      <a:lvl8pPr marL="1311592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8pPr>
      <a:lvl9pPr marL="1486471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1pPr>
      <a:lvl2pPr marL="174879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2pPr>
      <a:lvl3pPr marL="349758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3pPr>
      <a:lvl4pPr marL="524637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4pPr>
      <a:lvl5pPr marL="699516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5pPr>
      <a:lvl6pPr marL="874395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6pPr>
      <a:lvl7pPr marL="1049274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7pPr>
      <a:lvl8pPr marL="1224153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i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 lnSpcReduction="10000"/>
          </a:bodyPr>
          <a:lstStyle/>
          <a:p>
            <a:r>
              <a:rPr lang="es-CO" b="1" dirty="0"/>
              <a:t>Sistema de deteccion de intrusiones para redes IoT mediante TinyML, aprendizaje federado jerarquico y cifrado ligero ASCON-128 en una arquitectura Edge-Fog-Cloud</a:t>
            </a:r>
            <a:endParaRPr lang="es-CO" dirty="0"/>
          </a:p>
        </p:txBody>
      </p:sp>
      <p:sp>
        <p:nvSpPr>
          <p:cNvPr id="3" name="2 Header Resumen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s-CO" b="1"/>
              <a:t>Resumen</a:t>
            </a:r>
            <a:endParaRPr lang="es-CO"/>
          </a:p>
        </p:txBody>
      </p:sp>
      <p:sp>
        <p:nvSpPr>
          <p:cNvPr id="4" name="3 Resumen contenido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sz="2800" b="0"/>
              <a:t>Sistema de Deteccion de Intrusiones (IDS) para trafico IoT/MQTT en arquitectura jerarquica Edge-Fog-Cloud (ESP32-S3 + Raspberry Pi 4 + PC). Combina TinyML, HFL bidireccional y ASCON-128 (estandar NIST). Se evaluan 8 variantes (RN/CNN x ASCON/PLAIN x NoFOG/FOG) sobre 58 intentos en hardware real. Mejor resultado: CNN_ASCON_FOG con accuracy 0.975 y loss 0.091.</a:t>
            </a:r>
            <a:endParaRPr lang="es-CO"/>
          </a:p>
        </p:txBody>
      </p:sp>
      <p:sp>
        <p:nvSpPr>
          <p:cNvPr id="5" name="4 Header Introduccion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s-CO" b="1"/>
              <a:t>Introduccion</a:t>
            </a:r>
            <a:endParaRPr lang="es-CO"/>
          </a:p>
        </p:txBody>
      </p:sp>
      <p:sp>
        <p:nvSpPr>
          <p:cNvPr id="6" name="5 Header Objetivos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lnSpcReduction="10000"/>
          </a:bodyPr>
          <a:lstStyle/>
          <a:p>
            <a:r>
              <a:rPr lang="es-CO" b="1"/>
              <a:t>Objetivos</a:t>
            </a:r>
            <a:endParaRPr lang="es-CO"/>
          </a:p>
        </p:txBody>
      </p:sp>
      <p:sp>
        <p:nvSpPr>
          <p:cNvPr id="7" name="6 Header Metodologia"/>
          <p:cNvSpPr>
            <a:spLocks noGrp="1"/>
          </p:cNvSpPr>
          <p:nvPr>
            <p:ph type="body" sz="quarter" idx="17"/>
          </p:nvPr>
        </p:nvSpPr>
        <p:spPr/>
        <p:txBody>
          <a:bodyPr>
            <a:normAutofit lnSpcReduction="10000"/>
          </a:bodyPr>
          <a:lstStyle/>
          <a:p>
            <a:r>
              <a:rPr lang="es-CO" b="1"/>
              <a:t>Metodologia</a:t>
            </a:r>
            <a:endParaRPr lang="es-CO"/>
          </a:p>
        </p:txBody>
      </p:sp>
      <p:sp>
        <p:nvSpPr>
          <p:cNvPr id="8" name="7 Header Diseno"/>
          <p:cNvSpPr>
            <a:spLocks noGrp="1"/>
          </p:cNvSpPr>
          <p:nvPr>
            <p:ph type="body" sz="quarter" idx="18"/>
          </p:nvPr>
        </p:nvSpPr>
        <p:spPr/>
        <p:txBody>
          <a:bodyPr>
            <a:normAutofit lnSpcReduction="10000"/>
          </a:bodyPr>
          <a:lstStyle/>
          <a:p>
            <a:r>
              <a:rPr lang="es-CO" b="1"/>
              <a:t>Diseno e implementacion</a:t>
            </a:r>
            <a:endParaRPr lang="es-CO"/>
          </a:p>
        </p:txBody>
      </p:sp>
      <p:sp>
        <p:nvSpPr>
          <p:cNvPr id="9" name="8 Header Resultados"/>
          <p:cNvSpPr>
            <a:spLocks noGrp="1"/>
          </p:cNvSpPr>
          <p:nvPr>
            <p:ph type="body" sz="quarter" idx="19"/>
          </p:nvPr>
        </p:nvSpPr>
        <p:spPr/>
        <p:txBody>
          <a:bodyPr>
            <a:normAutofit lnSpcReduction="10000"/>
          </a:bodyPr>
          <a:lstStyle/>
          <a:p>
            <a:r>
              <a:rPr lang="es-CO" b="1"/>
              <a:t>Resultados</a:t>
            </a:r>
            <a:endParaRPr lang="es-CO"/>
          </a:p>
        </p:txBody>
      </p:sp>
      <p:sp>
        <p:nvSpPr>
          <p:cNvPr id="10" name="9 Header Conclusiones"/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lnSpcReduction="10000"/>
          </a:bodyPr>
          <a:lstStyle/>
          <a:p>
            <a:r>
              <a:rPr lang="es-CO" b="1"/>
              <a:t>Conclusiones</a:t>
            </a:r>
            <a:endParaRPr lang="es-CO"/>
          </a:p>
        </p:txBody>
      </p:sp>
      <p:sp>
        <p:nvSpPr>
          <p:cNvPr id="11" name="10 Programa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s-CO" dirty="0"/>
              <a:t>COMIT – Seguridad y Sistemas Distribuidos / Maestria en Ingenieria de Sistemas y Computacion</a:t>
            </a:r>
            <a:endParaRPr lang="es-CO" dirty="0"/>
          </a:p>
        </p:txBody>
      </p:sp>
      <p:sp>
        <p:nvSpPr>
          <p:cNvPr id="12" name="11 Integrantes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s-CO"/>
              <a:t>Santiago Alejandro Jaimes Puerto, Nicolas Casas Ibarra</a:t>
            </a:r>
            <a:endParaRPr lang="es-CO"/>
          </a:p>
        </p:txBody>
      </p:sp>
      <p:sp>
        <p:nvSpPr>
          <p:cNvPr id="13" name="12 Correos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s-CO"/>
              <a:t>sa.jaimesp@uniandes.edu.co, ni.casas@uniandes.edu.co</a:t>
            </a:r>
            <a:endParaRPr lang="es-CO"/>
          </a:p>
        </p:txBody>
      </p:sp>
      <p:sp>
        <p:nvSpPr>
          <p:cNvPr id="14" name="13 Asesor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s-CO"/>
              <a:t>Asesor: Prof. Carlos Andres Lozano Garzon, PhD  (calozanog@uniandes.edu.co)</a:t>
            </a:r>
            <a:endParaRPr lang="es-CO"/>
          </a:p>
        </p:txBody>
      </p:sp>
      <p:sp>
        <p:nvSpPr>
          <p:cNvPr id="15" name="14 Introduccion contenido"/>
          <p:cNvSpPr>
            <a:spLocks noGrp="1"/>
          </p:cNvSpPr>
          <p:nvPr>
            <p:ph sz="quarter" idx="34"/>
          </p:nvPr>
        </p:nvSpPr>
        <p:spPr/>
        <p:txBody>
          <a:bodyPr>
            <a:normAutofit fontScale="92500" lnSpcReduction="10000"/>
          </a:bodyPr>
          <a:lstStyle/>
          <a:p>
            <a:r>
              <a:rPr sz="2800" b="1"/>
              <a:t>Tres brechas atacadas:</a:t>
            </a:r>
            <a:endParaRPr lang="es-CO"/>
          </a:p>
          <a:p>
            <a:r>
              <a:rPr sz="2800" b="1"/>
              <a:t>Viabilidad: </a:t>
            </a:r>
            <a:r>
              <a:rPr sz="2800" b="0"/>
              <a:t>modelos de alta precision (RF, SVM-RBF) no caben en MCUs.</a:t>
            </a:r>
          </a:p>
          <a:p>
            <a:r>
              <a:rPr sz="2800" b="1"/>
              <a:t>Privacidad: </a:t>
            </a:r>
            <a:r>
              <a:rPr sz="2800" b="0"/>
              <a:t>centralizar PCAPs es costoso y arriesgado.</a:t>
            </a:r>
          </a:p>
          <a:p>
            <a:r>
              <a:rPr sz="2800" b="1"/>
              <a:t>Seguridad: </a:t>
            </a:r>
            <a:r>
              <a:rPr sz="2800" b="0"/>
              <a:t>los pesos federados deben protegerse en transito.</a:t>
            </a:r>
          </a:p>
          <a:p>
            <a:r>
              <a:rPr sz="2800" b="0"/>
              <a:t>ASCON-128 (NIST 2023) frente a permutaciones ad-hoc vulnerables.</a:t>
            </a:r>
          </a:p>
        </p:txBody>
      </p:sp>
      <p:sp>
        <p:nvSpPr>
          <p:cNvPr id="16" name="15 Objetivos contenido"/>
          <p:cNvSpPr>
            <a:spLocks noGrp="1"/>
          </p:cNvSpPr>
          <p:nvPr>
            <p:ph sz="quarter" idx="35"/>
          </p:nvPr>
        </p:nvSpPr>
        <p:spPr/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-"/>
            </a:pPr>
            <a:r>
              <a:rPr sz="2800" b="1"/>
              <a:t>General: </a:t>
            </a:r>
            <a:r>
              <a:rPr sz="2800" b="0"/>
              <a:t>Disenar, implementar y evaluar un IDS IoT/MQTT con TinyML, HFL y ASCON-128.</a:t>
            </a:r>
          </a:p>
          <a:p>
            <a:r>
              <a:rPr sz="2800" b="1"/>
              <a:t>Especificos:</a:t>
            </a:r>
          </a:p>
          <a:p>
            <a:r>
              <a:rPr sz="2800" b="0"/>
              <a:t>- Pipeline de 13 features de flujo, 3 clases (normal, mqtt_bruteforce, scan_A).</a:t>
            </a:r>
          </a:p>
          <a:p>
            <a:r>
              <a:rPr sz="2800" b="0"/>
              <a:t>- Comparar MLP, CNN-1D, Residual MLP y Tiny Transformer.</a:t>
            </a:r>
          </a:p>
          <a:p>
            <a:r>
              <a:rPr sz="2800" b="0"/>
              <a:t>- Implementar HFL bidireccional con/sin ASCON-128.</a:t>
            </a:r>
          </a:p>
          <a:p>
            <a:r>
              <a:rPr sz="2800" b="0"/>
              <a:t>- Evaluar variantes RN, CNN-1D y modo FOG (lider/peer) en hardware.</a:t>
            </a:r>
          </a:p>
        </p:txBody>
      </p:sp>
      <p:sp>
        <p:nvSpPr>
          <p:cNvPr id="17" name="16 Diseno contenido"/>
          <p:cNvSpPr>
            <a:spLocks noGrp="1"/>
          </p:cNvSpPr>
          <p:nvPr>
            <p:ph sz="quarter" idx="36"/>
          </p:nvPr>
        </p:nvSpPr>
        <p:spPr>
          <a:xfrm>
            <a:off x="13393663" y="12313568"/>
            <a:ext cx="11520000" cy="2620859"/>
          </a:xfrm>
        </p:spPr>
        <p:txBody>
          <a:bodyPr>
            <a:normAutofit fontScale="90000" lnSpcReduction="10000"/>
          </a:bodyPr>
          <a:lstStyle/>
          <a:p>
            <a:r>
              <a:rPr sz="2800" b="1"/>
              <a:t>Arquitectura Edge / Fog / Cloud:</a:t>
            </a:r>
          </a:p>
          <a:p>
            <a:r>
              <a:rPr sz="2800" b="1"/>
              <a:t>Edge: </a:t>
            </a:r>
            <a:r>
              <a:rPr sz="2800" b="0"/>
              <a:t>ESP32-S3 -&gt; features + inferencia TinyML.</a:t>
            </a:r>
          </a:p>
          <a:p>
            <a:r>
              <a:rPr sz="2800" b="1"/>
              <a:t>Fog: </a:t>
            </a:r>
            <a:r>
              <a:rPr sz="2800" b="0"/>
              <a:t>RPi 4 -&gt; broker MQTT + entrenamiento local.</a:t>
            </a:r>
          </a:p>
          <a:p>
            <a:r>
              <a:rPr sz="2800" b="1"/>
              <a:t>Cloud: </a:t>
            </a:r>
            <a:r>
              <a:rPr sz="2800" b="0"/>
              <a:t>PC -&gt; FastAPI + FedAvg ponderado.</a:t>
            </a:r>
          </a:p>
          <a:p>
            <a:r>
              <a:rPr sz="2800" b="1"/>
              <a:t>FOG: </a:t>
            </a:r>
            <a:r>
              <a:rPr sz="2800" b="0"/>
              <a:t>leader+peer con fog/weights y fog/global_model.</a:t>
            </a:r>
          </a:p>
          <a:p>
            <a:r>
              <a:rPr sz="2800" b="0"/>
              <a:t>ASCON-128 sobre los 4 canales (envelope JSON).</a:t>
            </a:r>
          </a:p>
        </p:txBody>
      </p:sp>
      <p:sp>
        <p:nvSpPr>
          <p:cNvPr id="18" name="17 Metodologia contenido"/>
          <p:cNvSpPr>
            <a:spLocks noGrp="1"/>
          </p:cNvSpPr>
          <p:nvPr>
            <p:ph sz="quarter" idx="37"/>
          </p:nvPr>
        </p:nvSpPr>
        <p:spPr>
          <a:xfrm>
            <a:off x="648247" y="24482970"/>
            <a:ext cx="11520000" cy="3863199"/>
          </a:xfrm>
        </p:spPr>
        <p:txBody>
          <a:bodyPr>
            <a:normAutofit fontScale="92500" lnSpcReduction="10000"/>
          </a:bodyPr>
          <a:lstStyle/>
          <a:p>
            <a:r>
              <a:rPr sz="2800" b="1"/>
              <a:t>Protocolo HFL bidireccional en 3 fases:</a:t>
            </a:r>
            <a:endParaRPr lang="es-CO"/>
          </a:p>
          <a:p>
            <a:r>
              <a:rPr sz="2800" b="1"/>
              <a:t>1) Top-Down: </a:t>
            </a:r>
            <a:r>
              <a:rPr sz="2800" b="0"/>
              <a:t>PC -&gt; RPi -&gt; ESP32 (modelo global).</a:t>
            </a:r>
          </a:p>
          <a:p>
            <a:r>
              <a:rPr sz="2800" b="1"/>
              <a:t>2) Local: </a:t>
            </a:r>
            <a:r>
              <a:rPr sz="2800" b="0"/>
              <a:t>ESP32 publica features, RPi etiqueta y entrena.</a:t>
            </a:r>
          </a:p>
          <a:p>
            <a:r>
              <a:rPr sz="2800" b="1"/>
              <a:t>3) Bottom-Up: </a:t>
            </a:r>
            <a:r>
              <a:rPr sz="2800" b="0"/>
              <a:t>RPi reporta pesos, PC ejecuta FedAvg.</a:t>
            </a:r>
          </a:p>
          <a:p>
            <a:r>
              <a:rPr sz="2800" b="0"/>
              <a:t>Buffer N=30 muestras, 5 epocas, batch 8, Adam (lr=0.005).</a:t>
            </a:r>
          </a:p>
          <a:p>
            <a:r>
              <a:rPr sz="2800" b="0"/>
              <a:t>Modelo de amenazas explicito: confidencialidad, integridad y replay.</a:t>
            </a:r>
          </a:p>
        </p:txBody>
      </p:sp>
      <p:sp>
        <p:nvSpPr>
          <p:cNvPr id="19" name="18 Resultados contenido"/>
          <p:cNvSpPr>
            <a:spLocks noGrp="1"/>
          </p:cNvSpPr>
          <p:nvPr>
            <p:ph sz="quarter" idx="38"/>
          </p:nvPr>
        </p:nvSpPr>
        <p:spPr>
          <a:xfrm>
            <a:off x="13393663" y="20594488"/>
            <a:ext cx="11520000" cy="3340939"/>
          </a:xfrm>
        </p:spPr>
        <p:txBody>
          <a:bodyPr>
            <a:normAutofit fontScale="85000" lnSpcReduction="15000"/>
          </a:bodyPr>
          <a:lstStyle/>
          <a:p>
            <a:pPr marL="285750" indent="-285750">
              <a:buFont typeface="Arial" panose="020B0604020202020204" pitchFamily="34" charset="0"/>
              <a:buChar char="-"/>
            </a:pPr>
            <a:r>
              <a:rPr sz="2800" b="1"/>
              <a:t>Hallazgos clave (58 intentos sobre hardware):</a:t>
            </a:r>
          </a:p>
          <a:p>
            <a:r>
              <a:rPr sz="2800" b="1"/>
              <a:t>CNN_ASCON_FOG: </a:t>
            </a:r>
            <a:r>
              <a:rPr sz="2800" b="0"/>
              <a:t>acc 0.975, loss 0.091 (mejor variante).</a:t>
            </a:r>
          </a:p>
          <a:p>
            <a:r>
              <a:rPr sz="2800" b="0"/>
              <a:t>ASCON mejora la accuracy +3.2 pts vs PLAIN.</a:t>
            </a:r>
          </a:p>
          <a:p>
            <a:r>
              <a:rPr sz="2800" b="0"/>
              <a:t>Overhead temporal ASCON: 0.10-0.27% del ciclo FL.</a:t>
            </a:r>
          </a:p>
          <a:p>
            <a:r>
              <a:rPr sz="2800" b="0"/>
              <a:t>Overhead de tamano: +48% por mensaje (~1.07 KB).</a:t>
            </a:r>
          </a:p>
          <a:p>
            <a:r>
              <a:rPr sz="2800" b="0"/>
              <a:t>Convergencia &gt;0.90 en 5-10 rondas.</a:t>
            </a:r>
          </a:p>
        </p:txBody>
      </p:sp>
      <p:sp>
        <p:nvSpPr>
          <p:cNvPr id="20" name="19 Conclusiones contenido"/>
          <p:cNvSpPr>
            <a:spLocks noGrp="1"/>
          </p:cNvSpPr>
          <p:nvPr>
            <p:ph sz="quarter" idx="39"/>
          </p:nvPr>
        </p:nvSpPr>
        <p:spPr/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-"/>
            </a:pPr>
            <a:r>
              <a:rPr sz="2800" b="1"/>
              <a:t>TinyML viable: </a:t>
            </a:r>
            <a:r>
              <a:rPr sz="2800" b="0"/>
              <a:t>0.93-0.97 acc en ESP32-S3.</a:t>
            </a:r>
          </a:p>
          <a:p>
            <a:r>
              <a:rPr sz="2800" b="0"/>
              <a:t>HFL reduce &gt;99.99% el intercambio de datos sensibles.</a:t>
            </a:r>
          </a:p>
          <a:p>
            <a:r>
              <a:rPr sz="2800" b="0"/>
              <a:t>ASCON-128 mejora la accuracy y filtra mensajes corruptos.</a:t>
            </a:r>
          </a:p>
          <a:p>
            <a:r>
              <a:rPr sz="2800" b="0"/>
              <a:t>FOG con ASCON gana; FOG sin ASCON degrada RN (-3 pts).</a:t>
            </a:r>
          </a:p>
          <a:p>
            <a:r>
              <a:rPr sz="2800" b="1"/>
              <a:t>Trabajo futuro: </a:t>
            </a:r>
            <a:r>
              <a:rPr sz="2800" b="0"/>
              <a:t>robustez bizantina, cuantizacion INT8, datasets reales.</a:t>
            </a:r>
          </a:p>
        </p:txBody>
      </p:sp>
      <p:pic>
        <p:nvPicPr>
          <p:cNvPr id="21" name="Picture 20" descr="hfl_v7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18561" y="15117307"/>
            <a:ext cx="5670204" cy="3657600"/>
          </a:xfrm>
          <a:prstGeom prst="rect">
            <a:avLst/>
          </a:prstGeom>
        </p:spPr>
      </p:pic>
      <p:pic>
        <p:nvPicPr>
          <p:cNvPr id="22" name="Picture 21" descr="hfl_v7_bidirectional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433" y="28529049"/>
            <a:ext cx="7015627" cy="5943600"/>
          </a:xfrm>
          <a:prstGeom prst="rect">
            <a:avLst/>
          </a:prstGeom>
        </p:spPr>
      </p:pic>
      <p:pic>
        <p:nvPicPr>
          <p:cNvPr id="23" name="Picture 22" descr="global_accuracy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16418" y="24118307"/>
            <a:ext cx="9274489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91945"/>
      </p:ext>
    </p:extLst>
  </p:cSld>
  <p:clrMapOvr>
    <a:masterClrMapping/>
  </p:clrMapOvr>
</p:sld>
</file>

<file path=ppt/theme/theme1.xml><?xml version="1.0" encoding="utf-8"?>
<a:theme xmlns:a="http://schemas.openxmlformats.org/drawingml/2006/main" name="FormatoPoster_ISI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stersInvestigacion" id="{D959789F-7C6C-C840-A820-9D76BA96E514}" vid="{DE1612A0-BF95-BF4E-B9AF-E78A0732F9A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0</Words>
  <Application>Microsoft Macintosh PowerPoint</Application>
  <PresentationFormat>Custom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Calibri</vt:lpstr>
      <vt:lpstr>Arial</vt:lpstr>
      <vt:lpstr>FormatoPoster_ISIS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Mario Eduardo Sanchez Puccini</dc:creator>
  <cp:lastModifiedBy>Mario Eduardo Sanchez Puccini</cp:lastModifiedBy>
  <cp:revision>4</cp:revision>
  <dcterms:created xsi:type="dcterms:W3CDTF">2016-02-24T12:38:22Z</dcterms:created>
  <dcterms:modified xsi:type="dcterms:W3CDTF">2016-02-24T12:45:05Z</dcterms:modified>
</cp:coreProperties>
</file>