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6"/>
  </p:handoutMasterIdLst>
  <p:sldIdLst>
    <p:sldId id="256" r:id="rId2"/>
  </p:sldIdLst>
  <p:sldSz cx="25203150" cy="36004500"/>
  <p:notesSz cx="6858000" cy="9144000"/>
  <p:defaultTextStyle>
    <a:defPPr>
      <a:defRPr lang="es-CO"/>
    </a:defPPr>
    <a:lvl1pPr marL="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1pPr>
    <a:lvl2pPr marL="174879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2pPr>
    <a:lvl3pPr marL="349758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3pPr>
    <a:lvl4pPr marL="524637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4pPr>
    <a:lvl5pPr marL="699516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5pPr>
    <a:lvl6pPr marL="874395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6pPr>
    <a:lvl7pPr marL="1049274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7pPr>
    <a:lvl8pPr marL="1224153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8pPr>
    <a:lvl9pPr marL="1399032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0">
          <p15:clr>
            <a:srgbClr val="A4A3A4"/>
          </p15:clr>
        </p15:guide>
        <p15:guide id="2" pos="793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2D9"/>
    <a:srgbClr val="DBC965"/>
    <a:srgbClr val="295688"/>
    <a:srgbClr val="CC6634"/>
    <a:srgbClr val="668C46"/>
    <a:srgbClr val="663366"/>
    <a:srgbClr val="E66400"/>
    <a:srgbClr val="003399"/>
    <a:srgbClr val="915000"/>
    <a:srgbClr val="0066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893"/>
    <p:restoredTop sz="94604"/>
  </p:normalViewPr>
  <p:slideViewPr>
    <p:cSldViewPr>
      <p:cViewPr>
        <p:scale>
          <a:sx n="60" d="100"/>
          <a:sy n="60" d="100"/>
        </p:scale>
        <p:origin x="400" y="-5536"/>
      </p:cViewPr>
      <p:guideLst>
        <p:guide orient="horz" pos="11340"/>
        <p:guide pos="7938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8" d="100"/>
          <a:sy n="88" d="100"/>
        </p:scale>
        <p:origin x="-3858" y="-12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handoutMasters/_rels/handout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0ABEAF-95F9-44D9-8220-B5EB390C6BFF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CB9EF3-57EF-49F1-93E1-F89EDA84B7DC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644490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?><Relationships xmlns="http://schemas.openxmlformats.org/package/2006/relationships"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0.xml.rels><?xml version="1.0" encoding="UTF-8"?><Relationships xmlns="http://schemas.openxmlformats.org/package/2006/relationships"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1.xml.rels><?xml version="1.0" encoding="UTF-8"?><Relationships xmlns="http://schemas.openxmlformats.org/package/2006/relationships"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12.xml.rels><?xml version="1.0" encoding="UTF-8"?><Relationships xmlns="http://schemas.openxmlformats.org/package/2006/relationships"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/Relationships>
</file>

<file path=ppt/slideLayouts/_rels/slideLayout13.xml.rels><?xml version="1.0" encoding="UTF-8"?><Relationships xmlns="http://schemas.openxmlformats.org/package/2006/relationships"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/Relationships>
</file>

<file path=ppt/slideLayouts/_rels/slideLayout14.xml.rels><?xml version="1.0" encoding="UTF-8"?><Relationships xmlns="http://schemas.openxmlformats.org/package/2006/relationships"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/Relationships>
</file>

<file path=ppt/slideLayouts/_rels/slideLayout15.xml.rels><?xml version="1.0" encoding="UTF-8"?><Relationships xmlns="http://schemas.openxmlformats.org/package/2006/relationships"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0.png"/></Relationships>
</file>

<file path=ppt/slideLayouts/_rels/slideLayout16.xml.rels><?xml version="1.0" encoding="UTF-8"?><Relationships xmlns="http://schemas.openxmlformats.org/package/2006/relationships"><Relationship Id="rId3" Type="http://schemas.openxmlformats.org/officeDocument/2006/relationships/image" Target="../media/image57.png"/><Relationship Id="rId4" Type="http://schemas.openxmlformats.org/officeDocument/2006/relationships/image" Target="../media/image52.png"/><Relationship Id="rId5" Type="http://schemas.openxmlformats.org/officeDocument/2006/relationships/image" Target="../media/image54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Relationship Id="rId8" Type="http://schemas.openxmlformats.org/officeDocument/2006/relationships/image" Target="../media/image58.pn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0.png"/></Relationships>
</file>

<file path=ppt/slideLayouts/_rels/slideLayout1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1890236" y="11184739"/>
            <a:ext cx="21422678" cy="771763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3780473" y="20402552"/>
            <a:ext cx="17642205" cy="92011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7487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4975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52463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6995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87439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04927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22415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399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6283410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2156151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990876" y="23136226"/>
            <a:ext cx="21422678" cy="7150894"/>
          </a:xfrm>
        </p:spPr>
        <p:txBody>
          <a:bodyPr anchor="t"/>
          <a:lstStyle>
            <a:lvl1pPr algn="l">
              <a:defRPr sz="15300" b="1" cap="all"/>
            </a:lvl1pPr>
          </a:lstStyle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990876" y="15260249"/>
            <a:ext cx="21422678" cy="7875980"/>
          </a:xfrm>
        </p:spPr>
        <p:txBody>
          <a:bodyPr anchor="b"/>
          <a:lstStyle>
            <a:lvl1pPr marL="0" indent="0">
              <a:buNone/>
              <a:defRPr sz="7700">
                <a:solidFill>
                  <a:schemeClr val="tx1">
                    <a:tint val="75000"/>
                  </a:schemeClr>
                </a:solidFill>
              </a:defRPr>
            </a:lvl1pPr>
            <a:lvl2pPr marL="1748790" indent="0">
              <a:buNone/>
              <a:defRPr sz="6900">
                <a:solidFill>
                  <a:schemeClr val="tx1">
                    <a:tint val="75000"/>
                  </a:schemeClr>
                </a:solidFill>
              </a:defRPr>
            </a:lvl2pPr>
            <a:lvl3pPr marL="3497580" indent="0">
              <a:buNone/>
              <a:defRPr sz="6100">
                <a:solidFill>
                  <a:schemeClr val="tx1">
                    <a:tint val="75000"/>
                  </a:schemeClr>
                </a:solidFill>
              </a:defRPr>
            </a:lvl3pPr>
            <a:lvl4pPr marL="524637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4pPr>
            <a:lvl5pPr marL="699516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5pPr>
            <a:lvl6pPr marL="874395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6pPr>
            <a:lvl7pPr marL="1049274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7pPr>
            <a:lvl8pPr marL="1224153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8pPr>
            <a:lvl9pPr marL="1399032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677935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1260160" y="8401058"/>
            <a:ext cx="11131391" cy="23761304"/>
          </a:xfrm>
        </p:spPr>
        <p:txBody>
          <a:bodyPr/>
          <a:lstStyle>
            <a:lvl1pPr>
              <a:defRPr sz="10700"/>
            </a:lvl1pPr>
            <a:lvl2pPr>
              <a:defRPr sz="9200"/>
            </a:lvl2pPr>
            <a:lvl3pPr>
              <a:defRPr sz="7700"/>
            </a:lvl3pPr>
            <a:lvl4pPr>
              <a:defRPr sz="6900"/>
            </a:lvl4pPr>
            <a:lvl5pPr>
              <a:defRPr sz="6900"/>
            </a:lvl5pPr>
            <a:lvl6pPr>
              <a:defRPr sz="6900"/>
            </a:lvl6pPr>
            <a:lvl7pPr>
              <a:defRPr sz="6900"/>
            </a:lvl7pPr>
            <a:lvl8pPr>
              <a:defRPr sz="6900"/>
            </a:lvl8pPr>
            <a:lvl9pPr>
              <a:defRPr sz="69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12811603" y="8401058"/>
            <a:ext cx="11131391" cy="23761304"/>
          </a:xfrm>
        </p:spPr>
        <p:txBody>
          <a:bodyPr/>
          <a:lstStyle>
            <a:lvl1pPr>
              <a:defRPr sz="10700"/>
            </a:lvl1pPr>
            <a:lvl2pPr>
              <a:defRPr sz="9200"/>
            </a:lvl2pPr>
            <a:lvl3pPr>
              <a:defRPr sz="7700"/>
            </a:lvl3pPr>
            <a:lvl4pPr>
              <a:defRPr sz="6900"/>
            </a:lvl4pPr>
            <a:lvl5pPr>
              <a:defRPr sz="6900"/>
            </a:lvl5pPr>
            <a:lvl6pPr>
              <a:defRPr sz="6900"/>
            </a:lvl6pPr>
            <a:lvl7pPr>
              <a:defRPr sz="6900"/>
            </a:lvl7pPr>
            <a:lvl8pPr>
              <a:defRPr sz="6900"/>
            </a:lvl8pPr>
            <a:lvl9pPr>
              <a:defRPr sz="69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s-CO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3862628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260159" y="8059343"/>
            <a:ext cx="11135768" cy="3358751"/>
          </a:xfrm>
        </p:spPr>
        <p:txBody>
          <a:bodyPr anchor="b"/>
          <a:lstStyle>
            <a:lvl1pPr marL="0" indent="0">
              <a:buNone/>
              <a:defRPr sz="9200" b="1"/>
            </a:lvl1pPr>
            <a:lvl2pPr marL="1748790" indent="0">
              <a:buNone/>
              <a:defRPr sz="7700" b="1"/>
            </a:lvl2pPr>
            <a:lvl3pPr marL="3497580" indent="0">
              <a:buNone/>
              <a:defRPr sz="6900" b="1"/>
            </a:lvl3pPr>
            <a:lvl4pPr marL="5246370" indent="0">
              <a:buNone/>
              <a:defRPr sz="6100" b="1"/>
            </a:lvl4pPr>
            <a:lvl5pPr marL="6995160" indent="0">
              <a:buNone/>
              <a:defRPr sz="6100" b="1"/>
            </a:lvl5pPr>
            <a:lvl6pPr marL="8743950" indent="0">
              <a:buNone/>
              <a:defRPr sz="6100" b="1"/>
            </a:lvl6pPr>
            <a:lvl7pPr marL="10492740" indent="0">
              <a:buNone/>
              <a:defRPr sz="6100" b="1"/>
            </a:lvl7pPr>
            <a:lvl8pPr marL="12241530" indent="0">
              <a:buNone/>
              <a:defRPr sz="6100" b="1"/>
            </a:lvl8pPr>
            <a:lvl9pPr marL="13990320" indent="0">
              <a:buNone/>
              <a:defRPr sz="61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1260159" y="11418095"/>
            <a:ext cx="11135768" cy="20744261"/>
          </a:xfrm>
        </p:spPr>
        <p:txBody>
          <a:bodyPr/>
          <a:lstStyle>
            <a:lvl1pPr>
              <a:defRPr sz="9200"/>
            </a:lvl1pPr>
            <a:lvl2pPr>
              <a:defRPr sz="7700"/>
            </a:lvl2pPr>
            <a:lvl3pPr>
              <a:defRPr sz="6900"/>
            </a:lvl3pPr>
            <a:lvl4pPr>
              <a:defRPr sz="6100"/>
            </a:lvl4pPr>
            <a:lvl5pPr>
              <a:defRPr sz="6100"/>
            </a:lvl5pPr>
            <a:lvl6pPr>
              <a:defRPr sz="6100"/>
            </a:lvl6pPr>
            <a:lvl7pPr>
              <a:defRPr sz="6100"/>
            </a:lvl7pPr>
            <a:lvl8pPr>
              <a:defRPr sz="6100"/>
            </a:lvl8pPr>
            <a:lvl9pPr>
              <a:defRPr sz="6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12802855" y="8059343"/>
            <a:ext cx="11140141" cy="3358751"/>
          </a:xfrm>
        </p:spPr>
        <p:txBody>
          <a:bodyPr anchor="b"/>
          <a:lstStyle>
            <a:lvl1pPr marL="0" indent="0">
              <a:buNone/>
              <a:defRPr sz="9200" b="1"/>
            </a:lvl1pPr>
            <a:lvl2pPr marL="1748790" indent="0">
              <a:buNone/>
              <a:defRPr sz="7700" b="1"/>
            </a:lvl2pPr>
            <a:lvl3pPr marL="3497580" indent="0">
              <a:buNone/>
              <a:defRPr sz="6900" b="1"/>
            </a:lvl3pPr>
            <a:lvl4pPr marL="5246370" indent="0">
              <a:buNone/>
              <a:defRPr sz="6100" b="1"/>
            </a:lvl4pPr>
            <a:lvl5pPr marL="6995160" indent="0">
              <a:buNone/>
              <a:defRPr sz="6100" b="1"/>
            </a:lvl5pPr>
            <a:lvl6pPr marL="8743950" indent="0">
              <a:buNone/>
              <a:defRPr sz="6100" b="1"/>
            </a:lvl6pPr>
            <a:lvl7pPr marL="10492740" indent="0">
              <a:buNone/>
              <a:defRPr sz="6100" b="1"/>
            </a:lvl7pPr>
            <a:lvl8pPr marL="12241530" indent="0">
              <a:buNone/>
              <a:defRPr sz="6100" b="1"/>
            </a:lvl8pPr>
            <a:lvl9pPr marL="13990320" indent="0">
              <a:buNone/>
              <a:defRPr sz="61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12802855" y="11418095"/>
            <a:ext cx="11140141" cy="20744261"/>
          </a:xfrm>
        </p:spPr>
        <p:txBody>
          <a:bodyPr/>
          <a:lstStyle>
            <a:lvl1pPr>
              <a:defRPr sz="9200"/>
            </a:lvl1pPr>
            <a:lvl2pPr>
              <a:defRPr sz="7700"/>
            </a:lvl2pPr>
            <a:lvl3pPr>
              <a:defRPr sz="6900"/>
            </a:lvl3pPr>
            <a:lvl4pPr>
              <a:defRPr sz="6100"/>
            </a:lvl4pPr>
            <a:lvl5pPr>
              <a:defRPr sz="6100"/>
            </a:lvl5pPr>
            <a:lvl6pPr>
              <a:defRPr sz="6100"/>
            </a:lvl6pPr>
            <a:lvl7pPr>
              <a:defRPr sz="6100"/>
            </a:lvl7pPr>
            <a:lvl8pPr>
              <a:defRPr sz="6100"/>
            </a:lvl8pPr>
            <a:lvl9pPr>
              <a:defRPr sz="6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s-CO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040656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555074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1202620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 smtClean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Resumen</a:t>
            </a:r>
            <a:endParaRPr lang="es-CO" dirty="0"/>
          </a:p>
        </p:txBody>
      </p:sp>
      <p:pic>
        <p:nvPicPr>
          <p:cNvPr id="3075" name="Picture 3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3812" y="-71757"/>
            <a:ext cx="25269826" cy="25479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5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-23814" y="2448521"/>
            <a:ext cx="12672000" cy="720000"/>
          </a:xfrm>
          <a:solidFill>
            <a:srgbClr val="EC7327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 xml:space="preserve">COMIT – Sub </a:t>
            </a:r>
            <a:r>
              <a:rPr lang="es-ES" dirty="0" smtClean="0"/>
              <a:t>área / Programa estudiante</a:t>
            </a:r>
            <a:endParaRPr lang="es-ES" dirty="0" smtClean="0"/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25579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25579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EC7327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2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46013" y="2448521"/>
            <a:ext cx="12600000" cy="720000"/>
          </a:xfrm>
          <a:solidFill>
            <a:srgbClr val="EC7327">
              <a:alpha val="25098"/>
            </a:srgbClr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Asesor: &lt;asesor&gt; (&lt;correo asesor&gt;@uniandes.edu.co)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http://</a:t>
            </a:r>
            <a:r>
              <a:rPr lang="es-CO" sz="2400" b="1" dirty="0" smtClean="0"/>
              <a:t>sistemas.uniandes.edu.co</a:t>
            </a:r>
            <a:endParaRPr lang="es-CO" sz="2400" b="1" dirty="0"/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pic>
        <p:nvPicPr>
          <p:cNvPr id="8" name="7 Imagen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11233" y="35156826"/>
            <a:ext cx="720000" cy="720000"/>
          </a:xfrm>
          <a:prstGeom prst="rect">
            <a:avLst/>
          </a:prstGeom>
        </p:spPr>
      </p:pic>
      <p:pic>
        <p:nvPicPr>
          <p:cNvPr id="9" name="8 Imagen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93184" y="35104130"/>
            <a:ext cx="720000" cy="720000"/>
          </a:xfrm>
          <a:prstGeom prst="rect">
            <a:avLst/>
          </a:prstGeom>
        </p:spPr>
      </p:pic>
      <p:pic>
        <p:nvPicPr>
          <p:cNvPr id="10" name="9 Imagen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2903" y="35140153"/>
            <a:ext cx="720000" cy="720000"/>
          </a:xfrm>
          <a:prstGeom prst="rect">
            <a:avLst/>
          </a:prstGeom>
        </p:spPr>
      </p:pic>
      <p:sp>
        <p:nvSpPr>
          <p:cNvPr id="14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>Haga clic para ingresar la introducción</a:t>
            </a:r>
            <a:r>
              <a:rPr lang="es-CO" dirty="0" smtClean="0"/>
              <a:t xml:space="preserve"> del proyecto</a:t>
            </a:r>
            <a:endParaRPr lang="es-ES" dirty="0" smtClean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objetivos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el diseño e implementación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 metodología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resultados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las conclusiones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</p:spTree>
    <p:extLst>
      <p:ext uri="{BB962C8B-B14F-4D97-AF65-F5344CB8AC3E}">
        <p14:creationId xmlns:p14="http://schemas.microsoft.com/office/powerpoint/2010/main" val="337145913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S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 smtClean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-23814" y="2448521"/>
            <a:ext cx="12672000" cy="720000"/>
          </a:xfrm>
          <a:solidFill>
            <a:srgbClr val="24AAE1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 smtClean="0"/>
              <a:t>TICSw</a:t>
            </a:r>
            <a:r>
              <a:rPr lang="es-ES" dirty="0" smtClean="0"/>
              <a:t xml:space="preserve"> – Sub </a:t>
            </a:r>
            <a:r>
              <a:rPr lang="es-ES" dirty="0" smtClean="0"/>
              <a:t>área / Programa estudiante</a:t>
            </a:r>
            <a:endParaRPr lang="es-ES" dirty="0" smtClean="0"/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E1244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E1244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24AAE1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mtClean="0"/>
              <a:t xml:space="preserve"> </a:t>
            </a:r>
            <a:endParaRPr lang="es-CO"/>
          </a:p>
        </p:txBody>
      </p:sp>
      <p:sp>
        <p:nvSpPr>
          <p:cNvPr id="32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46013" y="2448521"/>
            <a:ext cx="12600000" cy="720000"/>
          </a:xfrm>
          <a:solidFill>
            <a:srgbClr val="24AAE1">
              <a:alpha val="25098"/>
            </a:srgbClr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Asesor: &lt;asesor&gt; (&lt;correo asesor&gt;@uniandes.edu.co)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http://</a:t>
            </a:r>
            <a:r>
              <a:rPr lang="es-CO" sz="2400" b="1" dirty="0" smtClean="0"/>
              <a:t>sistemas.uniandes.edu.co</a:t>
            </a:r>
            <a:endParaRPr lang="es-CO" sz="2400" b="1" dirty="0"/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1"/>
            <a:ext cx="25200000" cy="2538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4 Imagen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2984" y="35140234"/>
            <a:ext cx="720000" cy="720000"/>
          </a:xfrm>
          <a:prstGeom prst="rect">
            <a:avLst/>
          </a:prstGeom>
        </p:spPr>
      </p:pic>
      <p:pic>
        <p:nvPicPr>
          <p:cNvPr id="7" name="6 Imagen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3583" y="35104130"/>
            <a:ext cx="720000" cy="720000"/>
          </a:xfrm>
          <a:prstGeom prst="rect">
            <a:avLst/>
          </a:prstGeom>
        </p:spPr>
      </p:pic>
      <p:pic>
        <p:nvPicPr>
          <p:cNvPr id="11" name="10 Imagen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65871" y="35201896"/>
            <a:ext cx="720000" cy="580646"/>
          </a:xfrm>
          <a:prstGeom prst="rect">
            <a:avLst/>
          </a:prstGeom>
        </p:spPr>
      </p:pic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>Haga clic para ingresar la introducción</a:t>
            </a:r>
            <a:r>
              <a:rPr lang="es-CO" dirty="0" smtClean="0"/>
              <a:t xml:space="preserve"> del proyecto</a:t>
            </a:r>
            <a:endParaRPr lang="es-ES" dirty="0" smtClean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objetivos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el diseño e implementación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 metodología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resultados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las conclusiones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</p:spTree>
    <p:extLst>
      <p:ext uri="{BB962C8B-B14F-4D97-AF65-F5344CB8AC3E}">
        <p14:creationId xmlns:p14="http://schemas.microsoft.com/office/powerpoint/2010/main" val="414682694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 smtClean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-23814" y="2448521"/>
            <a:ext cx="12672000" cy="720000"/>
          </a:xfrm>
          <a:solidFill>
            <a:srgbClr val="57AC46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IMAGINE / Programa estudiante</a:t>
            </a:r>
            <a:endParaRPr lang="es-ES" dirty="0" smtClean="0"/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9F417E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9F417E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57AC46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mtClean="0"/>
              <a:t xml:space="preserve"> </a:t>
            </a:r>
            <a:endParaRPr lang="es-CO"/>
          </a:p>
        </p:txBody>
      </p:sp>
      <p:sp>
        <p:nvSpPr>
          <p:cNvPr id="32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46013" y="2448521"/>
            <a:ext cx="12600000" cy="720000"/>
          </a:xfrm>
          <a:solidFill>
            <a:srgbClr val="57AC46">
              <a:alpha val="25098"/>
            </a:srgbClr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Asesor: &lt;asesor&gt; (&lt;correo asesor&gt;@uniandes.edu.co)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http://</a:t>
            </a:r>
            <a:r>
              <a:rPr lang="es-CO" sz="2400" b="1" dirty="0" smtClean="0"/>
              <a:t>sistemas.uniandes.edu.co</a:t>
            </a:r>
            <a:endParaRPr lang="es-CO" sz="2400" b="1" dirty="0"/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>Haga clic para ingresar la introducción</a:t>
            </a:r>
            <a:r>
              <a:rPr lang="es-CO" dirty="0" smtClean="0"/>
              <a:t xml:space="preserve"> del proyecto</a:t>
            </a:r>
            <a:endParaRPr lang="es-ES" dirty="0" smtClean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objetivos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el diseño e implementación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 metodología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resultados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las conclusiones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pic>
        <p:nvPicPr>
          <p:cNvPr id="8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" y="251"/>
            <a:ext cx="25282526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 descr="D:\Dropbox\Personales\Uniandes\Proyectos\Websis\iconos\svg\Redes\twitter_9F417E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5952" y="35209385"/>
            <a:ext cx="720000" cy="581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:\Dropbox\Personales\Uniandes\Proyectos\Websis\iconos\svg\Redes\web_9F417E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4015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D:\Dropbox\Personales\Uniandes\Proyectos\Websis\iconos\svg\Redes\facebook_9F417E.png"/>
          <p:cNvPicPr>
            <a:picLocks noChangeAspect="1" noChangeArrowheads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1438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36422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 smtClean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006772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 smtClean="0"/>
              <a:t>ARTIxxx</a:t>
            </a:r>
            <a:r>
              <a:rPr lang="es-ES" dirty="0" smtClean="0"/>
              <a:t xml:space="preserve"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BB7F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BB7F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006772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mtClean="0"/>
              <a:t xml:space="preserve"> </a:t>
            </a:r>
            <a:endParaRPr lang="es-CO"/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http://</a:t>
            </a:r>
            <a:r>
              <a:rPr lang="es-CO" sz="2400" b="1" dirty="0" smtClean="0"/>
              <a:t>sistemas.uniandes.edu.co</a:t>
            </a:r>
            <a:endParaRPr lang="es-CO" sz="2400" b="1" dirty="0"/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>Haga clic para ingresar la introducción</a:t>
            </a:r>
            <a:r>
              <a:rPr lang="es-CO" dirty="0" smtClean="0"/>
              <a:t xml:space="preserve"> del proyecto</a:t>
            </a:r>
            <a:endParaRPr lang="es-ES" dirty="0" smtClean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objetivos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el diseño e implementación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 metodología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resultados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las conclusiones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pic>
        <p:nvPicPr>
          <p:cNvPr id="2050" name="Picture 2" descr="D:\Dropbox\Personales\Uniandes\Proyectos\Websis\iconos\svg\Redes\twitter_BB7F00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5871" y="35224235"/>
            <a:ext cx="720000" cy="581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D:\Dropbox\Personales\Uniandes\Proyectos\Websis\iconos\svg\Redes\web_BB7F00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D:\Dropbox\Personales\Uniandes\Proyectos\Websis\iconos\svg\Redes\facebook_BB7F00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66294" y="3512580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50"/>
            <a:ext cx="25282526" cy="2500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9648045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 smtClean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006639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 smtClean="0"/>
              <a:t>MSINxxx</a:t>
            </a:r>
            <a:r>
              <a:rPr lang="es-ES" dirty="0" smtClean="0"/>
              <a:t xml:space="preserve"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9150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9150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006639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mtClean="0"/>
              <a:t xml:space="preserve"> </a:t>
            </a:r>
            <a:endParaRPr lang="es-CO"/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http://</a:t>
            </a:r>
            <a:r>
              <a:rPr lang="es-CO" sz="2400" b="1" dirty="0" smtClean="0"/>
              <a:t>sistemas.uniandes.edu.co</a:t>
            </a:r>
            <a:endParaRPr lang="es-CO" sz="2400" b="1" dirty="0"/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>Haga clic para ingresar la introducción</a:t>
            </a:r>
            <a:r>
              <a:rPr lang="es-CO" dirty="0" smtClean="0"/>
              <a:t xml:space="preserve"> del proyecto</a:t>
            </a:r>
            <a:endParaRPr lang="es-ES" dirty="0" smtClean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objetivos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el diseño e implementación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 metodología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resultados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las conclusiones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pic>
        <p:nvPicPr>
          <p:cNvPr id="4097" name="Picture 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282526" cy="2500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8" name="Picture 2" descr="D:\Dropbox\Personales\Uniandes\Proyectos\Websis\iconos\svg\Redes\web_915000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141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D:\Dropbox\Personales\Uniandes\Proyectos\Websis\iconos\svg\Redes\facebook_915000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1481" y="35155003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D:\Dropbox\Personales\Uniandes\Proyectos\Websis\iconos\svg\Redes\twitter_915000.png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8673" y="35224235"/>
            <a:ext cx="720000" cy="581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929506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 smtClean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003399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 smtClean="0"/>
              <a:t>MBITxxx</a:t>
            </a:r>
            <a:r>
              <a:rPr lang="es-ES" dirty="0" smtClean="0"/>
              <a:t xml:space="preserve"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E664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E664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003399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mtClean="0"/>
              <a:t xml:space="preserve"> </a:t>
            </a:r>
            <a:endParaRPr lang="es-CO"/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http://</a:t>
            </a:r>
            <a:r>
              <a:rPr lang="es-CO" sz="2400" b="1" dirty="0" smtClean="0"/>
              <a:t>sistemas.uniandes.edu.co</a:t>
            </a:r>
            <a:endParaRPr lang="es-CO" sz="2400" b="1" dirty="0"/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>Haga clic para ingresar la introducción</a:t>
            </a:r>
            <a:r>
              <a:rPr lang="es-CO" dirty="0" smtClean="0"/>
              <a:t xml:space="preserve"> del proyecto</a:t>
            </a:r>
            <a:endParaRPr lang="es-ES" dirty="0" smtClean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objetivos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el diseño e implementación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 metodología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resultados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las conclusiones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 descr="D:\Dropbox\Personales\Uniandes\Proyectos\Websis\iconos\svg\Redes\facebook_E66400.png"/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7057" y="351402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D:\Dropbox\Personales\Uniandes\Proyectos\Websis\iconos\svg\Redes\twitter_E66400.png"/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5951" y="35206688"/>
            <a:ext cx="720000" cy="58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 descr="D:\Dropbox\Personales\Uniandes\Proyectos\Websis\iconos\svg\Redes\web_E66400.png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218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635645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 smtClean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663366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 smtClean="0"/>
              <a:t>MISOxxx</a:t>
            </a:r>
            <a:r>
              <a:rPr lang="es-ES" dirty="0" smtClean="0"/>
              <a:t xml:space="preserve"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668C46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668C46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663366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mtClean="0"/>
              <a:t xml:space="preserve"> </a:t>
            </a:r>
            <a:endParaRPr lang="es-CO"/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http://</a:t>
            </a:r>
            <a:r>
              <a:rPr lang="es-CO" sz="2400" b="1" dirty="0" smtClean="0"/>
              <a:t>sistemas.uniandes.edu.co</a:t>
            </a:r>
            <a:endParaRPr lang="es-CO" sz="2400" b="1" dirty="0"/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>Haga clic para ingresar la introducción</a:t>
            </a:r>
            <a:r>
              <a:rPr lang="es-CO" dirty="0" smtClean="0"/>
              <a:t xml:space="preserve"> del proyecto</a:t>
            </a:r>
            <a:endParaRPr lang="es-ES" dirty="0" smtClean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objetivos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el diseño e implementación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 metodología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resultados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las conclusiones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pic>
        <p:nvPicPr>
          <p:cNvPr id="3073" name="Picture 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4" name="Picture 2" descr="D:\Dropbox\Personales\Uniandes\Proyectos\Websis\iconos\svg\Redes\web_668c46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9854" y="35084033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5" name="Picture 3" descr="D:\Dropbox\Personales\Uniandes\Proyectos\Websis\iconos\svg\Redes\facebook_668c46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53503" y="35140233"/>
            <a:ext cx="720000" cy="720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D:\Dropbox\Personales\Uniandes\Proyectos\Websis\iconos\svg\Redes\twitter_668c46.png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37959" y="35212162"/>
            <a:ext cx="720000" cy="58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516598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 smtClean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4" y="2448520"/>
            <a:ext cx="25235825" cy="720081"/>
          </a:xfrm>
          <a:solidFill>
            <a:srgbClr val="CC6634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 smtClean="0"/>
              <a:t>ISISxxx</a:t>
            </a:r>
            <a:r>
              <a:rPr lang="es-ES" dirty="0" smtClean="0"/>
              <a:t xml:space="preserve"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CC6634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mtClean="0"/>
              <a:t xml:space="preserve"> </a:t>
            </a:r>
            <a:endParaRPr lang="es-CO"/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http://</a:t>
            </a:r>
            <a:r>
              <a:rPr lang="es-CO" sz="2400" b="1" dirty="0" smtClean="0"/>
              <a:t>sistemas.uniandes.edu.co</a:t>
            </a:r>
            <a:endParaRPr lang="es-CO" sz="2400" b="1" dirty="0"/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>Haga clic para ingresar la introducción</a:t>
            </a:r>
            <a:r>
              <a:rPr lang="es-CO" dirty="0" smtClean="0"/>
              <a:t xml:space="preserve"> del proyecto</a:t>
            </a:r>
            <a:endParaRPr lang="es-ES" dirty="0" smtClean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objetivos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el diseño e implementación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 metodología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resultados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las conclusiones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pic>
        <p:nvPicPr>
          <p:cNvPr id="4097" name="Picture 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8" name="Picture 2" descr="D:\Dropbox\Personales\Uniandes\Proyectos\Websis\iconos\svg\Redes\twitter_295685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94522" y="35104130"/>
            <a:ext cx="891429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D:\Dropbox\Personales\Uniandes\Proyectos\Websis\iconos\svg\Redes\web_295685.png"/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402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D:\Dropbox\Personales\Uniandes\Proyectos\Websis\iconos\svg\Redes\facebook_295685.png"/>
          <p:cNvPicPr>
            <a:picLocks noChangeAspect="1" noChangeArrowheads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8149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262413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24/02/16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 smtClean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n-US" dirty="0" err="1" smtClean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 smtClean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4" y="2500313"/>
            <a:ext cx="12601321" cy="668288"/>
          </a:xfrm>
          <a:solidFill>
            <a:srgbClr val="DBC965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 smtClean="0"/>
              <a:t>Ingenier</a:t>
            </a:r>
            <a:r>
              <a:rPr lang="en-US" dirty="0" err="1" smtClean="0"/>
              <a:t>ía</a:t>
            </a:r>
            <a:r>
              <a:rPr lang="en-US" dirty="0" smtClean="0"/>
              <a:t xml:space="preserve"> de </a:t>
            </a:r>
            <a:r>
              <a:rPr lang="en-US" dirty="0" err="1" smtClean="0"/>
              <a:t>Sistemas</a:t>
            </a:r>
            <a:r>
              <a:rPr lang="en-US" dirty="0" smtClean="0"/>
              <a:t xml:space="preserve"> y </a:t>
            </a:r>
            <a:r>
              <a:rPr lang="en-US" dirty="0" err="1" smtClean="0"/>
              <a:t>Computación</a:t>
            </a:r>
            <a:endParaRPr lang="es-ES" dirty="0" smtClean="0"/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DBC965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mtClean="0"/>
              <a:t xml:space="preserve"> </a:t>
            </a:r>
            <a:endParaRPr lang="es-CO"/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http://</a:t>
            </a:r>
            <a:r>
              <a:rPr lang="es-CO" sz="2400" b="1" dirty="0" smtClean="0"/>
              <a:t>sistemas.uniandes.edu.co</a:t>
            </a:r>
            <a:endParaRPr lang="es-CO" sz="2400" b="1" dirty="0"/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 smtClean="0"/>
              <a:t>/</a:t>
            </a:r>
            <a:r>
              <a:rPr lang="es-CO" sz="2400" b="1" dirty="0" err="1" smtClean="0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>Haga clic para ingresar la introducción</a:t>
            </a:r>
            <a:r>
              <a:rPr lang="es-CO" dirty="0" smtClean="0"/>
              <a:t xml:space="preserve"> del proyecto</a:t>
            </a:r>
            <a:endParaRPr lang="es-ES" dirty="0" smtClean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objetivos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el diseño e implementación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 metodología </a:t>
            </a:r>
            <a:r>
              <a:rPr lang="es-CO" dirty="0" smtClean="0"/>
              <a:t>del proyecto</a:t>
            </a:r>
            <a:endParaRPr lang="es-ES" dirty="0" smtClean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los resultados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 smtClean="0"/>
              <a:t xml:space="preserve">Haga clic para ingresar las conclusiones del </a:t>
            </a:r>
            <a:r>
              <a:rPr lang="es-CO" dirty="0" smtClean="0"/>
              <a:t>proyecto</a:t>
            </a:r>
            <a:endParaRPr lang="es-ES" dirty="0" smtClean="0"/>
          </a:p>
        </p:txBody>
      </p:sp>
      <p:pic>
        <p:nvPicPr>
          <p:cNvPr id="4098" name="Picture 2" descr="D:\Dropbox\Personales\Uniandes\Proyectos\Websis\iconos\svg\Redes\twitter_295685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94522" y="35104130"/>
            <a:ext cx="891429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D:\Dropbox\Personales\Uniandes\Proyectos\Websis\iconos\svg\Redes\web_295685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402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D:\Dropbox\Personales\Uniandes\Proyectos\Websis\iconos\svg\Redes\facebook_295685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8149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1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01495" y="2500313"/>
            <a:ext cx="12644518" cy="668208"/>
          </a:xfrm>
          <a:solidFill>
            <a:srgbClr val="F7F2D9"/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smtClean="0"/>
              <a:t>Asesor: &lt;asesor&gt; (&lt;correo asesor&gt;@uniandes.edu.co)</a:t>
            </a:r>
          </a:p>
        </p:txBody>
      </p:sp>
    </p:spTree>
    <p:extLst>
      <p:ext uri="{BB962C8B-B14F-4D97-AF65-F5344CB8AC3E}">
        <p14:creationId xmlns:p14="http://schemas.microsoft.com/office/powerpoint/2010/main" val="175987866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260159" y="1433514"/>
            <a:ext cx="8291664" cy="6100763"/>
          </a:xfrm>
        </p:spPr>
        <p:txBody>
          <a:bodyPr anchor="b"/>
          <a:lstStyle>
            <a:lvl1pPr algn="l">
              <a:defRPr sz="7700" b="1"/>
            </a:lvl1pPr>
          </a:lstStyle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9853733" y="1433516"/>
            <a:ext cx="14089263" cy="30728846"/>
          </a:xfrm>
        </p:spPr>
        <p:txBody>
          <a:bodyPr/>
          <a:lstStyle>
            <a:lvl1pPr>
              <a:defRPr sz="12200"/>
            </a:lvl1pPr>
            <a:lvl2pPr>
              <a:defRPr sz="10700"/>
            </a:lvl2pPr>
            <a:lvl3pPr>
              <a:defRPr sz="9200"/>
            </a:lvl3pPr>
            <a:lvl4pPr>
              <a:defRPr sz="7700"/>
            </a:lvl4pPr>
            <a:lvl5pPr>
              <a:defRPr sz="7700"/>
            </a:lvl5pPr>
            <a:lvl6pPr>
              <a:defRPr sz="7700"/>
            </a:lvl6pPr>
            <a:lvl7pPr>
              <a:defRPr sz="7700"/>
            </a:lvl7pPr>
            <a:lvl8pPr>
              <a:defRPr sz="7700"/>
            </a:lvl8pPr>
            <a:lvl9pPr>
              <a:defRPr sz="7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260159" y="7534279"/>
            <a:ext cx="8291664" cy="24628081"/>
          </a:xfrm>
        </p:spPr>
        <p:txBody>
          <a:bodyPr/>
          <a:lstStyle>
            <a:lvl1pPr marL="0" indent="0">
              <a:buNone/>
              <a:defRPr sz="5400"/>
            </a:lvl1pPr>
            <a:lvl2pPr marL="1748790" indent="0">
              <a:buNone/>
              <a:defRPr sz="4600"/>
            </a:lvl2pPr>
            <a:lvl3pPr marL="3497580" indent="0">
              <a:buNone/>
              <a:defRPr sz="3800"/>
            </a:lvl3pPr>
            <a:lvl4pPr marL="5246370" indent="0">
              <a:buNone/>
              <a:defRPr sz="3400"/>
            </a:lvl4pPr>
            <a:lvl5pPr marL="6995160" indent="0">
              <a:buNone/>
              <a:defRPr sz="3400"/>
            </a:lvl5pPr>
            <a:lvl6pPr marL="8743950" indent="0">
              <a:buNone/>
              <a:defRPr sz="3400"/>
            </a:lvl6pPr>
            <a:lvl7pPr marL="10492740" indent="0">
              <a:buNone/>
              <a:defRPr sz="3400"/>
            </a:lvl7pPr>
            <a:lvl8pPr marL="12241530" indent="0">
              <a:buNone/>
              <a:defRPr sz="3400"/>
            </a:lvl8pPr>
            <a:lvl9pPr marL="13990320" indent="0">
              <a:buNone/>
              <a:defRPr sz="3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9023733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939994" y="25203153"/>
            <a:ext cx="15121890" cy="2975376"/>
          </a:xfrm>
        </p:spPr>
        <p:txBody>
          <a:bodyPr anchor="b"/>
          <a:lstStyle>
            <a:lvl1pPr algn="l">
              <a:defRPr sz="7700" b="1"/>
            </a:lvl1pPr>
          </a:lstStyle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4939994" y="3217067"/>
            <a:ext cx="15121890" cy="21602700"/>
          </a:xfrm>
        </p:spPr>
        <p:txBody>
          <a:bodyPr/>
          <a:lstStyle>
            <a:lvl1pPr marL="0" indent="0">
              <a:buNone/>
              <a:defRPr sz="12200"/>
            </a:lvl1pPr>
            <a:lvl2pPr marL="1748790" indent="0">
              <a:buNone/>
              <a:defRPr sz="10700"/>
            </a:lvl2pPr>
            <a:lvl3pPr marL="3497580" indent="0">
              <a:buNone/>
              <a:defRPr sz="9200"/>
            </a:lvl3pPr>
            <a:lvl4pPr marL="5246370" indent="0">
              <a:buNone/>
              <a:defRPr sz="7700"/>
            </a:lvl4pPr>
            <a:lvl5pPr marL="6995160" indent="0">
              <a:buNone/>
              <a:defRPr sz="7700"/>
            </a:lvl5pPr>
            <a:lvl6pPr marL="8743950" indent="0">
              <a:buNone/>
              <a:defRPr sz="7700"/>
            </a:lvl6pPr>
            <a:lvl7pPr marL="10492740" indent="0">
              <a:buNone/>
              <a:defRPr sz="7700"/>
            </a:lvl7pPr>
            <a:lvl8pPr marL="12241530" indent="0">
              <a:buNone/>
              <a:defRPr sz="7700"/>
            </a:lvl8pPr>
            <a:lvl9pPr marL="13990320" indent="0">
              <a:buNone/>
              <a:defRPr sz="7700"/>
            </a:lvl9pPr>
          </a:lstStyle>
          <a:p>
            <a:r>
              <a:rPr lang="en-US" smtClean="0"/>
              <a:t>Drag picture to placeholder or click icon to add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939994" y="28178529"/>
            <a:ext cx="15121890" cy="4225524"/>
          </a:xfrm>
        </p:spPr>
        <p:txBody>
          <a:bodyPr/>
          <a:lstStyle>
            <a:lvl1pPr marL="0" indent="0">
              <a:buNone/>
              <a:defRPr sz="5400"/>
            </a:lvl1pPr>
            <a:lvl2pPr marL="1748790" indent="0">
              <a:buNone/>
              <a:defRPr sz="4600"/>
            </a:lvl2pPr>
            <a:lvl3pPr marL="3497580" indent="0">
              <a:buNone/>
              <a:defRPr sz="3800"/>
            </a:lvl3pPr>
            <a:lvl4pPr marL="5246370" indent="0">
              <a:buNone/>
              <a:defRPr sz="3400"/>
            </a:lvl4pPr>
            <a:lvl5pPr marL="6995160" indent="0">
              <a:buNone/>
              <a:defRPr sz="3400"/>
            </a:lvl5pPr>
            <a:lvl6pPr marL="8743950" indent="0">
              <a:buNone/>
              <a:defRPr sz="3400"/>
            </a:lvl6pPr>
            <a:lvl7pPr marL="10492740" indent="0">
              <a:buNone/>
              <a:defRPr sz="3400"/>
            </a:lvl7pPr>
            <a:lvl8pPr marL="12241530" indent="0">
              <a:buNone/>
              <a:defRPr sz="3400"/>
            </a:lvl8pPr>
            <a:lvl9pPr marL="13990320" indent="0">
              <a:buNone/>
              <a:defRPr sz="3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203318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7284304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18272286" y="1441856"/>
            <a:ext cx="5670709" cy="30720506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1260157" y="1441856"/>
            <a:ext cx="16592074" cy="30720506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923830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?><Relationships xmlns="http://schemas.openxmlformats.org/package/2006/relationships"><Relationship Id="rId9" Type="http://schemas.openxmlformats.org/officeDocument/2006/relationships/slideLayout" Target="../slideLayouts/slideLayout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1260158" y="1441852"/>
            <a:ext cx="22682835" cy="6000750"/>
          </a:xfrm>
          <a:prstGeom prst="rect">
            <a:avLst/>
          </a:prstGeom>
        </p:spPr>
        <p:txBody>
          <a:bodyPr vert="horz" lIns="349758" tIns="174879" rIns="349758" bIns="174879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260158" y="8401058"/>
            <a:ext cx="22682835" cy="23761304"/>
          </a:xfrm>
          <a:prstGeom prst="rect">
            <a:avLst/>
          </a:prstGeom>
        </p:spPr>
        <p:txBody>
          <a:bodyPr vert="horz" lIns="349758" tIns="174879" rIns="349758" bIns="174879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1260158" y="33370843"/>
            <a:ext cx="5880735" cy="1916906"/>
          </a:xfrm>
          <a:prstGeom prst="rect">
            <a:avLst/>
          </a:prstGeom>
        </p:spPr>
        <p:txBody>
          <a:bodyPr vert="horz" lIns="349758" tIns="174879" rIns="349758" bIns="174879" rtlCol="0" anchor="ctr"/>
          <a:lstStyle>
            <a:lvl1pPr algn="l">
              <a:defRPr sz="4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t>24/02/16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8611076" y="33370843"/>
            <a:ext cx="7980998" cy="1916906"/>
          </a:xfrm>
          <a:prstGeom prst="rect">
            <a:avLst/>
          </a:prstGeom>
        </p:spPr>
        <p:txBody>
          <a:bodyPr vert="horz" lIns="349758" tIns="174879" rIns="349758" bIns="174879" rtlCol="0" anchor="ctr"/>
          <a:lstStyle>
            <a:lvl1pPr algn="ctr">
              <a:defRPr sz="4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18062258" y="33370843"/>
            <a:ext cx="5880735" cy="1916906"/>
          </a:xfrm>
          <a:prstGeom prst="rect">
            <a:avLst/>
          </a:prstGeom>
        </p:spPr>
        <p:txBody>
          <a:bodyPr vert="horz" lIns="349758" tIns="174879" rIns="349758" bIns="174879" rtlCol="0" anchor="ctr"/>
          <a:lstStyle>
            <a:lvl1pPr algn="r">
              <a:defRPr sz="4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69A6C-8983-4CE5-98F7-B967F05418B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82192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68" r:id="rId16"/>
    <p:sldLayoutId id="2147483656" r:id="rId17"/>
    <p:sldLayoutId id="2147483657" r:id="rId18"/>
    <p:sldLayoutId id="2147483658" r:id="rId19"/>
    <p:sldLayoutId id="2147483659" r:id="rId20"/>
  </p:sldLayoutIdLst>
  <p:timing>
    <p:tnLst>
      <p:par>
        <p:cTn id="1" dur="indefinite" restart="never" nodeType="tmRoot"/>
      </p:par>
    </p:tnLst>
  </p:timing>
  <p:txStyles>
    <p:titleStyle>
      <a:lvl1pPr algn="ctr" defTabSz="3497580" rtl="0" eaLnBrk="1" latinLnBrk="0" hangingPunct="1">
        <a:spcBef>
          <a:spcPct val="0"/>
        </a:spcBef>
        <a:buNone/>
        <a:defRPr sz="16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11593" indent="-1311593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12200" kern="1200">
          <a:solidFill>
            <a:schemeClr val="tx1"/>
          </a:solidFill>
          <a:latin typeface="+mn-lt"/>
          <a:ea typeface="+mn-ea"/>
          <a:cs typeface="+mn-cs"/>
        </a:defRPr>
      </a:lvl1pPr>
      <a:lvl2pPr marL="2841784" indent="-1092994" algn="l" defTabSz="3497580" rtl="0" eaLnBrk="1" latinLnBrk="0" hangingPunct="1">
        <a:spcBef>
          <a:spcPct val="20000"/>
        </a:spcBef>
        <a:buFont typeface="Arial" panose="020B0604020202020204" pitchFamily="34" charset="0"/>
        <a:buChar char="–"/>
        <a:defRPr sz="10700" kern="1200">
          <a:solidFill>
            <a:schemeClr val="tx1"/>
          </a:solidFill>
          <a:latin typeface="+mn-lt"/>
          <a:ea typeface="+mn-ea"/>
          <a:cs typeface="+mn-cs"/>
        </a:defRPr>
      </a:lvl2pPr>
      <a:lvl3pPr marL="437197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3pPr>
      <a:lvl4pPr marL="612076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–"/>
        <a:defRPr sz="7700" kern="1200">
          <a:solidFill>
            <a:schemeClr val="tx1"/>
          </a:solidFill>
          <a:latin typeface="+mn-lt"/>
          <a:ea typeface="+mn-ea"/>
          <a:cs typeface="+mn-cs"/>
        </a:defRPr>
      </a:lvl4pPr>
      <a:lvl5pPr marL="786955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»"/>
        <a:defRPr sz="7700" kern="1200">
          <a:solidFill>
            <a:schemeClr val="tx1"/>
          </a:solidFill>
          <a:latin typeface="+mn-lt"/>
          <a:ea typeface="+mn-ea"/>
          <a:cs typeface="+mn-cs"/>
        </a:defRPr>
      </a:lvl5pPr>
      <a:lvl6pPr marL="961834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6pPr>
      <a:lvl7pPr marL="1136713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7pPr>
      <a:lvl8pPr marL="1311592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8pPr>
      <a:lvl9pPr marL="1486471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1pPr>
      <a:lvl2pPr marL="174879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2pPr>
      <a:lvl3pPr marL="349758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3pPr>
      <a:lvl4pPr marL="524637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4pPr>
      <a:lvl5pPr marL="699516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5pPr>
      <a:lvl6pPr marL="874395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6pPr>
      <a:lvl7pPr marL="1049274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7pPr>
      <a:lvl8pPr marL="1224153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8pPr>
      <a:lvl9pPr marL="1399032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itulo"/>
          <p:cNvSpPr>
            <a:spLocks noGrp="1"/>
          </p:cNvSpPr>
          <p:nvPr>
            <p:ph type="title"/>
          </p:nvPr>
        </p:nvSpPr>
        <p:spPr/>
        <p:txBody>
          <a:bodyPr>
            <a:normAutofit fontScale="90000" lnSpcReduction="10000"/>
          </a:bodyPr>
          <a:lstStyle/>
          <a:p>
            <a:r>
              <a:rPr lang="es-CO" b="1" dirty="0"/>
              <a:t>Sistema de Deteccion de Intrusiones IoT/MQTT mediante Aprendizaje Federado Jerarquico (HFL) y Cifrado Ligero ASCON-128 sobre Arquitectura Edge-Fog-Cloud</a:t>
            </a:r>
            <a:endParaRPr lang="es-CO" dirty="0"/>
          </a:p>
        </p:txBody>
      </p:sp>
      <p:sp>
        <p:nvSpPr>
          <p:cNvPr id="3" name="2 Header Resumen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s-CO" b="1"/>
              <a:t>Resumen</a:t>
            </a:r>
            <a:endParaRPr lang="es-CO"/>
          </a:p>
        </p:txBody>
      </p:sp>
      <p:sp>
        <p:nvSpPr>
          <p:cNvPr id="4" name="3 Resumen contenido"/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s-CO"/>
              <a:t>Se disena, implementa y evalua un Sistema de Deteccion de Intrusiones (IDS) para trafico IoT/MQTT desplegado sobre una arquitectura jerarquica Edge-Fog-Cloud (ESP32-S3 + Raspberry Pi 4 + PC). Los nodos edge ejecutan inferencia TinyML sobre 13 features de flujo y publican datos al gateway; el gateway entrena localmente y reporta pesos al PC, que coordina rondas de FedAvg. Todas las comunicaciones MQTT/HTTP se protegen con ASCON-128 (estandar NIST de criptografia ligera). Se comparan ocho variantes (RN/CNN x ASCON/PLAIN x NoFOG/FOG) sobre 58 intentos y se cuantifica el overhead de seguridad sobre el ciclo federado. Resultados: accuracy global de 0.975 en CNN_ASCON_FOG (mejor configuracion), 0.963 en RN_ASCON_FOG y 0.946 promedio agregado de las 8 variantes. ASCON-128 mejora la accuracy +3.2 puntos respecto al baseline PLAIN (filtrado implicito de mensajes corruptos), con un overhead temporal inferior al 0.27% del tiempo de ronda y un costo de tamano del 48% por mensaje, validando una arquitectura operativa, replicable y segura para IDS IoT.</a:t>
            </a:r>
            <a:endParaRPr lang="es-CO"/>
          </a:p>
        </p:txBody>
      </p:sp>
      <p:sp>
        <p:nvSpPr>
          <p:cNvPr id="5" name="4 Header Introduccion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s-CO" b="1"/>
              <a:t>Introduccion</a:t>
            </a:r>
            <a:endParaRPr lang="es-CO"/>
          </a:p>
        </p:txBody>
      </p:sp>
      <p:sp>
        <p:nvSpPr>
          <p:cNvPr id="6" name="5 Header Objetivos"/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lnSpcReduction="10000"/>
          </a:bodyPr>
          <a:lstStyle/>
          <a:p>
            <a:r>
              <a:rPr lang="es-CO" b="1"/>
              <a:t>Objetivos</a:t>
            </a:r>
            <a:endParaRPr lang="es-CO"/>
          </a:p>
        </p:txBody>
      </p:sp>
      <p:sp>
        <p:nvSpPr>
          <p:cNvPr id="7" name="6 Header Metodologia"/>
          <p:cNvSpPr>
            <a:spLocks noGrp="1"/>
          </p:cNvSpPr>
          <p:nvPr>
            <p:ph type="body" sz="quarter" idx="17"/>
          </p:nvPr>
        </p:nvSpPr>
        <p:spPr/>
        <p:txBody>
          <a:bodyPr>
            <a:normAutofit lnSpcReduction="10000"/>
          </a:bodyPr>
          <a:lstStyle/>
          <a:p>
            <a:r>
              <a:rPr lang="es-CO" b="1"/>
              <a:t>Metodologia</a:t>
            </a:r>
            <a:endParaRPr lang="es-CO"/>
          </a:p>
        </p:txBody>
      </p:sp>
      <p:sp>
        <p:nvSpPr>
          <p:cNvPr id="8" name="7 Header Diseno"/>
          <p:cNvSpPr>
            <a:spLocks noGrp="1"/>
          </p:cNvSpPr>
          <p:nvPr>
            <p:ph type="body" sz="quarter" idx="18"/>
          </p:nvPr>
        </p:nvSpPr>
        <p:spPr/>
        <p:txBody>
          <a:bodyPr>
            <a:normAutofit lnSpcReduction="10000"/>
          </a:bodyPr>
          <a:lstStyle/>
          <a:p>
            <a:r>
              <a:rPr lang="es-CO" b="1"/>
              <a:t>Diseno e implementacion</a:t>
            </a:r>
            <a:endParaRPr lang="es-CO"/>
          </a:p>
        </p:txBody>
      </p:sp>
      <p:sp>
        <p:nvSpPr>
          <p:cNvPr id="9" name="8 Header Resultados"/>
          <p:cNvSpPr>
            <a:spLocks noGrp="1"/>
          </p:cNvSpPr>
          <p:nvPr>
            <p:ph type="body" sz="quarter" idx="19"/>
          </p:nvPr>
        </p:nvSpPr>
        <p:spPr/>
        <p:txBody>
          <a:bodyPr>
            <a:normAutofit lnSpcReduction="10000"/>
          </a:bodyPr>
          <a:lstStyle/>
          <a:p>
            <a:r>
              <a:rPr lang="es-CO" b="1"/>
              <a:t>Resultados</a:t>
            </a:r>
            <a:endParaRPr lang="es-CO"/>
          </a:p>
        </p:txBody>
      </p:sp>
      <p:sp>
        <p:nvSpPr>
          <p:cNvPr id="10" name="9 Header Conclusiones"/>
          <p:cNvSpPr>
            <a:spLocks noGrp="1"/>
          </p:cNvSpPr>
          <p:nvPr>
            <p:ph type="body" sz="quarter" idx="20"/>
          </p:nvPr>
        </p:nvSpPr>
        <p:spPr/>
        <p:txBody>
          <a:bodyPr>
            <a:normAutofit lnSpcReduction="10000"/>
          </a:bodyPr>
          <a:lstStyle/>
          <a:p>
            <a:r>
              <a:rPr lang="es-CO" b="1"/>
              <a:t>Conclusiones</a:t>
            </a:r>
            <a:endParaRPr lang="es-CO"/>
          </a:p>
        </p:txBody>
      </p:sp>
      <p:sp>
        <p:nvSpPr>
          <p:cNvPr id="11" name="10 Programa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r>
              <a:rPr lang="es-CO" dirty="0"/>
              <a:t>COMIT – Seguridad y Sistemas Distribuidos / Maestria en Ingenieria de Sistemas y Computacion</a:t>
            </a:r>
            <a:endParaRPr lang="es-CO" dirty="0"/>
          </a:p>
        </p:txBody>
      </p:sp>
      <p:sp>
        <p:nvSpPr>
          <p:cNvPr id="12" name="11 Integrantes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r>
              <a:rPr lang="es-CO"/>
              <a:t>Nicolas Casas Ibarra</a:t>
            </a:r>
            <a:endParaRPr lang="es-CO"/>
          </a:p>
        </p:txBody>
      </p:sp>
      <p:sp>
        <p:nvSpPr>
          <p:cNvPr id="13" name="12 Correos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s-CO"/>
              <a:t>ni.casas@uniandes.edu.co</a:t>
            </a:r>
            <a:endParaRPr lang="es-CO"/>
          </a:p>
        </p:txBody>
      </p:sp>
      <p:sp>
        <p:nvSpPr>
          <p:cNvPr id="14" name="13 Asesor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r>
              <a:rPr lang="es-CO"/>
              <a:t>Asesor: &lt;asesor&gt; (&lt;correo asesor&gt;@uniandes.edu.co)</a:t>
            </a:r>
            <a:endParaRPr lang="es-CO"/>
          </a:p>
        </p:txBody>
      </p:sp>
      <p:sp>
        <p:nvSpPr>
          <p:cNvPr id="15" name="14 Introduccion contenido"/>
          <p:cNvSpPr>
            <a:spLocks noGrp="1"/>
          </p:cNvSpPr>
          <p:nvPr>
            <p:ph sz="quarter" idx="34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s-CO"/>
              <a:t>Las redes IoT/IIoT amplian la superficie de ataque pero los IDS clasicos asumen centralizacion de datos, servidores potentes y comunicaciones sin cifrado, supuestos incompatibles con microcontroladores. Se identifican tres brechas: viabilidad de despliegue en MCU, privacidad de datos de trafico y seguridad del ciclo federado. Esta tesis las aborda integrando TinyML, HFL bidireccional y ASCON-128 (estandar NIST de criptografia ligera, 2023) sobre una arquitectura Edge-Fog-Cloud real, evitando el uso de permutaciones ad-hoc previamente comprometidas.</a:t>
            </a:r>
            <a:endParaRPr lang="es-CO"/>
          </a:p>
        </p:txBody>
      </p:sp>
      <p:sp>
        <p:nvSpPr>
          <p:cNvPr id="16" name="15 Objetivos contenido"/>
          <p:cNvSpPr>
            <a:spLocks noGrp="1"/>
          </p:cNvSpPr>
          <p:nvPr>
            <p:ph sz="quarter" idx="35"/>
          </p:nvPr>
        </p:nvSpPr>
        <p:spPr/>
        <p:txBody>
          <a:bodyPr>
            <a:normAutofit fontScale="92500" lnSpcReduction="10000"/>
          </a:bodyPr>
          <a:lstStyle/>
          <a:p>
            <a:pPr marL="285750" indent="-285750">
              <a:buFont typeface="Arial" panose="020B0604020202020204" pitchFamily="34" charset="0"/>
              <a:buChar char="-"/>
            </a:pPr>
            <a:r>
              <a:rPr lang="es-CO"/>
              <a:t>General: disenar, implementar y evaluar un IDS IoT/MQTT con TinyML, HFL jerarquico y ASCON-128 sobre ESP32-S3, Raspberry Pi 4 y PC.</a:t>
            </a:r>
          </a:p>
          <a:p>
            <a:pPr marL="285750" indent="-285750">
              <a:buFont typeface="Arial" panose="020B0604020202020204" pitchFamily="34" charset="0"/>
              <a:buChar char="-"/>
            </a:pPr>
            <a:r>
              <a:rPr lang="es-CO"/>
              <a:t>Construir un pipeline de 13 features de flujo y problema triclase (normal, mqtt_bruteforce, scan_A).</a:t>
            </a:r>
          </a:p>
          <a:p>
            <a:pPr marL="285750" indent="-285750">
              <a:buFont typeface="Arial" panose="020B0604020202020204" pitchFamily="34" charset="0"/>
              <a:buChar char="-"/>
            </a:pPr>
            <a:r>
              <a:rPr lang="es-CO"/>
              <a:t>Comparar MLP, CNN-1D, Residual MLP y Tiny Transformer y exportar pesos al ESP32.</a:t>
            </a:r>
          </a:p>
          <a:p>
            <a:pPr marL="285750" indent="-285750">
              <a:buFont typeface="Arial" panose="020B0604020202020204" pitchFamily="34" charset="0"/>
              <a:buChar char="-"/>
            </a:pPr>
            <a:r>
              <a:rPr lang="es-CO"/>
              <a:t>Implementar HFL bidireccional con ASCON-128 y baseline sin cifrado para medir overhead.</a:t>
            </a:r>
          </a:p>
          <a:p>
            <a:pPr marL="285750" indent="-285750">
              <a:buFont typeface="Arial" panose="020B0604020202020204" pitchFamily="34" charset="0"/>
              <a:buChar char="-"/>
            </a:pPr>
            <a:r>
              <a:rPr lang="es-CO"/>
              <a:t>Evaluar variantes RN, CNN-1D y modo FOG (lider/peer) sobre hardware real.</a:t>
            </a:r>
          </a:p>
        </p:txBody>
      </p:sp>
      <p:sp>
        <p:nvSpPr>
          <p:cNvPr id="17" name="16 Diseno contenido"/>
          <p:cNvSpPr>
            <a:spLocks noGrp="1"/>
          </p:cNvSpPr>
          <p:nvPr>
            <p:ph sz="quarter" idx="36"/>
          </p:nvPr>
        </p:nvSpPr>
        <p:spPr/>
        <p:txBody>
          <a:bodyPr>
            <a:normAutofit fontScale="90000" lnSpcReduction="10000"/>
          </a:bodyPr>
          <a:lstStyle/>
          <a:p>
            <a:r>
              <a:rPr lang="es-CO" b="1"/>
              <a:t xml:space="preserve">Edge (ESP32-S3): </a:t>
            </a:r>
            <a:r>
              <a:rPr lang="es-CO"/>
              <a:t>genera/captura trafico MQTT, extrae 13 features de flujo y ejecuta inferencia TinyML del MLP (1.139 parametros, ~4.5 KB) o CNN-1D.</a:t>
            </a:r>
          </a:p>
          <a:p>
            <a:r>
              <a:rPr lang="es-CO" b="1"/>
              <a:t xml:space="preserve">Fog (Raspberry Pi 4): </a:t>
            </a:r>
            <a:r>
              <a:rPr lang="es-CO"/>
              <a:t>broker MQTT, etiquetado heuristico, buffer de 40 muestras, entrenamiento local (5 epocas, batch 8, Adam lr=0.005) y reenvio de pesos.</a:t>
            </a:r>
          </a:p>
          <a:p>
            <a:r>
              <a:rPr lang="es-CO" b="1"/>
              <a:t xml:space="preserve">Cloud (PC): </a:t>
            </a:r>
            <a:r>
              <a:rPr lang="es-CO"/>
              <a:t>FastAPI + FedAvg ponderado por muestras, dashboard analitico Chart.js.</a:t>
            </a:r>
          </a:p>
          <a:p>
            <a:r>
              <a:rPr lang="es-CO" b="1"/>
              <a:t xml:space="preserve">ASCON-128: </a:t>
            </a:r>
            <a:r>
              <a:rPr lang="es-CO"/>
              <a:t>AEAD (clave 128 b, nonce 128 b, tag 128 b) en C++ (ESP32) y Python (RPi/PC), interoperables. Envelope JSON {ct, tag, nonce} en Base64. Validacion de tag obligatoria.</a:t>
            </a:r>
          </a:p>
          <a:p>
            <a:r>
              <a:rPr lang="es-CO" b="1"/>
              <a:t xml:space="preserve">Modo FOG: </a:t>
            </a:r>
            <a:r>
              <a:rPr lang="es-CO"/>
              <a:t>una RPi lider hace FedAvg de gateways peers via MQTT (fog/weights, fog/global_model) y reporta al PC (/aggregate-from-fog).</a:t>
            </a:r>
          </a:p>
          <a:p>
            <a:r>
              <a:rPr lang="es-CO" b="1"/>
              <a:t xml:space="preserve">Variantes evaluadas: </a:t>
            </a:r>
            <a:r>
              <a:rPr lang="es-CO"/>
              <a:t>hfl_v7-RN (MLP+ASCON), hfl_v7-no-ascon-RN (baseline JSON plano), hfl_v7-CNN (CNN-1D, estandar y FOG).</a:t>
            </a:r>
          </a:p>
        </p:txBody>
      </p:sp>
      <p:sp>
        <p:nvSpPr>
          <p:cNvPr id="18" name="17 Metodologia contenido"/>
          <p:cNvSpPr>
            <a:spLocks noGrp="1"/>
          </p:cNvSpPr>
          <p:nvPr>
            <p:ph sz="quarter" idx="37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s-CO"/>
              <a:t>Investigacion experimental cuantitativa en seis fases: (1) construccion del pipeline de 13 features y triclase; (2) entrenamiento offline comparativo de MLP, CNN-1D, Residual MLP y Tiny Transformer; (3) implementacion del HFL bidireccional sobre ESP32 + RPi + PC; (4) integracion de ASCON-128 sobre los 4 canales (ESP32&lt;-&gt;RPi via MQTT, RPi&lt;-&gt;PC via HTTP); (5) baseline funcionalmente equivalente sin cifrado para aislar el costo de seguridad; (6) evaluacion de variantes RN, CNN-1D y modo FOG, con metricas de accuracy/loss, costo de comunicacion, tiempos de cifrado y duracion de ronda. Modelo de amenazas explicito: confidencialidad, integridad y replay; quedan fuera del alcance clientes bizantinos, ataques de canal lateral e inferencia de membresia.</a:t>
            </a:r>
            <a:endParaRPr lang="es-CO"/>
          </a:p>
        </p:txBody>
      </p:sp>
      <p:sp>
        <p:nvSpPr>
          <p:cNvPr id="19" name="18 Resultados contenido"/>
          <p:cNvSpPr>
            <a:spLocks noGrp="1"/>
          </p:cNvSpPr>
          <p:nvPr>
            <p:ph sz="quarter" idx="38"/>
          </p:nvPr>
        </p:nvSpPr>
        <p:spPr/>
        <p:txBody>
          <a:bodyPr>
            <a:normAutofit fontScale="85000" lnSpcReduction="15000"/>
          </a:bodyPr>
          <a:lstStyle/>
          <a:p>
            <a:pPr marL="285750" indent="-285750">
              <a:buFont typeface="Arial" panose="020B0604020202020204" pitchFamily="34" charset="0"/>
              <a:buChar char="-"/>
            </a:pPr>
            <a:r>
              <a:rPr lang="es-CO" b="1"/>
              <a:t xml:space="preserve">Centralizado (techo): </a:t>
            </a:r>
            <a:r>
              <a:rPr lang="es-CO"/>
              <a:t>Random Forest 0.9994, SVM-RBF 0.9968 (no caben en MCU); Decision Tree 0.9987 (~15 KB); MLP propuesto ~4.5 KB.</a:t>
            </a:r>
          </a:p>
          <a:p>
            <a:pPr marL="285750" indent="-285750">
              <a:buFont typeface="Arial" panose="020B0604020202020204" pitchFamily="34" charset="0"/>
              <a:buChar char="-"/>
            </a:pPr>
            <a:r>
              <a:rPr lang="es-CO" b="1"/>
              <a:t xml:space="preserve">8 variantes en hardware (58 intentos): </a:t>
            </a:r>
            <a:r>
              <a:rPr lang="es-CO"/>
              <a:t>CNN_ASCON_FOG 0.9750 (mejor); CNN_ASCON_NoFOG 0.9604; RN_ASCON_FOG 0.9633; RN_ASCON_NoFOG 0.9381; CNN_PLAIN_FOG 0.9444; CNN_PLAIN_NoFOG 0.9389; RN_PLAIN_NoFOG 0.9298; RN_PLAIN_FOG 0.9000.</a:t>
            </a:r>
          </a:p>
          <a:p>
            <a:pPr marL="285750" indent="-285750">
              <a:buFont typeface="Arial" panose="020B0604020202020204" pitchFamily="34" charset="0"/>
              <a:buChar char="-"/>
            </a:pPr>
            <a:r>
              <a:rPr lang="es-CO" b="1"/>
              <a:t xml:space="preserve">ASCON mejora la accuracy: </a:t>
            </a:r>
            <a:r>
              <a:rPr lang="es-CO"/>
              <a:t>+3.2 pts promedio frente a PLAIN (0.9592 vs 0.9272). El tag autenticado actua como filtro implicito de mensajes corruptos.</a:t>
            </a:r>
          </a:p>
          <a:p>
            <a:pPr marL="285750" indent="-285750">
              <a:buFont typeface="Arial" panose="020B0604020202020204" pitchFamily="34" charset="0"/>
              <a:buChar char="-"/>
            </a:pPr>
            <a:r>
              <a:rPr lang="es-CO" b="1"/>
              <a:t xml:space="preserve">FOG con/sin ASCON: </a:t>
            </a:r>
            <a:r>
              <a:rPr lang="es-CO"/>
              <a:t>FOG mejora CNN (+1.5 pts ASCON, +0.6 pts PLAIN) y RN+ASCON (+2.5 pts), pero degrada RN_PLAIN_FOG (-3 pts). La integridad de canal habilita la pre-agregacion.</a:t>
            </a:r>
          </a:p>
          <a:p>
            <a:pPr marL="285750" indent="-285750">
              <a:buFont typeface="Arial" panose="020B0604020202020204" pitchFamily="34" charset="0"/>
              <a:buChar char="-"/>
            </a:pPr>
            <a:r>
              <a:rPr lang="es-CO" b="1"/>
              <a:t xml:space="preserve">Privacidad: </a:t>
            </a:r>
            <a:r>
              <a:rPr lang="es-CO"/>
              <a:t>se comparten solo 163 parametros (~652 B) por ronda en lugar de ~13.3 M de valores crudos (reduccion &gt;99.99%).</a:t>
            </a:r>
          </a:p>
          <a:p>
            <a:pPr marL="285750" indent="-285750">
              <a:buFont typeface="Arial" panose="020B0604020202020204" pitchFamily="34" charset="0"/>
              <a:buChar char="-"/>
            </a:pPr>
            <a:r>
              <a:rPr lang="es-CO" b="1"/>
              <a:t xml:space="preserve">Overhead ASCON-128: </a:t>
            </a:r>
            <a:r>
              <a:rPr lang="es-CO"/>
              <a:t>p95 ~4.5 ms en ESP32 (C++) y 25-50 ms en PC (Python). Total 0.10-0.27% del ciclo FL. Tamano: +48% por mensaje (~1.07 KB absolutos).</a:t>
            </a:r>
          </a:p>
        </p:txBody>
      </p:sp>
      <p:sp>
        <p:nvSpPr>
          <p:cNvPr id="20" name="19 Conclusiones contenido"/>
          <p:cNvSpPr>
            <a:spLocks noGrp="1"/>
          </p:cNvSpPr>
          <p:nvPr>
            <p:ph sz="quarter" idx="39"/>
          </p:nvPr>
        </p:nvSpPr>
        <p:spPr/>
        <p:txBody>
          <a:bodyPr>
            <a:normAutofit fontScale="92500" lnSpcReduction="10000"/>
          </a:bodyPr>
          <a:lstStyle/>
          <a:p>
            <a:pPr marL="285750" indent="-285750">
              <a:buFont typeface="Arial" panose="020B0604020202020204" pitchFamily="34" charset="0"/>
              <a:buChar char="-"/>
            </a:pPr>
            <a:r>
              <a:rPr lang="es-CO"/>
              <a:t>TinyML viable: MLP de 4.5 KB y CNN-1D federada en ESP32-S3 alcanzan acc 0.93-0.97 (CNN_ASCON_FOG: 0.975) sobre 58 intentos en hardware real.</a:t>
            </a:r>
          </a:p>
          <a:p>
            <a:pPr marL="285750" indent="-285750">
              <a:buFont typeface="Arial" panose="020B0604020202020204" pitchFamily="34" charset="0"/>
              <a:buChar char="-"/>
            </a:pPr>
            <a:r>
              <a:rPr lang="es-CO"/>
              <a:t>HFL bidireccional reduce &gt;99.99% el intercambio de datos sensibles con una penalizacion de 2-3 puntos en la mejor variante (CNN_ASCON_FOG vs Random Forest).</a:t>
            </a:r>
          </a:p>
          <a:p>
            <a:pPr marL="285750" indent="-285750">
              <a:buFont typeface="Arial" panose="020B0604020202020204" pitchFamily="34" charset="0"/>
              <a:buChar char="-"/>
            </a:pPr>
            <a:r>
              <a:rPr lang="es-CO"/>
              <a:t>ASCON-128 no solo no degrada: mejora la accuracy +3.2 pts vs PLAIN (filtrado implicito de mensajes corruptos). Overhead: 0.10-0.27% del ciclo y +48% por mensaje.</a:t>
            </a:r>
          </a:p>
          <a:p>
            <a:pPr marL="285750" indent="-285750">
              <a:buFont typeface="Arial" panose="020B0604020202020204" pitchFamily="34" charset="0"/>
              <a:buChar char="-"/>
            </a:pPr>
            <a:r>
              <a:rPr lang="es-CO"/>
              <a:t>FOG con ASCON gana (+1.5 a +2.5 pts), pero FOG sin ASCON degrada RN (-3 pts): la integridad de canal es condicion habilitante de la pre-agregacion fog.</a:t>
            </a:r>
          </a:p>
          <a:p>
            <a:pPr marL="285750" indent="-285750">
              <a:buFont typeface="Arial" panose="020B0604020202020204" pitchFamily="34" charset="0"/>
              <a:buChar char="-"/>
            </a:pPr>
            <a:r>
              <a:rPr lang="es-CO"/>
              <a:t>Trabajos futuros: robustez bizantina (Krum/FLTrust), cuantizacion INT8, contramedidas SCA sobre ASCON, datasets reales (CICIoT2023, TON_IoT) y differential privacy.</a:t>
            </a:r>
          </a:p>
        </p:txBody>
      </p:sp>
    </p:spTree>
    <p:extLst>
      <p:ext uri="{BB962C8B-B14F-4D97-AF65-F5344CB8AC3E}">
        <p14:creationId xmlns:p14="http://schemas.microsoft.com/office/powerpoint/2010/main" val="2424691945"/>
      </p:ext>
    </p:extLst>
  </p:cSld>
  <p:clrMapOvr>
    <a:masterClrMapping/>
  </p:clrMapOvr>
</p:sld>
</file>

<file path=ppt/theme/theme1.xml><?xml version="1.0" encoding="utf-8"?>
<a:theme xmlns:a="http://schemas.openxmlformats.org/drawingml/2006/main" name="FormatoPoster_ISI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stersInvestigacion" id="{D959789F-7C6C-C840-A820-9D76BA96E514}" vid="{DE1612A0-BF95-BF4E-B9AF-E78A0732F9A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Words>0</Words>
  <Application>Microsoft Macintosh PowerPoint</Application>
  <PresentationFormat>Custom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Calibri</vt:lpstr>
      <vt:lpstr>Arial</vt:lpstr>
      <vt:lpstr>FormatoPoster_ISIS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Mario Eduardo Sanchez Puccini</dc:creator>
  <cp:lastModifiedBy>Mario Eduardo Sanchez Puccini</cp:lastModifiedBy>
  <cp:revision>4</cp:revision>
  <dcterms:created xsi:type="dcterms:W3CDTF">2016-02-24T12:38:22Z</dcterms:created>
  <dcterms:modified xsi:type="dcterms:W3CDTF">2016-02-24T12:45:05Z</dcterms:modified>
</cp:coreProperties>
</file>