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5200864" cy="3600907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200864" cy="36009072"/>
          </a:xfrm>
          <a:prstGeom prst="rect">
            <a:avLst/>
          </a:prstGeom>
          <a:solidFill>
            <a:srgbClr val="FAF8F4"/>
          </a:solidFill>
          <a:ln w="12700">
            <a:solidFill>
              <a:srgbClr val="FAF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emplate_header_or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5200864" cy="248716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384048" y="2487168"/>
            <a:ext cx="12390120" cy="502920"/>
          </a:xfrm>
          <a:prstGeom prst="rect">
            <a:avLst/>
          </a:prstGeom>
          <a:solidFill>
            <a:srgbClr val="F1DACE"/>
          </a:solidFill>
          <a:ln w="12700">
            <a:solidFill>
              <a:srgbClr val="787878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2774168" y="2487168"/>
            <a:ext cx="12042648" cy="502920"/>
          </a:xfrm>
          <a:prstGeom prst="rect">
            <a:avLst/>
          </a:prstGeom>
          <a:solidFill>
            <a:srgbClr val="F1DACE"/>
          </a:solidFill>
          <a:ln w="12700">
            <a:solidFill>
              <a:srgbClr val="787878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606040"/>
            <a:ext cx="11978640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spcAft>
                <a:spcPts val="0"/>
              </a:spcAft>
              <a:defRPr sz="780" b="1">
                <a:solidFill>
                  <a:srgbClr val="1E2226"/>
                </a:solidFill>
                <a:latin typeface="Segoe UI"/>
              </a:defRPr>
            </a:pPr>
            <a:r>
              <a:t>COMITÉ - Seguridad, Redes e IoT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93040" y="2606040"/>
            <a:ext cx="11750040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spcAft>
                <a:spcPts val="0"/>
              </a:spcAft>
              <a:defRPr sz="740" b="0">
                <a:solidFill>
                  <a:srgbClr val="1E2226"/>
                </a:solidFill>
                <a:latin typeface="Segoe UI"/>
              </a:defRPr>
            </a:pPr>
            <a:r>
              <a:t>Asesor: Prof. Carlos Andrés Lozano Garzón, PhD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3063240"/>
            <a:ext cx="2382012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787878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3310128"/>
            <a:ext cx="22951440" cy="89611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spcAft>
                <a:spcPts val="0"/>
              </a:spcAft>
              <a:defRPr sz="1820" b="0">
                <a:solidFill>
                  <a:srgbClr val="1E2226"/>
                </a:solidFill>
                <a:latin typeface="Segoe UI"/>
              </a:defRPr>
            </a:pPr>
            <a:r>
              <a:t>Sistema de detección de intrusiones para redes IoT/MQTT mediante TinyML, HFL y ASCON-128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4315968"/>
            <a:ext cx="23820120" cy="9144"/>
          </a:xfrm>
          <a:prstGeom prst="rect">
            <a:avLst/>
          </a:prstGeom>
          <a:solidFill>
            <a:srgbClr val="FFFFFF"/>
          </a:solidFill>
          <a:ln w="12700">
            <a:solidFill>
              <a:srgbClr val="787878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4526280"/>
            <a:ext cx="22951440" cy="31089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255B9A"/>
                </a:solidFill>
                <a:latin typeface="Segoe UI"/>
              </a:defRPr>
            </a:pPr>
            <a:r>
              <a:t>Santiago Alejandro Jaimes Puerto  |  Nicolás Casas Ibarra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4983480"/>
            <a:ext cx="22951440" cy="31089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spcAft>
                <a:spcPts val="0"/>
              </a:spcAft>
              <a:defRPr sz="760" b="1">
                <a:solidFill>
                  <a:srgbClr val="255B9A"/>
                </a:solidFill>
                <a:latin typeface="Segoe UI"/>
              </a:defRPr>
            </a:pPr>
            <a:r>
              <a:t>Correos institucionales: por completar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5330952"/>
            <a:ext cx="22951440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spcAft>
                <a:spcPts val="0"/>
              </a:spcAft>
              <a:defRPr sz="730" b="0">
                <a:solidFill>
                  <a:srgbClr val="5B636A"/>
                </a:solidFill>
                <a:latin typeface="Segoe UI"/>
              </a:defRPr>
            </a:pPr>
            <a:r>
              <a:t>Universidad de los Andes - Departamento de Ingeniería de Sistemas y Computación - 2026</a:t>
            </a:r>
          </a:p>
        </p:txBody>
      </p:sp>
      <p:pic>
        <p:nvPicPr>
          <p:cNvPr id="14" name="Picture 13" descr="template_bar_blue_fu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6172200"/>
            <a:ext cx="23820120" cy="47548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941832" y="6281928"/>
            <a:ext cx="23308056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  <a:defRPr sz="1260" b="1">
                <a:solidFill>
                  <a:srgbClr val="FFFFFF"/>
                </a:solidFill>
                <a:latin typeface="Segoe UI"/>
              </a:defRPr>
            </a:pPr>
            <a:r>
              <a:t>Resumen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" y="6647688"/>
            <a:ext cx="23820120" cy="2633472"/>
          </a:xfrm>
          <a:prstGeom prst="rect">
            <a:avLst/>
          </a:prstGeom>
          <a:solidFill>
            <a:srgbClr val="FFFFFF"/>
          </a:solidFill>
          <a:ln w="12700">
            <a:solidFill>
              <a:srgbClr val="787878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78408" y="6885432"/>
            <a:ext cx="23234904" cy="223113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  <a:defRPr sz="850" b="0">
                <a:solidFill>
                  <a:srgbClr val="1E2226"/>
                </a:solidFill>
                <a:latin typeface="Segoe UI"/>
              </a:defRPr>
            </a:pPr>
            <a:r>
              <a:t>Esta tesis diseña, implementa y evalúa un IDS para tráfico IoT/MQTT sobre una arquitectura Edge-Fog-Cloud. El sistema ejecuta inferencia TinyML en ESP32-S3, entrenamiento local y agregación en Raspberry Pi, y coordinación global en PC. Se comparan variantes RN/MLP, CNN-1D, ASCON/no-ASCON y FOG/no-FOG. Los resultados muestran que HFL puede operar en hardware real con accuracy global entre 92.98% y 97.50%, mientras ASCON-128 protege pesos y features con overhead temporal menor a 0.1% del ciclo federado.</a:t>
            </a:r>
          </a:p>
        </p:txBody>
      </p:sp>
      <p:pic>
        <p:nvPicPr>
          <p:cNvPr id="18" name="Picture 17" descr="template_bar_orange_hal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9738360"/>
            <a:ext cx="11658600" cy="475488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941832" y="9848088"/>
            <a:ext cx="11146536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  <a:defRPr sz="1260" b="1">
                <a:solidFill>
                  <a:srgbClr val="FFFFFF"/>
                </a:solidFill>
                <a:latin typeface="Segoe UI"/>
              </a:defRPr>
            </a:pPr>
            <a:r>
              <a:t>Introducción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5800" y="10213848"/>
            <a:ext cx="11658600" cy="3319272"/>
          </a:xfrm>
          <a:prstGeom prst="rect">
            <a:avLst/>
          </a:prstGeom>
          <a:solidFill>
            <a:srgbClr val="FFFFFF"/>
          </a:solidFill>
          <a:ln w="12700">
            <a:solidFill>
              <a:srgbClr val="787878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78408" y="10451592"/>
            <a:ext cx="11073384" cy="291693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  <a:defRPr sz="819" b="0">
                <a:solidFill>
                  <a:srgbClr val="1E2226"/>
                </a:solidFill>
                <a:latin typeface="Segoe UI"/>
              </a:defRPr>
            </a:pPr>
            <a:r>
              <a:t>• Las redes IoT/IIoT aumentan la superficie de ataque y usan hardware restringido.</a:t>
            </a:r>
          </a:p>
          <a:p>
            <a:pPr algn="l">
              <a:spcAft>
                <a:spcPts val="0"/>
              </a:spcAft>
              <a:defRPr sz="819" b="0">
                <a:solidFill>
                  <a:srgbClr val="1E2226"/>
                </a:solidFill>
                <a:latin typeface="Segoe UI"/>
              </a:defRPr>
            </a:pPr>
            <a:r>
              <a:t>• Los IDS centralizados exigen mover datos crudos y modelos grandes.</a:t>
            </a:r>
          </a:p>
          <a:p>
            <a:pPr algn="l">
              <a:spcAft>
                <a:spcPts val="0"/>
              </a:spcAft>
              <a:defRPr sz="819" b="0">
                <a:solidFill>
                  <a:srgbClr val="1E2226"/>
                </a:solidFill>
                <a:latin typeface="Segoe UI"/>
              </a:defRPr>
            </a:pPr>
            <a:r>
              <a:t>• FL reduce transferencia de datos, pero los pesos y métricas siguen siendo activos sensibles.</a:t>
            </a:r>
          </a:p>
          <a:p>
            <a:pPr algn="l">
              <a:spcAft>
                <a:spcPts val="0"/>
              </a:spcAft>
              <a:defRPr sz="819" b="0">
                <a:solidFill>
                  <a:srgbClr val="1E2226"/>
                </a:solidFill>
                <a:latin typeface="Segoe UI"/>
              </a:defRPr>
            </a:pPr>
            <a:r>
              <a:t>• ASCON-128 se integra como cifrado autenticado ligero para proteger el ciclo federado.</a:t>
            </a:r>
          </a:p>
        </p:txBody>
      </p:sp>
      <p:pic>
        <p:nvPicPr>
          <p:cNvPr id="22" name="Picture 21" descr="template_bar_orange_hal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13898880"/>
            <a:ext cx="11658600" cy="475488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941832" y="14008607"/>
            <a:ext cx="11146536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  <a:defRPr sz="1260" b="1">
                <a:solidFill>
                  <a:srgbClr val="FFFFFF"/>
                </a:solidFill>
                <a:latin typeface="Segoe UI"/>
              </a:defRPr>
            </a:pPr>
            <a:r>
              <a:t>Objetivos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85800" y="14374367"/>
            <a:ext cx="11658600" cy="3593592"/>
          </a:xfrm>
          <a:prstGeom prst="rect">
            <a:avLst/>
          </a:prstGeom>
          <a:solidFill>
            <a:srgbClr val="FFFFFF"/>
          </a:solidFill>
          <a:ln w="12700">
            <a:solidFill>
              <a:srgbClr val="787878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78408" y="14612111"/>
            <a:ext cx="11073384" cy="5029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  <a:defRPr sz="880" b="1">
                <a:solidFill>
                  <a:srgbClr val="1E2226"/>
                </a:solidFill>
                <a:latin typeface="Segoe UI"/>
              </a:defRPr>
            </a:pPr>
            <a:r>
              <a:t>Objetivo general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8408" y="14996159"/>
            <a:ext cx="11073384" cy="7132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  <a:defRPr sz="790" b="0">
                <a:solidFill>
                  <a:srgbClr val="1E2226"/>
                </a:solidFill>
                <a:latin typeface="Segoe UI"/>
              </a:defRPr>
            </a:pPr>
            <a:r>
              <a:t>Diseñar, implementar y evaluar un IDS IoT/MQTT basado en TinyML, aprendizaje federado jerárquico y ASCON-128.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8408" y="15873984"/>
            <a:ext cx="11073384" cy="191109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  <a:defRPr sz="780" b="0">
                <a:solidFill>
                  <a:srgbClr val="1E2226"/>
                </a:solidFill>
                <a:latin typeface="Segoe UI"/>
              </a:defRPr>
            </a:pPr>
            <a:r>
              <a:t>• Construir pipeline de 13 features y tres clases.</a:t>
            </a:r>
          </a:p>
          <a:p>
            <a:pPr algn="l">
              <a:spcAft>
                <a:spcPts val="0"/>
              </a:spcAft>
              <a:defRPr sz="780" b="0">
                <a:solidFill>
                  <a:srgbClr val="1E2226"/>
                </a:solidFill>
                <a:latin typeface="Segoe UI"/>
              </a:defRPr>
            </a:pPr>
            <a:r>
              <a:t>• Comparar modelos compactos: MLP/RN, CNN-1D, Residual-MLP y Transformer.</a:t>
            </a:r>
          </a:p>
          <a:p>
            <a:pPr algn="l">
              <a:spcAft>
                <a:spcPts val="0"/>
              </a:spcAft>
              <a:defRPr sz="780" b="0">
                <a:solidFill>
                  <a:srgbClr val="1E2226"/>
                </a:solidFill>
                <a:latin typeface="Segoe UI"/>
              </a:defRPr>
            </a:pPr>
            <a:r>
              <a:t>• Implementar HFL bidireccional PC-RPi-ESP32.</a:t>
            </a:r>
          </a:p>
          <a:p>
            <a:pPr algn="l">
              <a:spcAft>
                <a:spcPts val="0"/>
              </a:spcAft>
              <a:defRPr sz="780" b="0">
                <a:solidFill>
                  <a:srgbClr val="1E2226"/>
                </a:solidFill>
                <a:latin typeface="Segoe UI"/>
              </a:defRPr>
            </a:pPr>
            <a:r>
              <a:t>• Medir impacto de ASCON, no-ASCON y FOG.</a:t>
            </a:r>
          </a:p>
        </p:txBody>
      </p:sp>
      <p:pic>
        <p:nvPicPr>
          <p:cNvPr id="28" name="Picture 27" descr="template_bar_orange_hal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18333720"/>
            <a:ext cx="11658600" cy="475488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941832" y="18443448"/>
            <a:ext cx="11146536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  <a:defRPr sz="1260" b="1">
                <a:solidFill>
                  <a:srgbClr val="FFFFFF"/>
                </a:solidFill>
                <a:latin typeface="Segoe UI"/>
              </a:defRPr>
            </a:pPr>
            <a:r>
              <a:t>Metodología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85800" y="18809208"/>
            <a:ext cx="11658600" cy="10222992"/>
          </a:xfrm>
          <a:prstGeom prst="rect">
            <a:avLst/>
          </a:prstGeom>
          <a:solidFill>
            <a:srgbClr val="FFFFFF"/>
          </a:solidFill>
          <a:ln w="12700">
            <a:solidFill>
              <a:srgbClr val="787878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78408" y="19046952"/>
            <a:ext cx="11073384" cy="20574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  <a:defRPr sz="740" b="0">
                <a:solidFill>
                  <a:srgbClr val="1E2226"/>
                </a:solidFill>
                <a:latin typeface="Segoe UI"/>
              </a:defRPr>
            </a:pPr>
            <a:r>
              <a:t>• Fase 1: preparación de dataset con 256 276 flujos y StandardScaler.</a:t>
            </a:r>
          </a:p>
          <a:p>
            <a:pPr algn="l">
              <a:spcAft>
                <a:spcPts val="0"/>
              </a:spcAft>
              <a:defRPr sz="740" b="0">
                <a:solidFill>
                  <a:srgbClr val="1E2226"/>
                </a:solidFill>
                <a:latin typeface="Segoe UI"/>
              </a:defRPr>
            </a:pPr>
            <a:r>
              <a:t>• Fase 2: entrenamiento offline y exportación de pesos/scaler.</a:t>
            </a:r>
          </a:p>
          <a:p>
            <a:pPr algn="l">
              <a:spcAft>
                <a:spcPts val="0"/>
              </a:spcAft>
              <a:defRPr sz="740" b="0">
                <a:solidFill>
                  <a:srgbClr val="1E2226"/>
                </a:solidFill>
                <a:latin typeface="Segoe UI"/>
              </a:defRPr>
            </a:pPr>
            <a:r>
              <a:t>• Fase 3: despliegue TinyML en ESP32-S3.</a:t>
            </a:r>
          </a:p>
          <a:p>
            <a:pPr algn="l">
              <a:spcAft>
                <a:spcPts val="0"/>
              </a:spcAft>
              <a:defRPr sz="740" b="0">
                <a:solidFill>
                  <a:srgbClr val="1E2226"/>
                </a:solidFill>
                <a:latin typeface="Segoe UI"/>
              </a:defRPr>
            </a:pPr>
            <a:r>
              <a:t>• Fase 4: HFL con Raspberry Pi y PC usando FedAvg ponderado.</a:t>
            </a:r>
          </a:p>
          <a:p>
            <a:pPr algn="l">
              <a:spcAft>
                <a:spcPts val="0"/>
              </a:spcAft>
              <a:defRPr sz="740" b="0">
                <a:solidFill>
                  <a:srgbClr val="1E2226"/>
                </a:solidFill>
                <a:latin typeface="Segoe UI"/>
              </a:defRPr>
            </a:pPr>
            <a:r>
              <a:t>• Fase 5: cifrado ASCON-128 y baseline JSON plano.</a:t>
            </a:r>
          </a:p>
          <a:p>
            <a:pPr algn="l">
              <a:spcAft>
                <a:spcPts val="0"/>
              </a:spcAft>
              <a:defRPr sz="740" b="0">
                <a:solidFill>
                  <a:srgbClr val="1E2226"/>
                </a:solidFill>
                <a:latin typeface="Segoe UI"/>
              </a:defRPr>
            </a:pPr>
            <a:r>
              <a:t>• Fase 6: análisis temporal de accuracy, loss y magnitud de pesos.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78408" y="21470112"/>
            <a:ext cx="11073384" cy="1874519"/>
          </a:xfrm>
          <a:prstGeom prst="rect">
            <a:avLst/>
          </a:prstGeom>
          <a:solidFill>
            <a:srgbClr val="F5F7F8"/>
          </a:solidFill>
          <a:ln w="12700">
            <a:solidFill>
              <a:srgbClr val="787878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43000" y="21634704"/>
            <a:ext cx="10744200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  <a:defRPr sz="819" b="1">
                <a:solidFill>
                  <a:srgbClr val="255B9A"/>
                </a:solidFill>
                <a:latin typeface="Segoe UI"/>
              </a:defRPr>
            </a:pPr>
            <a:r>
              <a:t>Configuración HFL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43000" y="22018752"/>
            <a:ext cx="10744200" cy="10058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  <a:defRPr sz="730" b="0">
                <a:solidFill>
                  <a:srgbClr val="1E2226"/>
                </a:solidFill>
                <a:latin typeface="Segoe UI"/>
              </a:defRPr>
            </a:pPr>
            <a:r>
              <a:t>Gateway: 40 muestras por actualización, 5 épocas, batch=8, Adam lr=0.005.</a:t>
            </a:r>
          </a:p>
          <a:p>
            <a:pPr algn="l">
              <a:spcAft>
                <a:spcPts val="0"/>
              </a:spcAft>
              <a:defRPr sz="730" b="0">
                <a:solidFill>
                  <a:srgbClr val="1E2226"/>
                </a:solidFill>
                <a:latin typeface="Segoe UI"/>
              </a:defRPr>
            </a:pPr>
            <a:r>
              <a:t>MLP/RN: 13 -&gt; 32 -&gt; 16 -&gt; 8 -&gt; 3; 1 139 parámetros; 163 federados.</a:t>
            </a:r>
          </a:p>
          <a:p>
            <a:pPr algn="l">
              <a:spcAft>
                <a:spcPts val="0"/>
              </a:spcAft>
              <a:defRPr sz="730" b="0">
                <a:solidFill>
                  <a:srgbClr val="1E2226"/>
                </a:solidFill>
                <a:latin typeface="Segoe UI"/>
              </a:defRPr>
            </a:pPr>
            <a:r>
              <a:t>CNN-1D: Conv1D + BN + GAP + densas federadas.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78408" y="23664672"/>
            <a:ext cx="11073384" cy="4434840"/>
          </a:xfrm>
          <a:prstGeom prst="rect">
            <a:avLst/>
          </a:prstGeom>
          <a:solidFill>
            <a:srgbClr val="F5F7F8"/>
          </a:solidFill>
          <a:ln w="12700">
            <a:solidFill>
              <a:srgbClr val="787878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43000" y="23847552"/>
            <a:ext cx="10744200" cy="23774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  <a:defRPr sz="819" b="1">
                <a:solidFill>
                  <a:srgbClr val="255B9A"/>
                </a:solidFill>
                <a:latin typeface="Segoe UI"/>
              </a:defRPr>
            </a:pPr>
            <a:r>
              <a:t>Variantes evaluadas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43000" y="24231600"/>
            <a:ext cx="10744200" cy="34290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  <a:defRPr sz="740" b="0">
                <a:solidFill>
                  <a:srgbClr val="1E2226"/>
                </a:solidFill>
                <a:latin typeface="Segoe UI"/>
              </a:defRPr>
            </a:pPr>
            <a:r>
              <a:t>• hfl_v7-RN: MLP/RN + ASCON, estándar y FOG.</a:t>
            </a:r>
          </a:p>
          <a:p>
            <a:pPr algn="l">
              <a:spcAft>
                <a:spcPts val="0"/>
              </a:spcAft>
              <a:defRPr sz="740" b="0">
                <a:solidFill>
                  <a:srgbClr val="1E2226"/>
                </a:solidFill>
                <a:latin typeface="Segoe UI"/>
              </a:defRPr>
            </a:pPr>
            <a:r>
              <a:t>• hfl_v7-no-ascon: MLP/RN + JSON plano, estándar y FOG.</a:t>
            </a:r>
          </a:p>
          <a:p>
            <a:pPr algn="l">
              <a:spcAft>
                <a:spcPts val="0"/>
              </a:spcAft>
              <a:defRPr sz="740" b="0">
                <a:solidFill>
                  <a:srgbClr val="1E2226"/>
                </a:solidFill>
                <a:latin typeface="Segoe UI"/>
              </a:defRPr>
            </a:pPr>
            <a:r>
              <a:t>• hfl_v7-CNN: CNN-1D + ASCON, estándar y FOG.</a:t>
            </a:r>
          </a:p>
          <a:p>
            <a:pPr algn="l">
              <a:spcAft>
                <a:spcPts val="0"/>
              </a:spcAft>
              <a:defRPr sz="740" b="0">
                <a:solidFill>
                  <a:srgbClr val="1E2226"/>
                </a:solidFill>
                <a:latin typeface="Segoe UI"/>
              </a:defRPr>
            </a:pPr>
            <a:r>
              <a:t>• FOG: leader/peer con topics fog/weights y fog/global_model.</a:t>
            </a:r>
          </a:p>
          <a:p>
            <a:pPr algn="l">
              <a:spcAft>
                <a:spcPts val="0"/>
              </a:spcAft>
              <a:defRPr sz="740" b="0">
                <a:solidFill>
                  <a:srgbClr val="1E2226"/>
                </a:solidFill>
                <a:latin typeface="Segoe UI"/>
              </a:defRPr>
            </a:pPr>
            <a:r>
              <a:t>• No-ASCON: topics fl/features_plain y fl/global_model_plain.</a:t>
            </a:r>
          </a:p>
        </p:txBody>
      </p:sp>
      <p:pic>
        <p:nvPicPr>
          <p:cNvPr id="38" name="Picture 37" descr="template_bar_orange_hal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47320" y="9738360"/>
            <a:ext cx="11658600" cy="475488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13103352" y="9848088"/>
            <a:ext cx="11146536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  <a:defRPr sz="1260" b="1">
                <a:solidFill>
                  <a:srgbClr val="FFFFFF"/>
                </a:solidFill>
                <a:latin typeface="Segoe UI"/>
              </a:defRPr>
            </a:pPr>
            <a:r>
              <a:t>Diseño e implementación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2847320" y="10213848"/>
            <a:ext cx="11658600" cy="7525512"/>
          </a:xfrm>
          <a:prstGeom prst="rect">
            <a:avLst/>
          </a:prstGeom>
          <a:solidFill>
            <a:srgbClr val="FFFFFF"/>
          </a:solidFill>
          <a:ln w="12700">
            <a:solidFill>
              <a:srgbClr val="787878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17126346" y="10680192"/>
            <a:ext cx="3100547" cy="566928"/>
          </a:xfrm>
          <a:prstGeom prst="roundRect">
            <a:avLst/>
          </a:prstGeom>
          <a:solidFill>
            <a:srgbClr val="EBF2FC"/>
          </a:solidFill>
          <a:ln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7181210" y="10762488"/>
            <a:ext cx="2990819" cy="47548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spcAft>
                <a:spcPts val="0"/>
              </a:spcAft>
              <a:defRPr sz="730" b="1">
                <a:solidFill>
                  <a:srgbClr val="1E2226"/>
                </a:solidFill>
                <a:latin typeface="Segoe UI"/>
              </a:defRPr>
            </a:pPr>
            <a:r>
              <a:t>PC</a:t>
            </a:r>
          </a:p>
          <a:p>
            <a:pPr algn="ctr">
              <a:spcAft>
                <a:spcPts val="0"/>
              </a:spcAft>
              <a:defRPr sz="730" b="1">
                <a:solidFill>
                  <a:srgbClr val="1E2226"/>
                </a:solidFill>
                <a:latin typeface="Segoe UI"/>
              </a:defRPr>
            </a:pPr>
            <a:r>
              <a:t>Cloud + FedAvg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4247266" y="11686032"/>
            <a:ext cx="3764950" cy="594360"/>
          </a:xfrm>
          <a:prstGeom prst="roundRect">
            <a:avLst/>
          </a:prstGeom>
          <a:solidFill>
            <a:srgbClr val="EEF8EF"/>
          </a:solidFill>
          <a:ln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4302130" y="11768328"/>
            <a:ext cx="3655222" cy="5029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spcAft>
                <a:spcPts val="0"/>
              </a:spcAft>
              <a:defRPr sz="730" b="1">
                <a:solidFill>
                  <a:srgbClr val="1E2226"/>
                </a:solidFill>
                <a:latin typeface="Segoe UI"/>
              </a:defRPr>
            </a:pPr>
            <a:r>
              <a:t>RPi</a:t>
            </a:r>
          </a:p>
          <a:p>
            <a:pPr algn="ctr">
              <a:spcAft>
                <a:spcPts val="0"/>
              </a:spcAft>
              <a:defRPr sz="730" b="1">
                <a:solidFill>
                  <a:srgbClr val="1E2226"/>
                </a:solidFill>
                <a:latin typeface="Segoe UI"/>
              </a:defRPr>
            </a:pPr>
            <a:r>
              <a:t>FOG leader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9341023" y="11686032"/>
            <a:ext cx="3764950" cy="594360"/>
          </a:xfrm>
          <a:prstGeom prst="roundRect">
            <a:avLst/>
          </a:prstGeom>
          <a:solidFill>
            <a:srgbClr val="EEF8EF"/>
          </a:solidFill>
          <a:ln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9395887" y="11768328"/>
            <a:ext cx="3655222" cy="5029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spcAft>
                <a:spcPts val="0"/>
              </a:spcAft>
              <a:defRPr sz="730" b="1">
                <a:solidFill>
                  <a:srgbClr val="1E2226"/>
                </a:solidFill>
                <a:latin typeface="Segoe UI"/>
              </a:defRPr>
            </a:pPr>
            <a:r>
              <a:t>RPi</a:t>
            </a:r>
          </a:p>
          <a:p>
            <a:pPr algn="ctr">
              <a:spcAft>
                <a:spcPts val="0"/>
              </a:spcAft>
              <a:defRPr sz="730" b="1">
                <a:solidFill>
                  <a:srgbClr val="1E2226"/>
                </a:solidFill>
                <a:latin typeface="Segoe UI"/>
              </a:defRPr>
            </a:pPr>
            <a:r>
              <a:t>FOG peer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4247266" y="12783312"/>
            <a:ext cx="3764950" cy="594360"/>
          </a:xfrm>
          <a:prstGeom prst="roundRect">
            <a:avLst/>
          </a:prstGeom>
          <a:solidFill>
            <a:srgbClr val="FDEFE5"/>
          </a:solidFill>
          <a:ln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4302130" y="12865608"/>
            <a:ext cx="3655222" cy="5029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spcAft>
                <a:spcPts val="0"/>
              </a:spcAft>
              <a:defRPr sz="730" b="1">
                <a:solidFill>
                  <a:srgbClr val="1E2226"/>
                </a:solidFill>
                <a:latin typeface="Segoe UI"/>
              </a:defRPr>
            </a:pPr>
            <a:r>
              <a:t>ESP32-S3</a:t>
            </a:r>
          </a:p>
          <a:p>
            <a:pPr algn="ctr">
              <a:spcAft>
                <a:spcPts val="0"/>
              </a:spcAft>
              <a:defRPr sz="730" b="1">
                <a:solidFill>
                  <a:srgbClr val="1E2226"/>
                </a:solidFill>
                <a:latin typeface="Segoe UI"/>
              </a:defRPr>
            </a:pPr>
            <a:r>
              <a:t>Edge A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19341023" y="12783312"/>
            <a:ext cx="3764950" cy="594360"/>
          </a:xfrm>
          <a:prstGeom prst="roundRect">
            <a:avLst/>
          </a:prstGeom>
          <a:solidFill>
            <a:srgbClr val="FDEFE5"/>
          </a:solidFill>
          <a:ln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9395887" y="12865608"/>
            <a:ext cx="3655222" cy="5029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spcAft>
                <a:spcPts val="0"/>
              </a:spcAft>
              <a:defRPr sz="730" b="1">
                <a:solidFill>
                  <a:srgbClr val="1E2226"/>
                </a:solidFill>
                <a:latin typeface="Segoe UI"/>
              </a:defRPr>
            </a:pPr>
            <a:r>
              <a:t>ESP32-S3</a:t>
            </a:r>
          </a:p>
          <a:p>
            <a:pPr algn="ctr">
              <a:spcAft>
                <a:spcPts val="0"/>
              </a:spcAft>
              <a:defRPr sz="730" b="1">
                <a:solidFill>
                  <a:srgbClr val="1E2226"/>
                </a:solidFill>
                <a:latin typeface="Segoe UI"/>
              </a:defRPr>
            </a:pPr>
            <a:r>
              <a:t>Edge B</a:t>
            </a:r>
          </a:p>
        </p:txBody>
      </p:sp>
      <p:sp>
        <p:nvSpPr>
          <p:cNvPr id="51" name="Down Arrow 50"/>
          <p:cNvSpPr/>
          <p:nvPr/>
        </p:nvSpPr>
        <p:spPr>
          <a:xfrm>
            <a:off x="18565886" y="11292840"/>
            <a:ext cx="228600" cy="384048"/>
          </a:xfrm>
          <a:prstGeom prst="downArrow">
            <a:avLst/>
          </a:prstGeom>
          <a:solidFill>
            <a:srgbClr val="EF6922"/>
          </a:solidFill>
          <a:ln>
            <a:solidFill>
              <a:srgbClr val="EF69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Down Arrow 51"/>
          <p:cNvSpPr/>
          <p:nvPr/>
        </p:nvSpPr>
        <p:spPr>
          <a:xfrm>
            <a:off x="15908274" y="12326112"/>
            <a:ext cx="228600" cy="384048"/>
          </a:xfrm>
          <a:prstGeom prst="downArrow">
            <a:avLst/>
          </a:prstGeom>
          <a:solidFill>
            <a:srgbClr val="EF6922"/>
          </a:solidFill>
          <a:ln>
            <a:solidFill>
              <a:srgbClr val="EF69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Down Arrow 52"/>
          <p:cNvSpPr/>
          <p:nvPr/>
        </p:nvSpPr>
        <p:spPr>
          <a:xfrm>
            <a:off x="21112764" y="12326112"/>
            <a:ext cx="228600" cy="384048"/>
          </a:xfrm>
          <a:prstGeom prst="downArrow">
            <a:avLst/>
          </a:prstGeom>
          <a:solidFill>
            <a:srgbClr val="EF6922"/>
          </a:solidFill>
          <a:ln>
            <a:solidFill>
              <a:srgbClr val="EF69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3139928" y="13560552"/>
            <a:ext cx="11073384" cy="47548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spcAft>
                <a:spcPts val="0"/>
              </a:spcAft>
              <a:defRPr sz="750" b="0">
                <a:solidFill>
                  <a:srgbClr val="5B636A"/>
                </a:solidFill>
                <a:latin typeface="Segoe UI"/>
              </a:defRPr>
            </a:pPr>
            <a:r>
              <a:t>Top-down: modelo global. Bottom-up: features, pesos locales y FedAvg.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3139928" y="14337792"/>
            <a:ext cx="11073384" cy="319125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  <a:defRPr sz="770" b="0">
                <a:solidFill>
                  <a:srgbClr val="1E2226"/>
                </a:solidFill>
                <a:latin typeface="Segoe UI"/>
              </a:defRPr>
            </a:pPr>
            <a:r>
              <a:t>• PC: FastAPI, modelo global, dashboard y FedAvg global.</a:t>
            </a:r>
          </a:p>
          <a:p>
            <a:pPr algn="l">
              <a:spcAft>
                <a:spcPts val="0"/>
              </a:spcAft>
              <a:defRPr sz="770" b="0">
                <a:solidFill>
                  <a:srgbClr val="1E2226"/>
                </a:solidFill>
                <a:latin typeface="Segoe UI"/>
              </a:defRPr>
            </a:pPr>
            <a:r>
              <a:t>• Raspberry Pi: broker MQTT, etiquetado heurístico, entrenamiento local y FedAvg fog.</a:t>
            </a:r>
          </a:p>
          <a:p>
            <a:pPr algn="l">
              <a:spcAft>
                <a:spcPts val="0"/>
              </a:spcAft>
              <a:defRPr sz="770" b="0">
                <a:solidFill>
                  <a:srgbClr val="1E2226"/>
                </a:solidFill>
                <a:latin typeface="Segoe UI"/>
              </a:defRPr>
            </a:pPr>
            <a:r>
              <a:t>• ESP32-S3: inferencia TinyML, cálculo/publicación de features y alertamiento.</a:t>
            </a:r>
          </a:p>
          <a:p>
            <a:pPr algn="l">
              <a:spcAft>
                <a:spcPts val="0"/>
              </a:spcAft>
              <a:defRPr sz="770" b="0">
                <a:solidFill>
                  <a:srgbClr val="1E2226"/>
                </a:solidFill>
                <a:latin typeface="Segoe UI"/>
              </a:defRPr>
            </a:pPr>
            <a:r>
              <a:t>• ASCON: payload autenticado {ct, tag, nonce}; no-ASCON: JSON plano comparable.</a:t>
            </a:r>
          </a:p>
        </p:txBody>
      </p:sp>
      <p:pic>
        <p:nvPicPr>
          <p:cNvPr id="56" name="Picture 55" descr="template_bar_orange_hal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47320" y="18105120"/>
            <a:ext cx="11658600" cy="475488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13103352" y="18214848"/>
            <a:ext cx="11146536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  <a:defRPr sz="1260" b="1">
                <a:solidFill>
                  <a:srgbClr val="FFFFFF"/>
                </a:solidFill>
                <a:latin typeface="Segoe UI"/>
              </a:defRPr>
            </a:pPr>
            <a:r>
              <a:t>Resultados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2847320" y="18580608"/>
            <a:ext cx="11658600" cy="10360152"/>
          </a:xfrm>
          <a:prstGeom prst="rect">
            <a:avLst/>
          </a:prstGeom>
          <a:solidFill>
            <a:srgbClr val="FFFFFF"/>
          </a:solidFill>
          <a:ln w="12700">
            <a:solidFill>
              <a:srgbClr val="787878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13139928" y="18818352"/>
            <a:ext cx="4761555" cy="377190"/>
          </a:xfrm>
          <a:prstGeom prst="rect">
            <a:avLst/>
          </a:prstGeom>
          <a:solidFill>
            <a:srgbClr val="255B9A"/>
          </a:solidFill>
          <a:ln w="1270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3185648" y="18864072"/>
            <a:ext cx="4670115" cy="33147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  <a:defRPr sz="710" b="1">
                <a:solidFill>
                  <a:srgbClr val="FFFFFF"/>
                </a:solidFill>
                <a:latin typeface="Segoe UI"/>
              </a:defRPr>
            </a:pPr>
            <a:r>
              <a:t>Variante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7901483" y="18818352"/>
            <a:ext cx="1993209" cy="377190"/>
          </a:xfrm>
          <a:prstGeom prst="rect">
            <a:avLst/>
          </a:prstGeom>
          <a:solidFill>
            <a:srgbClr val="255B9A"/>
          </a:solidFill>
          <a:ln w="1270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7947203" y="18864072"/>
            <a:ext cx="1901769" cy="33147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  <a:defRPr sz="710" b="1">
                <a:solidFill>
                  <a:srgbClr val="FFFFFF"/>
                </a:solidFill>
                <a:latin typeface="Segoe UI"/>
              </a:defRPr>
            </a:pPr>
            <a:r>
              <a:t>Acc.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9894692" y="18818352"/>
            <a:ext cx="1993209" cy="377190"/>
          </a:xfrm>
          <a:prstGeom prst="rect">
            <a:avLst/>
          </a:prstGeom>
          <a:solidFill>
            <a:srgbClr val="255B9A"/>
          </a:solidFill>
          <a:ln w="1270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9940412" y="18864072"/>
            <a:ext cx="1901769" cy="33147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  <a:defRPr sz="710" b="1">
                <a:solidFill>
                  <a:srgbClr val="FFFFFF"/>
                </a:solidFill>
                <a:latin typeface="Segoe UI"/>
              </a:defRPr>
            </a:pPr>
            <a:r>
              <a:t>Loss</a:t>
            </a:r>
          </a:p>
        </p:txBody>
      </p:sp>
      <p:sp>
        <p:nvSpPr>
          <p:cNvPr id="65" name="Rectangle 64"/>
          <p:cNvSpPr/>
          <p:nvPr/>
        </p:nvSpPr>
        <p:spPr>
          <a:xfrm>
            <a:off x="21887901" y="18818352"/>
            <a:ext cx="2325410" cy="377190"/>
          </a:xfrm>
          <a:prstGeom prst="rect">
            <a:avLst/>
          </a:prstGeom>
          <a:solidFill>
            <a:srgbClr val="255B9A"/>
          </a:solidFill>
          <a:ln w="1270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21933621" y="18864072"/>
            <a:ext cx="2233970" cy="33147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  <a:defRPr sz="710" b="1">
                <a:solidFill>
                  <a:srgbClr val="FFFFFF"/>
                </a:solidFill>
                <a:latin typeface="Segoe UI"/>
              </a:defRPr>
            </a:pPr>
            <a:r>
              <a:t>Ronda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3139928" y="19195542"/>
            <a:ext cx="4761555" cy="377190"/>
          </a:xfrm>
          <a:prstGeom prst="rect">
            <a:avLst/>
          </a:prstGeom>
          <a:solidFill>
            <a:srgbClr val="EEF2F7"/>
          </a:solidFill>
          <a:ln w="1270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3185648" y="19241262"/>
            <a:ext cx="4670115" cy="33147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  <a:defRPr sz="710" b="0">
                <a:solidFill>
                  <a:srgbClr val="1E2226"/>
                </a:solidFill>
                <a:latin typeface="Segoe UI"/>
              </a:defRPr>
            </a:pPr>
            <a:r>
              <a:t>RN + ASCON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7901483" y="19195542"/>
            <a:ext cx="1993209" cy="377190"/>
          </a:xfrm>
          <a:prstGeom prst="rect">
            <a:avLst/>
          </a:prstGeom>
          <a:solidFill>
            <a:srgbClr val="EEF2F7"/>
          </a:solidFill>
          <a:ln w="1270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7947203" y="19241262"/>
            <a:ext cx="1901769" cy="33147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  <a:defRPr sz="710" b="0">
                <a:solidFill>
                  <a:srgbClr val="1E2226"/>
                </a:solidFill>
                <a:latin typeface="Segoe UI"/>
              </a:defRPr>
            </a:pPr>
            <a:r>
              <a:t>94.63%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9894692" y="19195542"/>
            <a:ext cx="1993209" cy="377190"/>
          </a:xfrm>
          <a:prstGeom prst="rect">
            <a:avLst/>
          </a:prstGeom>
          <a:solidFill>
            <a:srgbClr val="EEF2F7"/>
          </a:solidFill>
          <a:ln w="1270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9940412" y="19241262"/>
            <a:ext cx="1901769" cy="33147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  <a:defRPr sz="710" b="0">
                <a:solidFill>
                  <a:srgbClr val="1E2226"/>
                </a:solidFill>
                <a:latin typeface="Segoe UI"/>
              </a:defRPr>
            </a:pPr>
            <a:r>
              <a:t>0.1415</a:t>
            </a:r>
          </a:p>
        </p:txBody>
      </p:sp>
      <p:sp>
        <p:nvSpPr>
          <p:cNvPr id="73" name="Rectangle 72"/>
          <p:cNvSpPr/>
          <p:nvPr/>
        </p:nvSpPr>
        <p:spPr>
          <a:xfrm>
            <a:off x="21887901" y="19195542"/>
            <a:ext cx="2325410" cy="377190"/>
          </a:xfrm>
          <a:prstGeom prst="rect">
            <a:avLst/>
          </a:prstGeom>
          <a:solidFill>
            <a:srgbClr val="EEF2F7"/>
          </a:solidFill>
          <a:ln w="1270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21933621" y="19241262"/>
            <a:ext cx="2233970" cy="33147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  <a:defRPr sz="710" b="0">
                <a:solidFill>
                  <a:srgbClr val="1E2226"/>
                </a:solidFill>
                <a:latin typeface="Segoe UI"/>
              </a:defRPr>
            </a:pPr>
            <a:r>
              <a:t>61.25 s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3139928" y="19572732"/>
            <a:ext cx="4761555" cy="377190"/>
          </a:xfrm>
          <a:prstGeom prst="rect">
            <a:avLst/>
          </a:prstGeom>
          <a:solidFill>
            <a:srgbClr val="FFFFFF"/>
          </a:solidFill>
          <a:ln w="1270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13185648" y="19618452"/>
            <a:ext cx="4670115" cy="33147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  <a:defRPr sz="710" b="0">
                <a:solidFill>
                  <a:srgbClr val="1E2226"/>
                </a:solidFill>
                <a:latin typeface="Segoe UI"/>
              </a:defRPr>
            </a:pPr>
            <a:r>
              <a:t>RN sin ASCON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7901483" y="19572732"/>
            <a:ext cx="1993209" cy="377190"/>
          </a:xfrm>
          <a:prstGeom prst="rect">
            <a:avLst/>
          </a:prstGeom>
          <a:solidFill>
            <a:srgbClr val="FFFFFF"/>
          </a:solidFill>
          <a:ln w="1270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7947203" y="19618452"/>
            <a:ext cx="1901769" cy="33147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  <a:defRPr sz="710" b="0">
                <a:solidFill>
                  <a:srgbClr val="1E2226"/>
                </a:solidFill>
                <a:latin typeface="Segoe UI"/>
              </a:defRPr>
            </a:pPr>
            <a:r>
              <a:t>92.98%</a:t>
            </a:r>
          </a:p>
        </p:txBody>
      </p:sp>
      <p:sp>
        <p:nvSpPr>
          <p:cNvPr id="79" name="Rectangle 78"/>
          <p:cNvSpPr/>
          <p:nvPr/>
        </p:nvSpPr>
        <p:spPr>
          <a:xfrm>
            <a:off x="19894692" y="19572732"/>
            <a:ext cx="1993209" cy="377190"/>
          </a:xfrm>
          <a:prstGeom prst="rect">
            <a:avLst/>
          </a:prstGeom>
          <a:solidFill>
            <a:srgbClr val="FFFFFF"/>
          </a:solidFill>
          <a:ln w="1270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19940412" y="19618452"/>
            <a:ext cx="1901769" cy="33147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  <a:defRPr sz="710" b="0">
                <a:solidFill>
                  <a:srgbClr val="1E2226"/>
                </a:solidFill>
                <a:latin typeface="Segoe UI"/>
              </a:defRPr>
            </a:pPr>
            <a:r>
              <a:t>0.1581</a:t>
            </a:r>
          </a:p>
        </p:txBody>
      </p:sp>
      <p:sp>
        <p:nvSpPr>
          <p:cNvPr id="81" name="Rectangle 80"/>
          <p:cNvSpPr/>
          <p:nvPr/>
        </p:nvSpPr>
        <p:spPr>
          <a:xfrm>
            <a:off x="21887901" y="19572732"/>
            <a:ext cx="2325410" cy="377190"/>
          </a:xfrm>
          <a:prstGeom prst="rect">
            <a:avLst/>
          </a:prstGeom>
          <a:solidFill>
            <a:srgbClr val="FFFFFF"/>
          </a:solidFill>
          <a:ln w="1270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21933621" y="19618452"/>
            <a:ext cx="2233970" cy="33147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  <a:defRPr sz="710" b="0">
                <a:solidFill>
                  <a:srgbClr val="1E2226"/>
                </a:solidFill>
                <a:latin typeface="Segoe UI"/>
              </a:defRPr>
            </a:pPr>
            <a:r>
              <a:t>51.01 s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3139928" y="19949922"/>
            <a:ext cx="4761555" cy="377190"/>
          </a:xfrm>
          <a:prstGeom prst="rect">
            <a:avLst/>
          </a:prstGeom>
          <a:solidFill>
            <a:srgbClr val="EEF2F7"/>
          </a:solidFill>
          <a:ln w="1270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3185648" y="19995642"/>
            <a:ext cx="4670115" cy="33147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  <a:defRPr sz="710" b="0">
                <a:solidFill>
                  <a:srgbClr val="1E2226"/>
                </a:solidFill>
                <a:latin typeface="Segoe UI"/>
              </a:defRPr>
            </a:pPr>
            <a:r>
              <a:t>CNN-1D + FOG</a:t>
            </a:r>
          </a:p>
        </p:txBody>
      </p:sp>
      <p:sp>
        <p:nvSpPr>
          <p:cNvPr id="85" name="Rectangle 84"/>
          <p:cNvSpPr/>
          <p:nvPr/>
        </p:nvSpPr>
        <p:spPr>
          <a:xfrm>
            <a:off x="17901483" y="19949922"/>
            <a:ext cx="1993209" cy="377190"/>
          </a:xfrm>
          <a:prstGeom prst="rect">
            <a:avLst/>
          </a:prstGeom>
          <a:solidFill>
            <a:srgbClr val="EEF2F7"/>
          </a:solidFill>
          <a:ln w="1270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17947203" y="19995642"/>
            <a:ext cx="1901769" cy="33147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  <a:defRPr sz="710" b="0">
                <a:solidFill>
                  <a:srgbClr val="1E2226"/>
                </a:solidFill>
                <a:latin typeface="Segoe UI"/>
              </a:defRPr>
            </a:pPr>
            <a:r>
              <a:t>97.50%</a:t>
            </a:r>
          </a:p>
        </p:txBody>
      </p:sp>
      <p:sp>
        <p:nvSpPr>
          <p:cNvPr id="87" name="Rectangle 86"/>
          <p:cNvSpPr/>
          <p:nvPr/>
        </p:nvSpPr>
        <p:spPr>
          <a:xfrm>
            <a:off x="19894692" y="19949922"/>
            <a:ext cx="1993209" cy="377190"/>
          </a:xfrm>
          <a:prstGeom prst="rect">
            <a:avLst/>
          </a:prstGeom>
          <a:solidFill>
            <a:srgbClr val="EEF2F7"/>
          </a:solidFill>
          <a:ln w="1270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19940412" y="19995642"/>
            <a:ext cx="1901769" cy="33147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  <a:defRPr sz="710" b="0">
                <a:solidFill>
                  <a:srgbClr val="1E2226"/>
                </a:solidFill>
                <a:latin typeface="Segoe UI"/>
              </a:defRPr>
            </a:pPr>
            <a:r>
              <a:t>0.0910</a:t>
            </a:r>
          </a:p>
        </p:txBody>
      </p:sp>
      <p:sp>
        <p:nvSpPr>
          <p:cNvPr id="89" name="Rectangle 88"/>
          <p:cNvSpPr/>
          <p:nvPr/>
        </p:nvSpPr>
        <p:spPr>
          <a:xfrm>
            <a:off x="21887901" y="19949922"/>
            <a:ext cx="2325410" cy="377190"/>
          </a:xfrm>
          <a:prstGeom prst="rect">
            <a:avLst/>
          </a:prstGeom>
          <a:solidFill>
            <a:srgbClr val="EEF2F7"/>
          </a:solidFill>
          <a:ln w="1270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21933621" y="19995642"/>
            <a:ext cx="2233970" cy="33147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  <a:defRPr sz="710" b="0">
                <a:solidFill>
                  <a:srgbClr val="1E2226"/>
                </a:solidFill>
                <a:latin typeface="Segoe UI"/>
              </a:defRPr>
            </a:pPr>
            <a:r>
              <a:t>58.61 s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3139928" y="20519136"/>
            <a:ext cx="11073384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spcAft>
                <a:spcPts val="0"/>
              </a:spcAft>
              <a:defRPr sz="780" b="1">
                <a:solidFill>
                  <a:srgbClr val="1E2226"/>
                </a:solidFill>
                <a:latin typeface="Segoe UI"/>
              </a:defRPr>
            </a:pPr>
            <a:r>
              <a:t>Evolución temporal de accuracy/loss y magnitud de pesos</a:t>
            </a:r>
          </a:p>
        </p:txBody>
      </p:sp>
      <p:pic>
        <p:nvPicPr>
          <p:cNvPr id="92" name="Picture 91" descr="hfl_v7_accuracy_loss_matrix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436036" y="20875752"/>
            <a:ext cx="4481167" cy="3063240"/>
          </a:xfrm>
          <a:prstGeom prst="rect">
            <a:avLst/>
          </a:prstGeom>
        </p:spPr>
      </p:pic>
      <p:pic>
        <p:nvPicPr>
          <p:cNvPr id="93" name="Picture 92" descr="hfl_v7_weight_magnitude_matrix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436036" y="24167592"/>
            <a:ext cx="4481167" cy="3063240"/>
          </a:xfrm>
          <a:prstGeom prst="rect">
            <a:avLst/>
          </a:prstGeom>
        </p:spPr>
      </p:pic>
      <p:sp>
        <p:nvSpPr>
          <p:cNvPr id="94" name="TextBox 93"/>
          <p:cNvSpPr txBox="1"/>
          <p:nvPr/>
        </p:nvSpPr>
        <p:spPr>
          <a:xfrm>
            <a:off x="13139928" y="27459432"/>
            <a:ext cx="11073384" cy="9144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  <a:defRPr sz="740" b="0">
                <a:solidFill>
                  <a:srgbClr val="5B636A"/>
                </a:solidFill>
                <a:latin typeface="Segoe UI"/>
              </a:defRPr>
            </a:pPr>
            <a:r>
              <a:t>ASCON añade ~36% de tamaño por mensaje, pero el costo temporal medido es ~42 ms por ronda, equivalente a ~0.06% del ciclo FL.</a:t>
            </a:r>
          </a:p>
        </p:txBody>
      </p:sp>
      <p:pic>
        <p:nvPicPr>
          <p:cNvPr id="95" name="Picture 94" descr="template_bar_blue_hal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847320" y="29306519"/>
            <a:ext cx="11658600" cy="475488"/>
          </a:xfrm>
          <a:prstGeom prst="rect">
            <a:avLst/>
          </a:prstGeom>
        </p:spPr>
      </p:pic>
      <p:sp>
        <p:nvSpPr>
          <p:cNvPr id="96" name="TextBox 95"/>
          <p:cNvSpPr txBox="1"/>
          <p:nvPr/>
        </p:nvSpPr>
        <p:spPr>
          <a:xfrm>
            <a:off x="13103352" y="29416247"/>
            <a:ext cx="11146536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  <a:defRPr sz="1260" b="1">
                <a:solidFill>
                  <a:srgbClr val="FFFFFF"/>
                </a:solidFill>
                <a:latin typeface="Segoe UI"/>
              </a:defRPr>
            </a:pPr>
            <a:r>
              <a:t>Conclusiones</a:t>
            </a:r>
          </a:p>
        </p:txBody>
      </p:sp>
      <p:sp>
        <p:nvSpPr>
          <p:cNvPr id="97" name="Rectangle 96"/>
          <p:cNvSpPr/>
          <p:nvPr/>
        </p:nvSpPr>
        <p:spPr>
          <a:xfrm>
            <a:off x="12847320" y="29782008"/>
            <a:ext cx="11658600" cy="4050791"/>
          </a:xfrm>
          <a:prstGeom prst="rect">
            <a:avLst/>
          </a:prstGeom>
          <a:solidFill>
            <a:srgbClr val="FFFFFF"/>
          </a:solidFill>
          <a:ln w="12700">
            <a:solidFill>
              <a:srgbClr val="787878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13139928" y="30019752"/>
            <a:ext cx="11073384" cy="364845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  <a:defRPr sz="780" b="0">
                <a:solidFill>
                  <a:srgbClr val="1E2226"/>
                </a:solidFill>
                <a:latin typeface="Segoe UI"/>
              </a:defRPr>
            </a:pPr>
            <a:r>
              <a:t>• La arquitectura HFL bidireccional fue validada en hardware real ESP32-S3, Raspberry Pi y PC.</a:t>
            </a:r>
          </a:p>
          <a:p>
            <a:pPr algn="l">
              <a:spcAft>
                <a:spcPts val="0"/>
              </a:spcAft>
              <a:defRPr sz="780" b="0">
                <a:solidFill>
                  <a:srgbClr val="1E2226"/>
                </a:solidFill>
                <a:latin typeface="Segoe UI"/>
              </a:defRPr>
            </a:pPr>
            <a:r>
              <a:t>• El MLP/RN ofrece el mejor balance entre simplicidad edge, memoria e inferencia.</a:t>
            </a:r>
          </a:p>
          <a:p>
            <a:pPr algn="l">
              <a:spcAft>
                <a:spcPts val="0"/>
              </a:spcAft>
              <a:defRPr sz="780" b="0">
                <a:solidFill>
                  <a:srgbClr val="1E2226"/>
                </a:solidFill>
                <a:latin typeface="Segoe UI"/>
              </a:defRPr>
            </a:pPr>
            <a:r>
              <a:t>• CNN-1D+FOG obtuvo el mejor accuracy promedio, aunque con mayor complejidad de implementación.</a:t>
            </a:r>
          </a:p>
          <a:p>
            <a:pPr algn="l">
              <a:spcAft>
                <a:spcPts val="0"/>
              </a:spcAft>
              <a:defRPr sz="780" b="0">
                <a:solidFill>
                  <a:srgbClr val="1E2226"/>
                </a:solidFill>
                <a:latin typeface="Segoe UI"/>
              </a:defRPr>
            </a:pPr>
            <a:r>
              <a:t>• ASCON-128 protege el ciclo federado con overhead temporal despreciable.</a:t>
            </a:r>
          </a:p>
          <a:p>
            <a:pPr algn="l">
              <a:spcAft>
                <a:spcPts val="0"/>
              </a:spcAft>
              <a:defRPr sz="780" b="0">
                <a:solidFill>
                  <a:srgbClr val="1E2226"/>
                </a:solidFill>
                <a:latin typeface="Segoe UI"/>
              </a:defRPr>
            </a:pPr>
            <a:r>
              <a:t>• Trabajo futuro: más gateways, datos non-IID reales y pruebas adversariales de poisoning.</a:t>
            </a:r>
          </a:p>
        </p:txBody>
      </p:sp>
      <p:sp>
        <p:nvSpPr>
          <p:cNvPr id="99" name="Rectangle 98"/>
          <p:cNvSpPr/>
          <p:nvPr/>
        </p:nvSpPr>
        <p:spPr>
          <a:xfrm>
            <a:off x="0" y="34610040"/>
            <a:ext cx="25200864" cy="822960"/>
          </a:xfrm>
          <a:prstGeom prst="rect">
            <a:avLst/>
          </a:prstGeom>
          <a:solidFill>
            <a:srgbClr val="F1DACE"/>
          </a:solidFill>
          <a:ln w="12700">
            <a:solidFill>
              <a:srgbClr val="F1DA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3383280" y="34884360"/>
            <a:ext cx="18470880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spcAft>
                <a:spcPts val="0"/>
              </a:spcAft>
              <a:defRPr sz="710" b="1">
                <a:solidFill>
                  <a:srgbClr val="1E2226"/>
                </a:solidFill>
                <a:latin typeface="Segoe UI"/>
              </a:defRPr>
            </a:pPr>
            <a:r>
              <a:t>http://sistemas.uniandes.edu.co     /DISCuniandes     @ISISUniandes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