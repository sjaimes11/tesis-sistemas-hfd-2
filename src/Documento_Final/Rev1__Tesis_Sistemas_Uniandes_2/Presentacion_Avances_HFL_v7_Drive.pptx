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Desempeño offline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6547C"/>
            </a:solidFill>
          </c:spPr>
          <c:cat>
            <c:strRef>
              <c:f>Sheet1!$A$2:$A$5</c:f>
              <c:strCache>
                <c:ptCount val="4"/>
                <c:pt idx="0">
                  <c:v>MLP/RN</c:v>
                </c:pt>
                <c:pt idx="1">
                  <c:v>Residual</c:v>
                </c:pt>
                <c:pt idx="2">
                  <c:v>CNN-1D</c:v>
                </c:pt>
                <c:pt idx="3">
                  <c:v>Transformer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0.906</c:v>
                </c:pt>
                <c:pt idx="1">
                  <c:v>0.9055</c:v>
                </c:pt>
                <c:pt idx="2">
                  <c:v>0.9051</c:v>
                </c:pt>
                <c:pt idx="3">
                  <c:v>0.8903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weighted</c:v>
                </c:pt>
              </c:strCache>
            </c:strRef>
          </c:tx>
          <c:spPr>
            <a:solidFill>
              <a:srgbClr val="C44536"/>
            </a:solidFill>
          </c:spPr>
          <c:cat>
            <c:strRef>
              <c:f>Sheet1!$A$2:$A$5</c:f>
              <c:strCache>
                <c:ptCount val="4"/>
                <c:pt idx="0">
                  <c:v>MLP/RN</c:v>
                </c:pt>
                <c:pt idx="1">
                  <c:v>Residual</c:v>
                </c:pt>
                <c:pt idx="2">
                  <c:v>CNN-1D</c:v>
                </c:pt>
                <c:pt idx="3">
                  <c:v>Transformer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0.9049</c:v>
                </c:pt>
                <c:pt idx="1">
                  <c:v>0.9044</c:v>
                </c:pt>
                <c:pt idx="2">
                  <c:v>0.9041</c:v>
                </c:pt>
                <c:pt idx="3">
                  <c:v>0.8919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2"/>
          <c:min val="0.86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Accuracy global final promedio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final</c:v>
                </c:pt>
              </c:strCache>
            </c:strRef>
          </c:tx>
          <c:dPt>
            <c:idx val="0"/>
            <c:spPr>
              <a:solidFill>
                <a:srgbClr val="26547C"/>
              </a:solidFill>
            </c:spPr>
          </c:dPt>
          <c:dPt>
            <c:idx val="1"/>
            <c:spPr>
              <a:solidFill>
                <a:srgbClr val="C44536"/>
              </a:solidFill>
            </c:spPr>
          </c:dPt>
          <c:dPt>
            <c:idx val="2"/>
            <c:spPr>
              <a:solidFill>
                <a:srgbClr val="4B7F52"/>
              </a:solidFill>
            </c:spPr>
          </c:dPt>
          <c:cat>
            <c:strRef>
              <c:f>Sheet1!$A$2:$A$4</c:f>
              <c:strCache>
                <c:ptCount val="3"/>
                <c:pt idx="0">
                  <c:v>RN + ASCON</c:v>
                </c:pt>
                <c:pt idx="1">
                  <c:v>RN sin ASCON</c:v>
                </c:pt>
                <c:pt idx="2">
                  <c:v>CNN FOG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0.9463</c:v>
                </c:pt>
                <c:pt idx="1">
                  <c:v>0.9298</c:v>
                </c:pt>
                <c:pt idx="2">
                  <c:v>0.975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88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4114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2C230"/>
                </a:solidFill>
                <a:latin typeface="Aptos"/>
              </a:rPr>
              <a:t>Avances HFL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IDS IoT con TinyML,</a:t>
            </a:r>
            <a:br/>
            <a:r>
              <a:t>aprendizaje federado</a:t>
            </a:r>
            <a:br/>
            <a:r>
              <a:t>y ASCON-128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68112"/>
            <a:ext cx="7863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ESP32-S3 -&gt; Raspberry Pi -&gt; PC | RN, CNN, no-ASCON y FOG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6217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151515"/>
                </a:solidFill>
                <a:latin typeface="Aptos"/>
              </a:rPr>
              <a:t>Santiago Alejandro Jaimes Puerto · Nicolas Casas Ibarra</a:t>
            </a:r>
          </a:p>
        </p:txBody>
      </p:sp>
      <p:pic>
        <p:nvPicPr>
          <p:cNvPr id="8" name="Picture 7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559552"/>
            <a:ext cx="960120" cy="5491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2423160"/>
            <a:ext cx="960120" cy="475488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834640"/>
            <a:ext cx="960120" cy="475488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Fog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423160"/>
            <a:ext cx="960120" cy="475488"/>
          </a:xfrm>
          <a:prstGeom prst="roundRect">
            <a:avLst/>
          </a:prstGeom>
          <a:solidFill>
            <a:srgbClr val="C44536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CAMBIO DE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Del plan v5 al sistema v7 implementado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5E6470"/>
                </a:solidFill>
                <a:latin typeface="Apto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A9D8F"/>
                </a:solidFill>
                <a:latin typeface="Aptos"/>
              </a:rPr>
              <a:t>Ahora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55448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057400"/>
            <a:ext cx="155448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971800"/>
            <a:ext cx="164592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 broker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971800"/>
            <a:ext cx="164592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 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31343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43200" y="2606040"/>
            <a:ext cx="685800" cy="36576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80" y="3227832"/>
            <a:ext cx="22860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1965960"/>
            <a:ext cx="1463040" cy="50292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ESP32-S3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965960"/>
            <a:ext cx="1737360" cy="50292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51515"/>
                </a:solidFill>
                <a:latin typeface="Aptos"/>
              </a:rPr>
              <a:t>Raspberry 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965960"/>
            <a:ext cx="1143000" cy="502920"/>
          </a:xfrm>
          <a:prstGeom prst="roundRect">
            <a:avLst/>
          </a:prstGeom>
          <a:solidFill>
            <a:srgbClr val="C44536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222199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38360" y="222199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09560" y="2880360"/>
            <a:ext cx="1143000" cy="438912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10 clases y cliente separado quedaron como antecedente.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v7 trabaja con 3 clases MQTT y 13 features de flujo.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La comparación real cambia modelo, cifrado y topología.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605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RN/MLP con ASCON como rama principal.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Baseline sin ASCON para medir overhead.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CNN-1D y FOG como variantes de arquitectura.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EDGE--FOG--CLOUD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Arquitectura HFL bidireccional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828800"/>
            <a:ext cx="2331720" cy="59436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ESP32-S3</a:t>
            </a:r>
            <a:br/>
            <a:r>
              <a:t>Inferencia TinyML</a:t>
            </a:r>
            <a:br/>
            <a:r>
              <a:t>MQTT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2331720" cy="59436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151515"/>
                </a:solidFill>
                <a:latin typeface="Aptos"/>
              </a:rPr>
              <a:t>Fog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Raspberry Pi</a:t>
            </a:r>
            <a:br/>
            <a:r>
              <a:t>Entrenamiento local</a:t>
            </a:r>
            <a:br/>
            <a:r>
              <a:t>Broker + FedAvg fog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28800"/>
            <a:ext cx="2331720" cy="59436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PC FastAPI</a:t>
            </a:r>
            <a:br/>
            <a:r>
              <a:t>FedAvg global</a:t>
            </a:r>
            <a:br/>
            <a:r>
              <a:t>Dashboard + 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148840"/>
            <a:ext cx="118872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2148840"/>
            <a:ext cx="137160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720840" y="3931920"/>
            <a:ext cx="137160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154680" y="3931920"/>
            <a:ext cx="118872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8800" y="1417320"/>
            <a:ext cx="4937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A9D8F"/>
                </a:solidFill>
                <a:latin typeface="Aptos"/>
              </a:rPr>
              <a:t>Bottom-up: features -&gt; entrenamiento local -&gt; pesos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187952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C44536"/>
                </a:solidFill>
                <a:latin typeface="Aptos"/>
              </a:rPr>
              <a:t>Top-down: modelo global -&gt; gateway -&gt; ESP32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Topics: fl/features, fl/global_model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Endpoints: /aggregate-from-gateway, /deploy-model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FOG: fog/weights y fog/global_model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DATASET TRICLASE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Datos y problema de clasificación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61264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286000"/>
                <a:gridCol w="1005840"/>
                <a:gridCol w="150876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Clase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Archivo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Flujos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Señal principal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uniflow_normal.csv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171,837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MQTT/TCP benigno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mqtt_bruteforce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uniflow_mqtt_bruteforce.csv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33,080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PSH y paquetes altos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scan_A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uniflow_scan_A.csv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51,359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Pocos paquetes, tamaño bajo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371600"/>
            <a:ext cx="1828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2A9D8F"/>
                </a:solidFill>
                <a:latin typeface="Aptos"/>
              </a:rPr>
              <a:t>13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0574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num_pkts, num_bytes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mean/std/min/max IAT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mean/std/min/max packet length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PSH, RST y URG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51515"/>
                </a:solidFill>
                <a:latin typeface="Aptos"/>
              </a:rPr>
              <a:t>Etiquetado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pkts &gt;= 50 y PSH &gt;= 10 -&gt; bruteforce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pkts &lt;= 5, pkt_len &lt;= 50 y PSH &lt;= 1 -&gt; scan_A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pkts &lt;= 30 y pkt_len &gt;= 50 -&gt;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NOTEBOOK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Modelos probados antes del despliegue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417320"/>
          <a:ext cx="64008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160020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MLP/RN queda como rama principal por balance.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CNN-1D se implementa para comparar arquitectura.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Transformer se conserva como experimento offline.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Todos exportan pesos, scaler y label_map.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4800600"/>
            <a:ext cx="36576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26547C"/>
                </a:solidFill>
                <a:latin typeface="Aptos"/>
              </a:rPr>
              <a:t>Decisión: federar solo las capas finales para reducir comunicación.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PROCESO POR RONDA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Entrenamiento federado implementado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ESP32 envía features cada 5 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1737360"/>
            <a:ext cx="41148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Gateway acumula 40 muestras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1737360"/>
            <a:ext cx="411479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244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Entrena 5 épocas, batch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Envía 163 parámetros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3566160"/>
            <a:ext cx="41148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PC aplica FedAvg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3566160"/>
            <a:ext cx="411479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9244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Modelo global vuelve al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9875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26547C"/>
                </a:solidFill>
                <a:latin typeface="Aptos"/>
              </a:rPr>
              <a:t>El modelo completo tiene 1,139 parámetros; el ciclo federado comparte solo W3, b3, W4 y b4.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ASCON-128 protege el ciclo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6355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737360"/>
                <a:gridCol w="1828800"/>
                <a:gridCol w="146304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Canal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Contenido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Modo RN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ESP32 -&gt; RPi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Features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plain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RPi -&gt; PC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Pesos + métricas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+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plain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PC -&gt; RPi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Modelo global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plain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RPi -&gt; ESP32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Modelo global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+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plain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92440" y="1417320"/>
            <a:ext cx="1920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2A9D8F"/>
                </a:solidFill>
                <a:latin typeface="Aptos"/>
              </a:rPr>
              <a:t>&lt; 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9339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51515"/>
                </a:solidFill>
                <a:latin typeface="Aptos"/>
              </a:rPr>
              <a:t>overhead temporal relativo por ronda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971800"/>
            <a:ext cx="1920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C44536"/>
                </a:solidFill>
                <a:latin typeface="Aptos"/>
              </a:rPr>
              <a:t>~36%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54787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51515"/>
                </a:solidFill>
                <a:latin typeface="Aptos"/>
              </a:rPr>
              <a:t>incremento de tamaño por mensaje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97840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26547C"/>
                </a:solidFill>
                <a:latin typeface="Aptos"/>
              </a:rPr>
              <a:t>La rama no-ASCON permite medir el costo del cifrado sin cambiar el resto de la arquitectura.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AGREGACIÓN INTERMEDIA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Estrategia FOG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2194560"/>
            <a:ext cx="1645920" cy="54864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Gateway A</a:t>
            </a:r>
            <a:br/>
            <a:r>
              <a:t>leader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1645920" cy="54864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Gateway B</a:t>
            </a:r>
            <a:br/>
            <a:r>
              <a:t>peer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063240"/>
            <a:ext cx="1828800" cy="68580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151515"/>
                </a:solidFill>
                <a:latin typeface="Aptos"/>
              </a:rPr>
              <a:t>Fog FedAvg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063240"/>
            <a:ext cx="1645920" cy="68580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PC</a:t>
            </a:r>
            <a:br/>
            <a:r>
              <a:t>Cloud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468880"/>
            <a:ext cx="2331720" cy="77724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14600" y="3520440"/>
            <a:ext cx="2331720" cy="82296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3401568"/>
            <a:ext cx="246888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675120" y="3886200"/>
            <a:ext cx="246888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08960" y="242316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2A9D8F"/>
                </a:solidFill>
                <a:latin typeface="Aptos"/>
              </a:rPr>
              <a:t>fog/weights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63240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2A9D8F"/>
                </a:solidFill>
                <a:latin typeface="Aptos"/>
              </a:rPr>
              <a:t>/aggregate-from-fog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041648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C44536"/>
                </a:solidFill>
                <a:latin typeface="Aptos"/>
              </a:rPr>
              <a:t>fog/global_model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líder agrega pesos locales y pesos peer.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PC recibe una actualización preagregada.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modelo global se redistribuye a peers y ESP32.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EVIDENCIA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Resultados de las variantes v7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566928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508760"/>
          <a:ext cx="4206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822960"/>
                <a:gridCol w="100584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Variante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Intentos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Loss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Ronda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RN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0.1415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61.25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RN sin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0.1581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51.01 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CNN FOG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0.0910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58.61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160520"/>
            <a:ext cx="41605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26547C"/>
                </a:solidFill>
                <a:latin typeface="Aptos"/>
              </a:rPr>
              <a:t>Lectura: ASCON no rompe la convergencia; FOG y CNN funcionan, pero el MLP/RN conserva la ruta más simple para defender.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COMPARACIÓN TEMPORAL 2X2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Curvas de accuracy y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pic>
        <p:nvPicPr>
          <p:cNvPr id="6" name="Picture 5" descr="hfl_v7_accuracy_loss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0432"/>
            <a:ext cx="7624672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55448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RN + ASCON y no-ASCON mantienen accuracy alto con oscilaciones controladas.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CNN y CNN_FOG muestran recuperación progresiva después de las primeras rondas.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La lectura temporal evita depender solo del último punto de cada corrida.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4983480"/>
            <a:ext cx="30632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6547C"/>
                </a:solidFill>
                <a:latin typeface="Aptos"/>
              </a:rPr>
              <a:t>La matriz compara dinámica, no solo promedio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ESTABILIDAD DE ACTUALIZACIONES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Magnitud de pesos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pic>
        <p:nvPicPr>
          <p:cNvPr id="6" name="Picture 5" descr="hfl_v7_weight_magnitud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0432"/>
            <a:ext cx="7624672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55448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Las curvas se mantienen acotadas en las cuatro variantes.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CNN/CNN_FOG desplazan más la magnitud de pesos de salida.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No se observa divergencia durante las rondas analizadas.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4983480"/>
            <a:ext cx="30632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A9D8F"/>
                </a:solidFill>
                <a:latin typeface="Aptos"/>
              </a:rPr>
              <a:t>Sirve como evidencia de estabilidad del ciclo HFL.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CAMBIOS INCORPORADOS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Paper actualizado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5087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Introducción y objetivos alineados con v7 real: ESP32-S3, Raspberry Pi 4 y PC.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Marco teórico depurado: TinyML, HFL, ASCON y FOG.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Metodología ampliada: RN/MLP, CNN, no-ASCON, FOG y notebook de entrenamiento.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Resultados actualizados con comparación offline y métricas de variantes.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Conclusiones ajustadas: arquitectura modular y validación del ciclo bidireccional.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9875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A9D8F"/>
                </a:solidFill>
                <a:latin typeface="Aptos"/>
              </a:rPr>
              <a:t>El PDF ya compila con Tectonic: build/EncabezadoTesisMSc.pdf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Mensaje para la reunión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417320"/>
            <a:ext cx="4114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51515"/>
                </a:solidFill>
                <a:latin typeface="Aptos"/>
              </a:rPr>
              <a:t>Lo que ya podemos mostrar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HFL bidireccional funcionando en Edge--Fog--Cloud.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Tres variantes comparables: RN, no-ASCON y CNN.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Modo FOG implementado para agregación entre gateways.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ASCON medido contra baseline y viable en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17320"/>
            <a:ext cx="4114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C44536"/>
                </a:solidFill>
                <a:latin typeface="Aptos"/>
              </a:rPr>
              <a:t>Pendientes honestos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Mejorar redacción final y uniformar nombres de ramas.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Reducir overfull boxes del LaTeX si se entrega versión final.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Agregar fotos/hardware real si el profesor pide evidencia visual.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Cerrar pendientes de redacción, tablas y anexos.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Tesis técnica: un IDS IoT federado, cifrado y modular puede operar sobre hardware de borde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