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CO"/>
              <a:t>Desempeño offline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MLP/RN</c:v>
                </c:pt>
                <c:pt idx="1">
                  <c:v>Residual</c:v>
                </c:pt>
                <c:pt idx="2">
                  <c:v>CNN-1D</c:v>
                </c:pt>
                <c:pt idx="3">
                  <c:v>Transformer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0.90600000000000003</c:v>
                </c:pt>
                <c:pt idx="1">
                  <c:v>0.90549999999999997</c:v>
                </c:pt>
                <c:pt idx="2">
                  <c:v>0.90510000000000002</c:v>
                </c:pt>
                <c:pt idx="3">
                  <c:v>0.89029999999999998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9E-4086-8042-3E991BC948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weighted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MLP/RN</c:v>
                </c:pt>
                <c:pt idx="1">
                  <c:v>Residual</c:v>
                </c:pt>
                <c:pt idx="2">
                  <c:v>CNN-1D</c:v>
                </c:pt>
                <c:pt idx="3">
                  <c:v>Transformer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0.90490000000000004</c:v>
                </c:pt>
                <c:pt idx="1">
                  <c:v>0.90439999999999998</c:v>
                </c:pt>
                <c:pt idx="2">
                  <c:v>0.90410000000000001</c:v>
                </c:pt>
                <c:pt idx="3">
                  <c:v>0.89190000000000003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9E-4086-8042-3E991BC94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2"/>
          <c:min val="0.86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50955195270730036"/>
          <c:y val="0.15341675992660556"/>
          <c:w val="0.45157495504034217"/>
          <c:h val="7.7868035824187373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CO"/>
              <a:t>Accuracy global final promedio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final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RN + ASCON</c:v>
                </c:pt>
                <c:pt idx="1">
                  <c:v>RN sin ASCON</c:v>
                </c:pt>
                <c:pt idx="2">
                  <c:v>CNN FOG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0.94630000000000003</c:v>
                </c:pt>
                <c:pt idx="1">
                  <c:v>0.92979999999999996</c:v>
                </c:pt>
                <c:pt idx="2">
                  <c:v>0.97499999999999998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5F-4228-83CB-8D997A445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88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4114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2C230"/>
                </a:solidFill>
                <a:latin typeface="Aptos"/>
              </a:rPr>
              <a:t>Avances HFL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IDS IoT con TinyML,</a:t>
            </a:r>
            <a:br/>
            <a:r>
              <a:t>aprendizaje federado</a:t>
            </a:r>
            <a:br/>
            <a:r>
              <a:t>y ASCON-128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68112"/>
            <a:ext cx="786384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ESP32-S3 -&gt; Raspberry Pi -&gt; PC | RN, CNN, no-ASCON y FOG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621792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0">
                <a:solidFill>
                  <a:srgbClr val="151515"/>
                </a:solidFill>
                <a:latin typeface="Aptos"/>
              </a:rPr>
              <a:t>Santiago Alejandro Jaimes Puerto · Nicolas Casas Ibarra</a:t>
            </a:r>
          </a:p>
        </p:txBody>
      </p:sp>
      <p:pic>
        <p:nvPicPr>
          <p:cNvPr id="8" name="Picture 7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559552"/>
            <a:ext cx="960120" cy="5491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2423160"/>
            <a:ext cx="960120" cy="475488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834640"/>
            <a:ext cx="960120" cy="475488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Fog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423160"/>
            <a:ext cx="960120" cy="475488"/>
          </a:xfrm>
          <a:prstGeom prst="roundRect">
            <a:avLst/>
          </a:prstGeom>
          <a:solidFill>
            <a:srgbClr val="C44536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CAMBIO DE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Del plan v5 al sistema v7 implementado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109728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800" b="1">
                <a:solidFill>
                  <a:srgbClr val="5E6470"/>
                </a:solidFill>
                <a:latin typeface="Apto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109728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Ahora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55448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057400"/>
            <a:ext cx="155448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971800"/>
            <a:ext cx="164592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971800"/>
            <a:ext cx="164592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 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31343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43200" y="2606040"/>
            <a:ext cx="685800" cy="36576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0" y="3227832"/>
            <a:ext cx="22860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1965960"/>
            <a:ext cx="1463040" cy="50292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ESP32-S3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1737360" cy="50292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Aptos"/>
              </a:rPr>
              <a:t>Raspberry 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965960"/>
            <a:ext cx="1143000" cy="502920"/>
          </a:xfrm>
          <a:prstGeom prst="roundRect">
            <a:avLst/>
          </a:prstGeom>
          <a:solidFill>
            <a:srgbClr val="C44536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222199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38360" y="222199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09560" y="2880360"/>
            <a:ext cx="1143000" cy="438912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10 clases y cliente separado quedaron como antecedente.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v7 trabaja con 3 clases MQTT y 13 features de flujo.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La comparación real cambia modelo, cifrado y topología.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605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RN/MLP con ASCON como rama principal.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Baseline sin ASCON para medir overhead.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CNN-1D y FOG como variantes de arquitectura.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EDGE--FOG--CLOUD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Arquitectura HFL bidireccional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836964"/>
            <a:ext cx="2331720" cy="5943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ESP32-S3</a:t>
            </a:r>
            <a:br/>
            <a:r>
              <a:t>Inferencia TinyML</a:t>
            </a:r>
            <a:br/>
            <a:r>
              <a:t>MQTT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2331720" cy="59436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151515"/>
                </a:solidFill>
                <a:latin typeface="Aptos"/>
              </a:rPr>
              <a:t>Fog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Raspberry Pi</a:t>
            </a:r>
            <a:br/>
            <a:r>
              <a:t>Entrenamiento local</a:t>
            </a:r>
            <a:br/>
            <a:r>
              <a:t>Broker + FedAvg fog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2331720" cy="59436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PC FastAPI</a:t>
            </a:r>
            <a:br/>
            <a:r>
              <a:t>FedAvg global</a:t>
            </a:r>
            <a:br/>
            <a:r>
              <a:t>Dashboard +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148840"/>
            <a:ext cx="118872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2148840"/>
            <a:ext cx="13716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720840" y="3931920"/>
            <a:ext cx="137160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154680" y="3931920"/>
            <a:ext cx="118872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8800" y="1417320"/>
            <a:ext cx="4937760" cy="2286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sz="1400" b="1">
                <a:solidFill>
                  <a:srgbClr val="2A9D8F"/>
                </a:solidFill>
                <a:latin typeface="Aptos"/>
              </a:rPr>
              <a:t>Bottom-up: features -&gt; entrenamiento local -&gt; pesos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187952"/>
            <a:ext cx="4754880" cy="2286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sz="1400" b="1">
                <a:solidFill>
                  <a:srgbClr val="C44536"/>
                </a:solidFill>
                <a:latin typeface="Aptos"/>
              </a:rPr>
              <a:t>Top-down: modelo global -&gt; gateway -&gt; ESP32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Topics: fl/features, fl/global_model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Endpoints: /aggregate-from-gateway, /deploy-model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FOG: fog/weights y fog/global_model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DATASET TRICLASE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Datos y problema de clasificación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61264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Clase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Archivo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Flujos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Señal principal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uniflow_normal.csv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171,837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MQTT/TCP benigno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mqtt_bruteforce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uniflow_mqtt_bruteforce.csv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33,080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PSH y paquetes altos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scan_A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uniflow_scan_A.csv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51,359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Pocos paquetes, tamaño bajo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371600"/>
            <a:ext cx="1828800" cy="45720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3100" b="1">
                <a:solidFill>
                  <a:srgbClr val="2A9D8F"/>
                </a:solidFill>
                <a:latin typeface="Aptos"/>
              </a:rPr>
              <a:t>13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5374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dirty="0" err="1">
                <a:solidFill>
                  <a:srgbClr val="151515"/>
                </a:solidFill>
                <a:latin typeface="Aptos"/>
              </a:rPr>
              <a:t>num_pkts</a:t>
            </a:r>
            <a:r>
              <a:rPr sz="1700" dirty="0">
                <a:solidFill>
                  <a:srgbClr val="151515"/>
                </a:solidFill>
                <a:latin typeface="Aptos"/>
              </a:rPr>
              <a:t>, </a:t>
            </a:r>
            <a:r>
              <a:rPr sz="1700" dirty="0" err="1">
                <a:solidFill>
                  <a:srgbClr val="151515"/>
                </a:solidFill>
                <a:latin typeface="Aptos"/>
              </a:rPr>
              <a:t>num_bytes</a:t>
            </a:r>
            <a:endParaRPr sz="1700" dirty="0">
              <a:solidFill>
                <a:srgbClr val="151515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151515"/>
                </a:solidFill>
                <a:latin typeface="Aptos"/>
              </a:rPr>
              <a:t>mean/std/min/max IAT</a:t>
            </a: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151515"/>
                </a:solidFill>
                <a:latin typeface="Aptos"/>
              </a:rPr>
              <a:t>mean/std/min/max packet length</a:t>
            </a: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151515"/>
                </a:solidFill>
                <a:latin typeface="Aptos"/>
              </a:rPr>
              <a:t>PSH, RST y URG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201168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800" b="1">
                <a:solidFill>
                  <a:srgbClr val="151515"/>
                </a:solidFill>
                <a:latin typeface="Aptos"/>
              </a:rPr>
              <a:t>Etiquetado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6572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dirty="0">
                <a:solidFill>
                  <a:srgbClr val="151515"/>
                </a:solidFill>
                <a:latin typeface="Aptos"/>
              </a:rPr>
              <a:t>pkts &gt;= 50 y PSH &gt;= 10 -&gt; </a:t>
            </a:r>
            <a:r>
              <a:rPr sz="1700" dirty="0" err="1">
                <a:solidFill>
                  <a:srgbClr val="151515"/>
                </a:solidFill>
                <a:latin typeface="Aptos"/>
              </a:rPr>
              <a:t>bruteforce</a:t>
            </a:r>
            <a:endParaRPr sz="1700" dirty="0">
              <a:solidFill>
                <a:srgbClr val="151515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151515"/>
                </a:solidFill>
                <a:latin typeface="Aptos"/>
              </a:rPr>
              <a:t>pkts &lt;= 5, </a:t>
            </a:r>
            <a:r>
              <a:rPr sz="1700" dirty="0" err="1">
                <a:solidFill>
                  <a:srgbClr val="151515"/>
                </a:solidFill>
                <a:latin typeface="Aptos"/>
              </a:rPr>
              <a:t>pkt_len</a:t>
            </a:r>
            <a:r>
              <a:rPr sz="1700" dirty="0">
                <a:solidFill>
                  <a:srgbClr val="151515"/>
                </a:solidFill>
                <a:latin typeface="Aptos"/>
              </a:rPr>
              <a:t> &lt;= 50 y PSH &lt;= 1 -&gt; </a:t>
            </a:r>
            <a:r>
              <a:rPr sz="1700" dirty="0" err="1">
                <a:solidFill>
                  <a:srgbClr val="151515"/>
                </a:solidFill>
                <a:latin typeface="Aptos"/>
              </a:rPr>
              <a:t>scan_A</a:t>
            </a:r>
            <a:endParaRPr sz="1700" dirty="0">
              <a:solidFill>
                <a:srgbClr val="151515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 dirty="0">
                <a:solidFill>
                  <a:srgbClr val="151515"/>
                </a:solidFill>
                <a:latin typeface="Aptos"/>
              </a:rPr>
              <a:t>pkts &lt;= 30 y </a:t>
            </a:r>
            <a:r>
              <a:rPr sz="1700" dirty="0" err="1">
                <a:solidFill>
                  <a:srgbClr val="151515"/>
                </a:solidFill>
                <a:latin typeface="Aptos"/>
              </a:rPr>
              <a:t>pkt_len</a:t>
            </a:r>
            <a:r>
              <a:rPr sz="1700" dirty="0">
                <a:solidFill>
                  <a:srgbClr val="151515"/>
                </a:solidFill>
                <a:latin typeface="Aptos"/>
              </a:rPr>
              <a:t> &gt;= 50 -&gt;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NOTEBOOK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Modelos probados antes del despliegue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363889"/>
              </p:ext>
            </p:extLst>
          </p:nvPr>
        </p:nvGraphicFramePr>
        <p:xfrm>
          <a:off x="502920" y="1417320"/>
          <a:ext cx="6583680" cy="4526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60020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MLP/RN queda como rama principal por balance.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CNN-1D se implementa para comparar arquitectura.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Transformer se conserva como experimento offline.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Todos exportan pesos, scaler y label_map.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4800600"/>
            <a:ext cx="3657600" cy="59436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sz="1900" b="1">
                <a:solidFill>
                  <a:srgbClr val="26547C"/>
                </a:solidFill>
                <a:latin typeface="Aptos"/>
              </a:rPr>
              <a:t>Decisión: federar solo las capas finales para reducir comunicación.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PROCESO POR RONDA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Entrenamiento federado implementado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ESP32 envía features cada 5 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1737360"/>
            <a:ext cx="41148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700" b="1" dirty="0">
                <a:solidFill>
                  <a:srgbClr val="151515"/>
                </a:solidFill>
                <a:latin typeface="Aptos"/>
              </a:rPr>
              <a:t>Gateway </a:t>
            </a:r>
            <a:r>
              <a:rPr sz="1700" b="1" dirty="0" err="1">
                <a:solidFill>
                  <a:srgbClr val="151515"/>
                </a:solidFill>
                <a:latin typeface="Aptos"/>
              </a:rPr>
              <a:t>acumula</a:t>
            </a:r>
            <a:r>
              <a:rPr sz="1700" b="1" dirty="0">
                <a:solidFill>
                  <a:srgbClr val="151515"/>
                </a:solidFill>
                <a:latin typeface="Aptos"/>
              </a:rPr>
              <a:t> </a:t>
            </a:r>
            <a:r>
              <a:rPr lang="en-US" sz="1700" b="1" dirty="0">
                <a:solidFill>
                  <a:srgbClr val="151515"/>
                </a:solidFill>
                <a:latin typeface="Aptos"/>
              </a:rPr>
              <a:t>3</a:t>
            </a:r>
            <a:r>
              <a:rPr sz="1700" b="1" dirty="0">
                <a:solidFill>
                  <a:srgbClr val="151515"/>
                </a:solidFill>
                <a:latin typeface="Aptos"/>
              </a:rPr>
              <a:t>0 </a:t>
            </a:r>
            <a:r>
              <a:rPr sz="1700" b="1" dirty="0" err="1">
                <a:solidFill>
                  <a:srgbClr val="151515"/>
                </a:solidFill>
                <a:latin typeface="Aptos"/>
              </a:rPr>
              <a:t>muestras</a:t>
            </a:r>
            <a:endParaRPr sz="1700" b="1" dirty="0">
              <a:solidFill>
                <a:srgbClr val="151515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1737360"/>
            <a:ext cx="411479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244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700" b="1" dirty="0" err="1">
                <a:solidFill>
                  <a:srgbClr val="151515"/>
                </a:solidFill>
                <a:latin typeface="Aptos"/>
              </a:rPr>
              <a:t>Entrena</a:t>
            </a:r>
            <a:r>
              <a:rPr sz="1700" b="1" dirty="0">
                <a:solidFill>
                  <a:srgbClr val="151515"/>
                </a:solidFill>
                <a:latin typeface="Aptos"/>
              </a:rPr>
              <a:t> </a:t>
            </a:r>
            <a:r>
              <a:rPr lang="en-US" sz="1700" b="1" dirty="0">
                <a:solidFill>
                  <a:srgbClr val="151515"/>
                </a:solidFill>
                <a:latin typeface="Aptos"/>
              </a:rPr>
              <a:t>30</a:t>
            </a:r>
            <a:r>
              <a:rPr sz="1700" b="1" dirty="0">
                <a:solidFill>
                  <a:srgbClr val="15151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51515"/>
                </a:solidFill>
                <a:latin typeface="Aptos"/>
              </a:rPr>
              <a:t>épocas</a:t>
            </a:r>
            <a:r>
              <a:rPr sz="1700" b="1" dirty="0">
                <a:solidFill>
                  <a:srgbClr val="151515"/>
                </a:solidFill>
                <a:latin typeface="Aptos"/>
              </a:rPr>
              <a:t>, batch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Envía 163 parámetros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566160"/>
            <a:ext cx="41148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PC aplica FedAvg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3566160"/>
            <a:ext cx="411479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9244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Modelo global vuelve al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9875520" cy="4114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1900" b="1">
                <a:solidFill>
                  <a:srgbClr val="26547C"/>
                </a:solidFill>
                <a:latin typeface="Aptos"/>
              </a:rPr>
              <a:t>El modelo completo tiene 1,139 parámetros; el ciclo federado comparte solo W3, b3, W4 y b4.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ASCON-128 protege el ciclo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225509"/>
              </p:ext>
            </p:extLst>
          </p:nvPr>
        </p:nvGraphicFramePr>
        <p:xfrm>
          <a:off x="594360" y="1325880"/>
          <a:ext cx="7153326" cy="3270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16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Canal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Contenido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Modo RN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167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51515"/>
                          </a:solidFill>
                          <a:latin typeface="Aptos"/>
                        </a:rPr>
                        <a:t>ESP32 -&gt; RPi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Features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plain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16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RPi -&gt; PC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Pesos + métricas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+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plain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16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PC -&gt; RPi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51515"/>
                          </a:solidFill>
                          <a:latin typeface="Aptos"/>
                        </a:rPr>
                        <a:t>Modelo global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plain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16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RPi -&gt; ESP32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Modelo global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+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51515"/>
                          </a:solidFill>
                          <a:latin typeface="Aptos"/>
                        </a:rPr>
                        <a:t>MQTT plain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92440" y="1417320"/>
            <a:ext cx="1920240" cy="5029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3600" b="1">
                <a:solidFill>
                  <a:srgbClr val="2A9D8F"/>
                </a:solidFill>
                <a:latin typeface="Aptos"/>
              </a:rPr>
              <a:t>&lt; 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93392"/>
            <a:ext cx="2743200" cy="32004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500" b="1">
                <a:solidFill>
                  <a:srgbClr val="151515"/>
                </a:solidFill>
                <a:latin typeface="Aptos"/>
              </a:rPr>
              <a:t>overhead temporal relativo por ronda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971800"/>
            <a:ext cx="1920240" cy="5029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3600" b="1">
                <a:solidFill>
                  <a:srgbClr val="C44536"/>
                </a:solidFill>
                <a:latin typeface="Aptos"/>
              </a:rPr>
              <a:t>~36%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547872"/>
            <a:ext cx="2743200" cy="32004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500" b="1">
                <a:solidFill>
                  <a:srgbClr val="151515"/>
                </a:solidFill>
                <a:latin typeface="Aptos"/>
              </a:rPr>
              <a:t>incremento de tamaño por mensaje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97840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26547C"/>
                </a:solidFill>
                <a:latin typeface="Aptos"/>
              </a:rPr>
              <a:t>La rama no-ASCON permite medir el costo del cifrado sin cambiar el resto de la arquitectura.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AGREGACIÓN INTERMEDIA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Estrategia FOG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2194560"/>
            <a:ext cx="1645920" cy="54864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Gateway A</a:t>
            </a:r>
            <a:br/>
            <a:r>
              <a:t>leader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1645920" cy="54864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Gateway B</a:t>
            </a:r>
            <a:br/>
            <a:r>
              <a:t>peer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063240"/>
            <a:ext cx="1828800" cy="68580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151515"/>
                </a:solidFill>
                <a:latin typeface="Aptos"/>
              </a:rPr>
              <a:t>Fog FedAvg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063240"/>
            <a:ext cx="1645920" cy="68580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PC</a:t>
            </a:r>
            <a:br/>
            <a:r>
              <a:t>Cloud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468880"/>
            <a:ext cx="2331720" cy="77724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14600" y="3520440"/>
            <a:ext cx="2331720" cy="82296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3401568"/>
            <a:ext cx="246888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75120" y="3886200"/>
            <a:ext cx="246888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08960" y="2423160"/>
            <a:ext cx="128016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2A9D8F"/>
                </a:solidFill>
                <a:latin typeface="Aptos"/>
              </a:rPr>
              <a:t>fog/weights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63240"/>
            <a:ext cx="164592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2A9D8F"/>
                </a:solidFill>
                <a:latin typeface="Aptos"/>
              </a:rPr>
              <a:t>/aggregate-from-fog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041648"/>
            <a:ext cx="164592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00" b="1">
                <a:solidFill>
                  <a:srgbClr val="C44536"/>
                </a:solidFill>
                <a:latin typeface="Aptos"/>
              </a:rPr>
              <a:t>fog/global_model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líder agrega pesos locales y pesos peer.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PC recibe una actualización preagregada.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modelo global se redistribuye a peers y ESP32.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EVIDENCIA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Resultados de las variantes v7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508760"/>
          <a:ext cx="4206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Variante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Intentos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Loss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Ronda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51515"/>
                          </a:solidFill>
                          <a:latin typeface="Aptos"/>
                        </a:rPr>
                        <a:t>RN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0.1415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61.25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RN sin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0.1581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51.01 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CNN FOG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0.0910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51515"/>
                          </a:solidFill>
                          <a:latin typeface="Aptos"/>
                        </a:rPr>
                        <a:t>58.61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160520"/>
            <a:ext cx="4160520" cy="82296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r>
              <a:rPr sz="1700" b="1">
                <a:solidFill>
                  <a:srgbClr val="26547C"/>
                </a:solidFill>
                <a:latin typeface="Aptos"/>
              </a:rPr>
              <a:t>Lectura: ASCON no rompe la convergencia; FOG y CNN funcionan, pero el MLP/RN conserva la ruta más simple para defender.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CAMBIOS INCORPORADOS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Paper actualizado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508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Introducción y objetivos alineados con v7 real: ESP32-S3, Raspberry Pi 4 y PC.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Marco teórico depurado: TinyML, HFL, ASCON, FOG y NLP como trabajo futuro.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Metodología ampliada: RN/MLP, CNN, no-ASCON, FOG y notebook de entrenamiento.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Resultados actualizados con comparación offline y métricas de variantes.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Conclusiones ajustadas: arquitectura modular y validación del ciclo bidireccional.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987552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El PDF ya compila con Tectonic: build/EncabezadoTesisMSc.pdf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Mensaje para la reunión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417320"/>
            <a:ext cx="4114800" cy="411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2400" b="1">
                <a:solidFill>
                  <a:srgbClr val="151515"/>
                </a:solidFill>
                <a:latin typeface="Aptos"/>
              </a:rPr>
              <a:t>Lo que ya podemos mostrar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HFL bidireccional funcionando en Edge--Fog--Cloud.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Tres variantes comparables: RN, no-ASCON y CNN.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Modo FOG implementado para agregación entre gateways.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ASCON medido contra baseline y viable en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4114800" cy="411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2400" b="1">
                <a:solidFill>
                  <a:srgbClr val="C44536"/>
                </a:solidFill>
                <a:latin typeface="Aptos"/>
              </a:rPr>
              <a:t>Pendientes honestos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 err="1">
                <a:solidFill>
                  <a:srgbClr val="151515"/>
                </a:solidFill>
                <a:latin typeface="Aptos"/>
              </a:rPr>
              <a:t>Mejorar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redacción</a:t>
            </a:r>
            <a:r>
              <a:rPr sz="2000" dirty="0">
                <a:solidFill>
                  <a:srgbClr val="151515"/>
                </a:solidFill>
                <a:latin typeface="Aptos"/>
              </a:rPr>
              <a:t> final y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uniformar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nombres</a:t>
            </a:r>
            <a:r>
              <a:rPr sz="2000" dirty="0">
                <a:solidFill>
                  <a:srgbClr val="151515"/>
                </a:solidFill>
                <a:latin typeface="Aptos"/>
              </a:rPr>
              <a:t> de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ramas</a:t>
            </a:r>
            <a:r>
              <a:rPr sz="2000" dirty="0">
                <a:solidFill>
                  <a:srgbClr val="151515"/>
                </a:solidFill>
                <a:latin typeface="Aptos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dirty="0" err="1">
                <a:solidFill>
                  <a:srgbClr val="151515"/>
                </a:solidFill>
                <a:latin typeface="Aptos"/>
              </a:rPr>
              <a:t>Reducir</a:t>
            </a:r>
            <a:r>
              <a:rPr sz="2000" dirty="0">
                <a:solidFill>
                  <a:srgbClr val="151515"/>
                </a:solidFill>
                <a:latin typeface="Aptos"/>
              </a:rPr>
              <a:t> overfull boxes del LaTeX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si</a:t>
            </a:r>
            <a:r>
              <a:rPr sz="2000" dirty="0">
                <a:solidFill>
                  <a:srgbClr val="151515"/>
                </a:solidFill>
                <a:latin typeface="Aptos"/>
              </a:rPr>
              <a:t> se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entrega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versión</a:t>
            </a:r>
            <a:r>
              <a:rPr sz="2000" dirty="0">
                <a:solidFill>
                  <a:srgbClr val="151515"/>
                </a:solidFill>
                <a:latin typeface="Aptos"/>
              </a:rPr>
              <a:t> final.</a:t>
            </a:r>
          </a:p>
          <a:p>
            <a:pPr>
              <a:spcAft>
                <a:spcPts val="800"/>
              </a:spcAft>
            </a:pPr>
            <a:r>
              <a:rPr sz="2000" dirty="0" err="1">
                <a:solidFill>
                  <a:srgbClr val="151515"/>
                </a:solidFill>
                <a:latin typeface="Aptos"/>
              </a:rPr>
              <a:t>Agregar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fotos</a:t>
            </a:r>
            <a:r>
              <a:rPr sz="2000" dirty="0">
                <a:solidFill>
                  <a:srgbClr val="151515"/>
                </a:solidFill>
                <a:latin typeface="Aptos"/>
              </a:rPr>
              <a:t>/hardware real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si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el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profesor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pide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evidencia</a:t>
            </a:r>
            <a:r>
              <a:rPr sz="2000" dirty="0">
                <a:solidFill>
                  <a:srgbClr val="151515"/>
                </a:solidFill>
                <a:latin typeface="Aptos"/>
              </a:rPr>
              <a:t> visual.</a:t>
            </a:r>
          </a:p>
          <a:p>
            <a:pPr>
              <a:spcAft>
                <a:spcPts val="800"/>
              </a:spcAft>
            </a:pPr>
            <a:r>
              <a:rPr sz="2000" dirty="0" err="1">
                <a:solidFill>
                  <a:srgbClr val="151515"/>
                </a:solidFill>
                <a:latin typeface="Aptos"/>
              </a:rPr>
              <a:t>Dejar</a:t>
            </a:r>
            <a:r>
              <a:rPr sz="2000" dirty="0">
                <a:solidFill>
                  <a:srgbClr val="151515"/>
                </a:solidFill>
                <a:latin typeface="Aptos"/>
              </a:rPr>
              <a:t> NLP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como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futuro</a:t>
            </a:r>
            <a:r>
              <a:rPr sz="2000" dirty="0">
                <a:solidFill>
                  <a:srgbClr val="151515"/>
                </a:solidFill>
                <a:latin typeface="Aptos"/>
              </a:rPr>
              <a:t>, no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como</a:t>
            </a:r>
            <a:r>
              <a:rPr sz="2000" dirty="0">
                <a:solidFill>
                  <a:srgbClr val="151515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51515"/>
                </a:solidFill>
                <a:latin typeface="Aptos"/>
              </a:rPr>
              <a:t>implementación</a:t>
            </a:r>
            <a:r>
              <a:rPr sz="2000" dirty="0">
                <a:solidFill>
                  <a:srgbClr val="151515"/>
                </a:solidFill>
                <a:latin typeface="Aptos"/>
              </a:rPr>
              <a:t> actual.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Tesis técnica: un IDS IoT federado, cifrado y modular puede operar sobre hardware de borde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883</Words>
  <Application>Microsoft Office PowerPoint</Application>
  <PresentationFormat>Panorámica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Santiago Alejandro Jaimes Puerto</cp:lastModifiedBy>
  <cp:revision>2</cp:revision>
  <dcterms:created xsi:type="dcterms:W3CDTF">2013-01-27T09:14:16Z</dcterms:created>
  <dcterms:modified xsi:type="dcterms:W3CDTF">2026-04-24T04:12:15Z</dcterms:modified>
  <cp:category/>
</cp:coreProperties>
</file>