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7" d="100"/>
          <a:sy n="117" d="100"/>
        </p:scale>
        <p:origin x="318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1"/>
  <c:style val="2"/>
  <c:chart>
    <c:title>
      <c:tx>
        <c:rich>
          <a:bodyPr/>
          <a:lstStyle/>
          <a:p>
            <a:r>
              <a:rPr lang="es-CO"/>
              <a:t>Desempeño offline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MLP/RN</c:v>
                </c:pt>
                <c:pt idx="1">
                  <c:v>Residual</c:v>
                </c:pt>
                <c:pt idx="2">
                  <c:v>CNN-1D</c:v>
                </c:pt>
                <c:pt idx="3">
                  <c:v>Transformer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0.90600000000000003</c:v>
                </c:pt>
                <c:pt idx="1">
                  <c:v>0.90549999999999997</c:v>
                </c:pt>
                <c:pt idx="2">
                  <c:v>0.90510000000000002</c:v>
                </c:pt>
                <c:pt idx="3">
                  <c:v>0.89029999999999998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E-4086-8042-3E991BC9483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F1 weighted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MLP/RN</c:v>
                </c:pt>
                <c:pt idx="1">
                  <c:v>Residual</c:v>
                </c:pt>
                <c:pt idx="2">
                  <c:v>CNN-1D</c:v>
                </c:pt>
                <c:pt idx="3">
                  <c:v>Transformer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0.90490000000000004</c:v>
                </c:pt>
                <c:pt idx="1">
                  <c:v>0.90439999999999998</c:v>
                </c:pt>
                <c:pt idx="2">
                  <c:v>0.90410000000000001</c:v>
                </c:pt>
                <c:pt idx="3">
                  <c:v>0.89190000000000003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E-4086-8042-3E991BC9483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92"/>
          <c:min val="0.86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layout>
        <c:manualLayout>
          <c:xMode val="edge"/>
          <c:yMode val="edge"/>
          <c:x val="0.50955195270730036"/>
          <c:y val="0.15341675992660556"/>
          <c:w val="0.45157495504034217"/>
          <c:h val="7.7868035824187373E-2"/>
        </c:manualLayout>
      </c:layout>
      <c:overlay val="1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1"/>
  <c:style val="2"/>
  <c:chart>
    <c:title>
      <c:tx>
        <c:rich>
          <a:bodyPr/>
          <a:lstStyle/>
          <a:p>
            <a:r>
              <a:rPr lang="es-CO"/>
              <a:t>Accuracy global final promedio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final</c:v>
                </c:pt>
              </c:strCache>
            </c:strRef>
          </c:tx>
          <c:invertIfNegative val="1"/>
          <c:cat>
            <c:strRef>
              <c:f>Sheet1!$A$2:$A$4</c:f>
              <c:strCache>
                <c:ptCount val="3"/>
                <c:pt idx="0">
                  <c:v>RN + ASCON</c:v>
                </c:pt>
                <c:pt idx="1">
                  <c:v>RN sin ASCON</c:v>
                </c:pt>
                <c:pt idx="2">
                  <c:v>CNN FOG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0.94630000000000003</c:v>
                </c:pt>
                <c:pt idx="1">
                  <c:v>0.92979999999999996</c:v>
                </c:pt>
                <c:pt idx="2">
                  <c:v>0.97499999999999998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45F-4228-83CB-8D997A4450B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"/>
          <c:min val="0.88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2C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411480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000" b="1">
                <a:solidFill>
                  <a:srgbClr val="F2C230"/>
                </a:solidFill>
                <a:latin typeface="Aptos"/>
              </a:rPr>
              <a:t>Avances HFL v7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6400800" cy="2057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800" b="1">
                <a:solidFill>
                  <a:srgbClr val="FFFFFF"/>
                </a:solidFill>
                <a:latin typeface="Aptos"/>
              </a:rPr>
              <a:t>IDS IoT con TinyML,</a:t>
            </a:r>
            <a:br/>
            <a:r>
              <a:t>aprendizaje federado</a:t>
            </a:r>
            <a:br/>
            <a:r>
              <a:t>y ASCON-128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68112"/>
            <a:ext cx="7863840" cy="32004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r>
              <a:rPr sz="1700" b="1">
                <a:solidFill>
                  <a:srgbClr val="151515"/>
                </a:solidFill>
                <a:latin typeface="Aptos"/>
              </a:rPr>
              <a:t>ESP32-S3 -&gt; Raspberry Pi -&gt; PC | RN, CNN, no-ASCON y FOG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6217920" cy="228600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r>
              <a:rPr sz="1200" b="0">
                <a:solidFill>
                  <a:srgbClr val="151515"/>
                </a:solidFill>
                <a:latin typeface="Aptos"/>
              </a:rPr>
              <a:t>Santiago Alejandro Jaimes Puerto · Nicolas Casas Ibarra</a:t>
            </a:r>
          </a:p>
        </p:txBody>
      </p:sp>
      <p:pic>
        <p:nvPicPr>
          <p:cNvPr id="8" name="Picture 7" descr="LogoUnian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5559552"/>
            <a:ext cx="960120" cy="54914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680960" y="2423160"/>
            <a:ext cx="960120" cy="475488"/>
          </a:xfrm>
          <a:prstGeom prst="roundRect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Edge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15400" y="2834640"/>
            <a:ext cx="960120" cy="475488"/>
          </a:xfrm>
          <a:prstGeom prst="roundRect">
            <a:avLst/>
          </a:prstGeom>
          <a:solidFill>
            <a:srgbClr val="F2C230"/>
          </a:solidFill>
          <a:ln>
            <a:solidFill>
              <a:srgbClr val="F2C2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/>
            <a:r>
              <a:rPr sz="1400" b="1">
                <a:solidFill>
                  <a:srgbClr val="151515"/>
                </a:solidFill>
                <a:latin typeface="Aptos"/>
              </a:rPr>
              <a:t>Fog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49840" y="2423160"/>
            <a:ext cx="960120" cy="475488"/>
          </a:xfrm>
          <a:prstGeom prst="roundRect">
            <a:avLst/>
          </a:prstGeom>
          <a:solidFill>
            <a:srgbClr val="C44536"/>
          </a:solidFill>
          <a:ln>
            <a:solidFill>
              <a:srgbClr val="C445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Cloud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34747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900" b="1">
                <a:solidFill>
                  <a:srgbClr val="2A9D8F"/>
                </a:solidFill>
                <a:latin typeface="Aptos"/>
              </a:rPr>
              <a:t>CAMBIO DE ALCANCE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7863840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151515"/>
                </a:solidFill>
                <a:latin typeface="Aptos"/>
              </a:rPr>
              <a:t>Del plan v5 al sistema v7 implementado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143000" cy="36576"/>
          </a:xfrm>
          <a:prstGeom prst="rect">
            <a:avLst/>
          </a:prstGeom>
          <a:solidFill>
            <a:srgbClr val="F2C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Unian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82880"/>
            <a:ext cx="1005840" cy="5752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508760"/>
            <a:ext cx="1097280" cy="27432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r>
              <a:rPr sz="1800" b="1">
                <a:solidFill>
                  <a:srgbClr val="5E6470"/>
                </a:solidFill>
                <a:latin typeface="Aptos"/>
              </a:rPr>
              <a:t>Antes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508760"/>
            <a:ext cx="1097280" cy="27432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r>
              <a:rPr sz="1800" b="1">
                <a:solidFill>
                  <a:srgbClr val="2A9D8F"/>
                </a:solidFill>
                <a:latin typeface="Aptos"/>
              </a:rPr>
              <a:t>Ahora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057400"/>
            <a:ext cx="1554480" cy="502920"/>
          </a:xfrm>
          <a:prstGeom prst="roundRect">
            <a:avLst/>
          </a:prstGeom>
          <a:solidFill>
            <a:srgbClr val="26547C"/>
          </a:solidFill>
          <a:ln>
            <a:solidFill>
              <a:srgbClr val="265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PC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2057400"/>
            <a:ext cx="1554480" cy="502920"/>
          </a:xfrm>
          <a:prstGeom prst="roundRect">
            <a:avLst/>
          </a:prstGeom>
          <a:solidFill>
            <a:srgbClr val="26547C"/>
          </a:solidFill>
          <a:ln>
            <a:solidFill>
              <a:srgbClr val="265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RPi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37360" y="2971800"/>
            <a:ext cx="1645920" cy="502920"/>
          </a:xfrm>
          <a:prstGeom prst="roundRect">
            <a:avLst/>
          </a:prstGeom>
          <a:solidFill>
            <a:srgbClr val="26547C"/>
          </a:solidFill>
          <a:ln>
            <a:solidFill>
              <a:srgbClr val="265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ESP32 broker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2971800"/>
            <a:ext cx="1645920" cy="502920"/>
          </a:xfrm>
          <a:prstGeom prst="roundRect">
            <a:avLst/>
          </a:prstGeom>
          <a:solidFill>
            <a:srgbClr val="26547C"/>
          </a:solidFill>
          <a:ln>
            <a:solidFill>
              <a:srgbClr val="265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ESP32 client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77440" y="2313432"/>
            <a:ext cx="320040" cy="0"/>
          </a:xfrm>
          <a:prstGeom prst="line">
            <a:avLst/>
          </a:prstGeom>
          <a:ln w="25400">
            <a:solidFill>
              <a:srgbClr val="5E6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2743200" y="2606040"/>
            <a:ext cx="685800" cy="365760"/>
          </a:xfrm>
          <a:prstGeom prst="line">
            <a:avLst/>
          </a:prstGeom>
          <a:ln w="25400">
            <a:solidFill>
              <a:srgbClr val="5E6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83280" y="3227832"/>
            <a:ext cx="228600" cy="0"/>
          </a:xfrm>
          <a:prstGeom prst="line">
            <a:avLst/>
          </a:prstGeom>
          <a:ln w="25400">
            <a:solidFill>
              <a:srgbClr val="5E6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217920" y="1965960"/>
            <a:ext cx="1463040" cy="502920"/>
          </a:xfrm>
          <a:prstGeom prst="roundRect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ESP32-S3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1965960"/>
            <a:ext cx="1737360" cy="502920"/>
          </a:xfrm>
          <a:prstGeom prst="roundRect">
            <a:avLst/>
          </a:prstGeom>
          <a:solidFill>
            <a:srgbClr val="F2C230"/>
          </a:solidFill>
          <a:ln>
            <a:solidFill>
              <a:srgbClr val="F2C2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/>
            <a:r>
              <a:rPr sz="1300" b="1">
                <a:solidFill>
                  <a:srgbClr val="151515"/>
                </a:solidFill>
                <a:latin typeface="Aptos"/>
              </a:rPr>
              <a:t>Raspberry Pi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0" y="1965960"/>
            <a:ext cx="1143000" cy="502920"/>
          </a:xfrm>
          <a:prstGeom prst="roundRect">
            <a:avLst/>
          </a:prstGeom>
          <a:solidFill>
            <a:srgbClr val="C44536"/>
          </a:solidFill>
          <a:ln>
            <a:solidFill>
              <a:srgbClr val="C445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PC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80960" y="2221992"/>
            <a:ext cx="320040" cy="0"/>
          </a:xfrm>
          <a:prstGeom prst="line">
            <a:avLst/>
          </a:prstGeom>
          <a:ln w="25400">
            <a:solidFill>
              <a:srgbClr val="5E6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738360" y="2221992"/>
            <a:ext cx="320040" cy="0"/>
          </a:xfrm>
          <a:prstGeom prst="line">
            <a:avLst/>
          </a:prstGeom>
          <a:ln w="25400">
            <a:solidFill>
              <a:srgbClr val="5E6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909560" y="2880360"/>
            <a:ext cx="1143000" cy="438912"/>
          </a:xfrm>
          <a:prstGeom prst="roundRect">
            <a:avLst/>
          </a:prstGeom>
          <a:solidFill>
            <a:srgbClr val="26547C"/>
          </a:solidFill>
          <a:ln>
            <a:solidFill>
              <a:srgbClr val="265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FOG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160520"/>
            <a:ext cx="48463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51515"/>
                </a:solidFill>
                <a:latin typeface="Aptos"/>
              </a:rPr>
              <a:t>10 clases y cliente separado quedaron como antecedente.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51515"/>
                </a:solidFill>
                <a:latin typeface="Aptos"/>
              </a:rPr>
              <a:t>v7 trabaja con 3 clases MQTT y 13 features de flujo.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51515"/>
                </a:solidFill>
                <a:latin typeface="Aptos"/>
              </a:rPr>
              <a:t>La comparación real cambia modelo, cifrado y topología.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160520"/>
            <a:ext cx="48463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51515"/>
                </a:solidFill>
                <a:latin typeface="Aptos"/>
              </a:rPr>
              <a:t>RN/MLP con ASCON como rama principal.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51515"/>
                </a:solidFill>
                <a:latin typeface="Aptos"/>
              </a:rPr>
              <a:t>Baseline sin ASCON para medir overhead.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51515"/>
                </a:solidFill>
                <a:latin typeface="Aptos"/>
              </a:rPr>
              <a:t>CNN-1D y FOG como variantes de arquitectura.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6473952"/>
            <a:ext cx="1737360" cy="18288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r"/>
            <a:r>
              <a:rPr sz="800" b="0">
                <a:solidFill>
                  <a:srgbClr val="5E6470"/>
                </a:solidFill>
                <a:latin typeface="Aptos"/>
              </a:rPr>
              <a:t>Avances HFL v7 |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34747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900" b="1">
                <a:solidFill>
                  <a:srgbClr val="2A9D8F"/>
                </a:solidFill>
                <a:latin typeface="Aptos"/>
              </a:rPr>
              <a:t>EDGE--FOG--CLOUD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7863840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151515"/>
                </a:solidFill>
                <a:latin typeface="Aptos"/>
              </a:rPr>
              <a:t>Arquitectura HFL bidireccional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143000" cy="36576"/>
          </a:xfrm>
          <a:prstGeom prst="rect">
            <a:avLst/>
          </a:prstGeom>
          <a:solidFill>
            <a:srgbClr val="F2C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Unian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82880"/>
            <a:ext cx="1005840" cy="57529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836964"/>
            <a:ext cx="2331720" cy="594360"/>
          </a:xfrm>
          <a:prstGeom prst="roundRect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06040"/>
            <a:ext cx="2148840" cy="960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0">
                <a:solidFill>
                  <a:srgbClr val="151515"/>
                </a:solidFill>
                <a:latin typeface="Aptos"/>
              </a:rPr>
              <a:t>ESP32-S3</a:t>
            </a:r>
            <a:br/>
            <a:r>
              <a:t>Inferencia TinyML</a:t>
            </a:r>
            <a:br/>
            <a:r>
              <a:t>MQTT features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828800"/>
            <a:ext cx="2331720" cy="594360"/>
          </a:xfrm>
          <a:prstGeom prst="roundRect">
            <a:avLst/>
          </a:prstGeom>
          <a:solidFill>
            <a:srgbClr val="F2C230"/>
          </a:solidFill>
          <a:ln>
            <a:solidFill>
              <a:srgbClr val="F2C2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/>
            <a:r>
              <a:rPr sz="1800" b="1">
                <a:solidFill>
                  <a:srgbClr val="151515"/>
                </a:solidFill>
                <a:latin typeface="Aptos"/>
              </a:rPr>
              <a:t>Fog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2606040"/>
            <a:ext cx="2148840" cy="960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0">
                <a:solidFill>
                  <a:srgbClr val="151515"/>
                </a:solidFill>
                <a:latin typeface="Aptos"/>
              </a:rPr>
              <a:t>Raspberry Pi</a:t>
            </a:r>
            <a:br/>
            <a:r>
              <a:t>Entrenamiento local</a:t>
            </a:r>
            <a:br/>
            <a:r>
              <a:t>Broker + FedAvg fog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828800"/>
            <a:ext cx="2331720" cy="594360"/>
          </a:xfrm>
          <a:prstGeom prst="roundRect">
            <a:avLst/>
          </a:prstGeom>
          <a:solidFill>
            <a:srgbClr val="26547C"/>
          </a:solidFill>
          <a:ln>
            <a:solidFill>
              <a:srgbClr val="265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Cloud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2606040"/>
            <a:ext cx="2148840" cy="960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0">
                <a:solidFill>
                  <a:srgbClr val="151515"/>
                </a:solidFill>
                <a:latin typeface="Aptos"/>
              </a:rPr>
              <a:t>PC FastAPI</a:t>
            </a:r>
            <a:br/>
            <a:r>
              <a:t>FedAvg global</a:t>
            </a:r>
            <a:br/>
            <a:r>
              <a:t>Dashboard + CSV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54680" y="2148840"/>
            <a:ext cx="1188720" cy="0"/>
          </a:xfrm>
          <a:prstGeom prst="line">
            <a:avLst/>
          </a:prstGeom>
          <a:ln w="2540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720840" y="2148840"/>
            <a:ext cx="1371600" cy="0"/>
          </a:xfrm>
          <a:prstGeom prst="line">
            <a:avLst/>
          </a:prstGeom>
          <a:ln w="2540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6720840" y="3931920"/>
            <a:ext cx="1371600" cy="0"/>
          </a:xfrm>
          <a:prstGeom prst="line">
            <a:avLst/>
          </a:prstGeom>
          <a:ln w="25400">
            <a:solidFill>
              <a:srgbClr val="C445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3154680" y="3931920"/>
            <a:ext cx="1188720" cy="0"/>
          </a:xfrm>
          <a:prstGeom prst="line">
            <a:avLst/>
          </a:prstGeom>
          <a:ln w="25400">
            <a:solidFill>
              <a:srgbClr val="C445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828800" y="1417320"/>
            <a:ext cx="4937760" cy="22860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r>
              <a:rPr sz="1400" b="1">
                <a:solidFill>
                  <a:srgbClr val="2A9D8F"/>
                </a:solidFill>
                <a:latin typeface="Aptos"/>
              </a:rPr>
              <a:t>Bottom-up: features -&gt; entrenamiento local -&gt; pesos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2120" y="4187952"/>
            <a:ext cx="4754880" cy="22860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r>
              <a:rPr sz="1400" b="1">
                <a:solidFill>
                  <a:srgbClr val="C44536"/>
                </a:solidFill>
                <a:latin typeface="Aptos"/>
              </a:rPr>
              <a:t>Top-down: modelo global -&gt; gateway -&gt; ESP32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9834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51515"/>
                </a:solidFill>
                <a:latin typeface="Aptos"/>
              </a:rPr>
              <a:t>Topics: fl/features, fl/global_model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51515"/>
                </a:solidFill>
                <a:latin typeface="Aptos"/>
              </a:rPr>
              <a:t>Endpoints: /aggregate-from-gateway, /deploy-model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51515"/>
                </a:solidFill>
                <a:latin typeface="Aptos"/>
              </a:rPr>
              <a:t>FOG: fog/weights y fog/global_model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6473952"/>
            <a:ext cx="1737360" cy="18288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r"/>
            <a:r>
              <a:rPr sz="800" b="0">
                <a:solidFill>
                  <a:srgbClr val="5E6470"/>
                </a:solidFill>
                <a:latin typeface="Aptos"/>
              </a:rPr>
              <a:t>Avances HFL v7 |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34747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900" b="1">
                <a:solidFill>
                  <a:srgbClr val="2A9D8F"/>
                </a:solidFill>
                <a:latin typeface="Aptos"/>
              </a:rPr>
              <a:t>DATASET TRICLASE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7863840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151515"/>
                </a:solidFill>
                <a:latin typeface="Aptos"/>
              </a:rPr>
              <a:t>Datos y problema de clasificación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143000" cy="36576"/>
          </a:xfrm>
          <a:prstGeom prst="rect">
            <a:avLst/>
          </a:prstGeom>
          <a:solidFill>
            <a:srgbClr val="F2C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Unian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82880"/>
            <a:ext cx="1005840" cy="575296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417320"/>
          <a:ext cx="612648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291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Clase</a:t>
                      </a:r>
                    </a:p>
                  </a:txBody>
                  <a:tcPr marL="45720" marR="45720" marT="27432" marB="27432">
                    <a:solidFill>
                      <a:srgbClr val="2654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Archivo</a:t>
                      </a:r>
                    </a:p>
                  </a:txBody>
                  <a:tcPr marL="45720" marR="45720" marT="27432" marB="27432">
                    <a:solidFill>
                      <a:srgbClr val="2654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Flujos</a:t>
                      </a:r>
                    </a:p>
                  </a:txBody>
                  <a:tcPr marL="45720" marR="45720" marT="27432" marB="27432">
                    <a:solidFill>
                      <a:srgbClr val="2654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Señal principal</a:t>
                      </a:r>
                    </a:p>
                  </a:txBody>
                  <a:tcPr marL="45720" marR="45720" marT="27432" marB="27432">
                    <a:solidFill>
                      <a:srgbClr val="2654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51515"/>
                          </a:solidFill>
                          <a:latin typeface="Aptos"/>
                        </a:rPr>
                        <a:t>normal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51515"/>
                          </a:solidFill>
                          <a:latin typeface="Aptos"/>
                        </a:rPr>
                        <a:t>uniflow_normal.csv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51515"/>
                          </a:solidFill>
                          <a:latin typeface="Aptos"/>
                        </a:rPr>
                        <a:t>171,837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51515"/>
                          </a:solidFill>
                          <a:latin typeface="Aptos"/>
                        </a:rPr>
                        <a:t>MQTT/TCP benigno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51515"/>
                          </a:solidFill>
                          <a:latin typeface="Aptos"/>
                        </a:rPr>
                        <a:t>mqtt_bruteforce</a:t>
                      </a:r>
                    </a:p>
                  </a:txBody>
                  <a:tcPr marL="45720" marR="45720" marT="27432" marB="27432"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51515"/>
                          </a:solidFill>
                          <a:latin typeface="Aptos"/>
                        </a:rPr>
                        <a:t>uniflow_mqtt_bruteforce.csv</a:t>
                      </a:r>
                    </a:p>
                  </a:txBody>
                  <a:tcPr marL="45720" marR="45720" marT="27432" marB="27432"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51515"/>
                          </a:solidFill>
                          <a:latin typeface="Aptos"/>
                        </a:rPr>
                        <a:t>33,080</a:t>
                      </a:r>
                    </a:p>
                  </a:txBody>
                  <a:tcPr marL="45720" marR="45720" marT="27432" marB="27432"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51515"/>
                          </a:solidFill>
                          <a:latin typeface="Aptos"/>
                        </a:rPr>
                        <a:t>PSH y paquetes altos</a:t>
                      </a:r>
                    </a:p>
                  </a:txBody>
                  <a:tcPr marL="45720" marR="45720" marT="27432" marB="27432">
                    <a:solidFill>
                      <a:srgbClr val="F7F4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51515"/>
                          </a:solidFill>
                          <a:latin typeface="Aptos"/>
                        </a:rPr>
                        <a:t>scan_A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51515"/>
                          </a:solidFill>
                          <a:latin typeface="Aptos"/>
                        </a:rPr>
                        <a:t>uniflow_scan_A.csv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51515"/>
                          </a:solidFill>
                          <a:latin typeface="Aptos"/>
                        </a:rPr>
                        <a:t>51,359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51515"/>
                          </a:solidFill>
                          <a:latin typeface="Aptos"/>
                        </a:rPr>
                        <a:t>Pocos paquetes, tamaño bajo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371600"/>
            <a:ext cx="1828800" cy="45720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r>
              <a:rPr sz="3100" b="1">
                <a:solidFill>
                  <a:srgbClr val="2A9D8F"/>
                </a:solidFill>
                <a:latin typeface="Aptos"/>
              </a:rPr>
              <a:t>13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253746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dirty="0" err="1">
                <a:solidFill>
                  <a:srgbClr val="151515"/>
                </a:solidFill>
                <a:latin typeface="Aptos"/>
              </a:rPr>
              <a:t>num_pkts</a:t>
            </a:r>
            <a:r>
              <a:rPr sz="1700" dirty="0">
                <a:solidFill>
                  <a:srgbClr val="151515"/>
                </a:solidFill>
                <a:latin typeface="Aptos"/>
              </a:rPr>
              <a:t>, </a:t>
            </a:r>
            <a:r>
              <a:rPr sz="1700" dirty="0" err="1">
                <a:solidFill>
                  <a:srgbClr val="151515"/>
                </a:solidFill>
                <a:latin typeface="Aptos"/>
              </a:rPr>
              <a:t>num_bytes</a:t>
            </a:r>
            <a:endParaRPr sz="1700" dirty="0">
              <a:solidFill>
                <a:srgbClr val="151515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r>
              <a:rPr sz="1700" dirty="0">
                <a:solidFill>
                  <a:srgbClr val="151515"/>
                </a:solidFill>
                <a:latin typeface="Aptos"/>
              </a:rPr>
              <a:t>mean/std/min/max IAT</a:t>
            </a:r>
          </a:p>
          <a:p>
            <a:pPr>
              <a:spcAft>
                <a:spcPts val="800"/>
              </a:spcAft>
            </a:pPr>
            <a:r>
              <a:rPr sz="1700" dirty="0">
                <a:solidFill>
                  <a:srgbClr val="151515"/>
                </a:solidFill>
                <a:latin typeface="Aptos"/>
              </a:rPr>
              <a:t>mean/std/min/max packet length</a:t>
            </a:r>
          </a:p>
          <a:p>
            <a:pPr>
              <a:spcAft>
                <a:spcPts val="800"/>
              </a:spcAft>
            </a:pPr>
            <a:r>
              <a:rPr sz="1700" dirty="0">
                <a:solidFill>
                  <a:srgbClr val="151515"/>
                </a:solidFill>
                <a:latin typeface="Aptos"/>
              </a:rPr>
              <a:t>PSH, RST y URG flags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77639"/>
            <a:ext cx="2011680" cy="27432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r>
              <a:rPr sz="1800" b="1">
                <a:solidFill>
                  <a:srgbClr val="151515"/>
                </a:solidFill>
                <a:latin typeface="Aptos"/>
              </a:rPr>
              <a:t>Etiquetado online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576572"/>
            <a:ext cx="9966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dirty="0">
                <a:solidFill>
                  <a:srgbClr val="151515"/>
                </a:solidFill>
                <a:latin typeface="Aptos"/>
              </a:rPr>
              <a:t>pkts &gt;= 50 y PSH &gt;= 10 -&gt; </a:t>
            </a:r>
            <a:r>
              <a:rPr sz="1700" dirty="0" err="1">
                <a:solidFill>
                  <a:srgbClr val="151515"/>
                </a:solidFill>
                <a:latin typeface="Aptos"/>
              </a:rPr>
              <a:t>bruteforce</a:t>
            </a:r>
            <a:endParaRPr sz="1700" dirty="0">
              <a:solidFill>
                <a:srgbClr val="151515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r>
              <a:rPr sz="1700" dirty="0">
                <a:solidFill>
                  <a:srgbClr val="151515"/>
                </a:solidFill>
                <a:latin typeface="Aptos"/>
              </a:rPr>
              <a:t>pkts &lt;= 5, </a:t>
            </a:r>
            <a:r>
              <a:rPr sz="1700" dirty="0" err="1">
                <a:solidFill>
                  <a:srgbClr val="151515"/>
                </a:solidFill>
                <a:latin typeface="Aptos"/>
              </a:rPr>
              <a:t>pkt_len</a:t>
            </a:r>
            <a:r>
              <a:rPr sz="1700" dirty="0">
                <a:solidFill>
                  <a:srgbClr val="151515"/>
                </a:solidFill>
                <a:latin typeface="Aptos"/>
              </a:rPr>
              <a:t> &lt;= 50 y PSH &lt;= 1 -&gt; </a:t>
            </a:r>
            <a:r>
              <a:rPr sz="1700" dirty="0" err="1">
                <a:solidFill>
                  <a:srgbClr val="151515"/>
                </a:solidFill>
                <a:latin typeface="Aptos"/>
              </a:rPr>
              <a:t>scan_A</a:t>
            </a:r>
            <a:endParaRPr sz="1700" dirty="0">
              <a:solidFill>
                <a:srgbClr val="151515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r>
              <a:rPr sz="1700" dirty="0">
                <a:solidFill>
                  <a:srgbClr val="151515"/>
                </a:solidFill>
                <a:latin typeface="Aptos"/>
              </a:rPr>
              <a:t>pkts &lt;= 30 y </a:t>
            </a:r>
            <a:r>
              <a:rPr sz="1700" dirty="0" err="1">
                <a:solidFill>
                  <a:srgbClr val="151515"/>
                </a:solidFill>
                <a:latin typeface="Aptos"/>
              </a:rPr>
              <a:t>pkt_len</a:t>
            </a:r>
            <a:r>
              <a:rPr sz="1700" dirty="0">
                <a:solidFill>
                  <a:srgbClr val="151515"/>
                </a:solidFill>
                <a:latin typeface="Aptos"/>
              </a:rPr>
              <a:t> &gt;= 50 -&gt; normal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21240" y="6473952"/>
            <a:ext cx="1737360" cy="18288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r"/>
            <a:r>
              <a:rPr sz="800" b="0">
                <a:solidFill>
                  <a:srgbClr val="5E6470"/>
                </a:solidFill>
                <a:latin typeface="Aptos"/>
              </a:rPr>
              <a:t>Avances HFL v7 |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34747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900" b="1">
                <a:solidFill>
                  <a:srgbClr val="2A9D8F"/>
                </a:solidFill>
                <a:latin typeface="Aptos"/>
              </a:rPr>
              <a:t>NOTEBOOK GENERAL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7863840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151515"/>
                </a:solidFill>
                <a:latin typeface="Aptos"/>
              </a:rPr>
              <a:t>Modelos probados antes del despliegue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143000" cy="36576"/>
          </a:xfrm>
          <a:prstGeom prst="rect">
            <a:avLst/>
          </a:prstGeom>
          <a:solidFill>
            <a:srgbClr val="F2C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Unian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82880"/>
            <a:ext cx="1005840" cy="575296"/>
          </a:xfrm>
          <a:prstGeom prst="rect">
            <a:avLst/>
          </a:prstGeom>
        </p:spPr>
      </p:pic>
      <p:graphicFrame>
        <p:nvGraphicFramePr>
          <p:cNvPr id="6" name="Char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5363889"/>
              </p:ext>
            </p:extLst>
          </p:nvPr>
        </p:nvGraphicFramePr>
        <p:xfrm>
          <a:off x="502920" y="1417320"/>
          <a:ext cx="6583680" cy="452677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52360" y="1600200"/>
            <a:ext cx="374903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51515"/>
                </a:solidFill>
                <a:latin typeface="Aptos"/>
              </a:rPr>
              <a:t>MLP/RN queda como rama principal por balance.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51515"/>
                </a:solidFill>
                <a:latin typeface="Aptos"/>
              </a:rPr>
              <a:t>CNN-1D se implementa para comparar arquitectura.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51515"/>
                </a:solidFill>
                <a:latin typeface="Aptos"/>
              </a:rPr>
              <a:t>Transformer se conserva como experimento offline.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51515"/>
                </a:solidFill>
                <a:latin typeface="Aptos"/>
              </a:rPr>
              <a:t>Todos exportan pesos, scaler y label_map.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4800600"/>
            <a:ext cx="3657600" cy="59436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r>
              <a:rPr sz="1900" b="1">
                <a:solidFill>
                  <a:srgbClr val="26547C"/>
                </a:solidFill>
                <a:latin typeface="Aptos"/>
              </a:rPr>
              <a:t>Decisión: federar solo las capas finales para reducir comunicación.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21240" y="6473952"/>
            <a:ext cx="1737360" cy="18288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r"/>
            <a:r>
              <a:rPr sz="800" b="0">
                <a:solidFill>
                  <a:srgbClr val="5E6470"/>
                </a:solidFill>
                <a:latin typeface="Aptos"/>
              </a:rPr>
              <a:t>Avances HFL v7 |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34747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900" b="1">
                <a:solidFill>
                  <a:srgbClr val="2A9D8F"/>
                </a:solidFill>
                <a:latin typeface="Aptos"/>
              </a:rPr>
              <a:t>PROCESO POR RONDA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7863840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151515"/>
                </a:solidFill>
                <a:latin typeface="Aptos"/>
              </a:rPr>
              <a:t>Entrenamiento federado implementado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143000" cy="36576"/>
          </a:xfrm>
          <a:prstGeom prst="rect">
            <a:avLst/>
          </a:prstGeom>
          <a:solidFill>
            <a:srgbClr val="F2C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Unian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82880"/>
            <a:ext cx="1005840" cy="57529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85800" y="1508760"/>
            <a:ext cx="438912" cy="438912"/>
          </a:xfrm>
          <a:prstGeom prst="roundRect">
            <a:avLst/>
          </a:prstGeom>
          <a:solidFill>
            <a:srgbClr val="F2C230"/>
          </a:solidFill>
          <a:ln>
            <a:solidFill>
              <a:srgbClr val="F2C2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/>
            <a:r>
              <a:rPr sz="1400" b="1">
                <a:solidFill>
                  <a:srgbClr val="151515"/>
                </a:solidFill>
                <a:latin typeface="Apto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490472"/>
            <a:ext cx="2514600" cy="50292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r>
              <a:rPr sz="1700" b="1">
                <a:solidFill>
                  <a:srgbClr val="151515"/>
                </a:solidFill>
                <a:latin typeface="Aptos"/>
              </a:rPr>
              <a:t>ESP32 envía features cada 5 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840480" y="1737360"/>
            <a:ext cx="411480" cy="0"/>
          </a:xfrm>
          <a:prstGeom prst="line">
            <a:avLst/>
          </a:prstGeom>
          <a:ln w="25400">
            <a:solidFill>
              <a:srgbClr val="5E6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389120" y="1508760"/>
            <a:ext cx="438912" cy="438912"/>
          </a:xfrm>
          <a:prstGeom prst="roundRect">
            <a:avLst/>
          </a:prstGeom>
          <a:solidFill>
            <a:srgbClr val="F2C230"/>
          </a:solidFill>
          <a:ln>
            <a:solidFill>
              <a:srgbClr val="F2C2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/>
            <a:r>
              <a:rPr sz="1400" b="1">
                <a:solidFill>
                  <a:srgbClr val="151515"/>
                </a:solidFill>
                <a:latin typeface="Apto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80" y="1490472"/>
            <a:ext cx="2514600" cy="50292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r>
              <a:rPr sz="1700" b="1" dirty="0">
                <a:solidFill>
                  <a:srgbClr val="151515"/>
                </a:solidFill>
                <a:latin typeface="Aptos"/>
              </a:rPr>
              <a:t>Gateway </a:t>
            </a:r>
            <a:r>
              <a:rPr sz="1700" b="1" dirty="0" err="1">
                <a:solidFill>
                  <a:srgbClr val="151515"/>
                </a:solidFill>
                <a:latin typeface="Aptos"/>
              </a:rPr>
              <a:t>acumula</a:t>
            </a:r>
            <a:r>
              <a:rPr sz="1700" b="1" dirty="0">
                <a:solidFill>
                  <a:srgbClr val="151515"/>
                </a:solidFill>
                <a:latin typeface="Aptos"/>
              </a:rPr>
              <a:t> </a:t>
            </a:r>
            <a:r>
              <a:rPr lang="en-US" sz="1700" b="1" dirty="0">
                <a:solidFill>
                  <a:srgbClr val="151515"/>
                </a:solidFill>
                <a:latin typeface="Aptos"/>
              </a:rPr>
              <a:t>3</a:t>
            </a:r>
            <a:r>
              <a:rPr sz="1700" b="1" dirty="0">
                <a:solidFill>
                  <a:srgbClr val="151515"/>
                </a:solidFill>
                <a:latin typeface="Aptos"/>
              </a:rPr>
              <a:t>0 </a:t>
            </a:r>
            <a:r>
              <a:rPr sz="1700" b="1" dirty="0" err="1">
                <a:solidFill>
                  <a:srgbClr val="151515"/>
                </a:solidFill>
                <a:latin typeface="Aptos"/>
              </a:rPr>
              <a:t>muestras</a:t>
            </a:r>
            <a:endParaRPr sz="1700" b="1" dirty="0">
              <a:solidFill>
                <a:srgbClr val="151515"/>
              </a:solidFill>
              <a:latin typeface="Aptos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7543800" y="1737360"/>
            <a:ext cx="411479" cy="0"/>
          </a:xfrm>
          <a:prstGeom prst="line">
            <a:avLst/>
          </a:prstGeom>
          <a:ln w="25400">
            <a:solidFill>
              <a:srgbClr val="5E6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092440" y="1508760"/>
            <a:ext cx="438912" cy="438912"/>
          </a:xfrm>
          <a:prstGeom prst="roundRect">
            <a:avLst/>
          </a:prstGeom>
          <a:solidFill>
            <a:srgbClr val="F2C230"/>
          </a:solidFill>
          <a:ln>
            <a:solidFill>
              <a:srgbClr val="F2C2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/>
            <a:r>
              <a:rPr sz="1400" b="1">
                <a:solidFill>
                  <a:srgbClr val="151515"/>
                </a:solidFill>
                <a:latin typeface="Aptos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1490472"/>
            <a:ext cx="2514600" cy="50292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r>
              <a:rPr sz="1700" b="1" dirty="0" err="1">
                <a:solidFill>
                  <a:srgbClr val="151515"/>
                </a:solidFill>
                <a:latin typeface="Aptos"/>
              </a:rPr>
              <a:t>Entrena</a:t>
            </a:r>
            <a:r>
              <a:rPr sz="1700" b="1" dirty="0">
                <a:solidFill>
                  <a:srgbClr val="151515"/>
                </a:solidFill>
                <a:latin typeface="Aptos"/>
              </a:rPr>
              <a:t> </a:t>
            </a:r>
            <a:r>
              <a:rPr lang="en-US" sz="1700" b="1" dirty="0">
                <a:solidFill>
                  <a:srgbClr val="151515"/>
                </a:solidFill>
                <a:latin typeface="Aptos"/>
              </a:rPr>
              <a:t>30</a:t>
            </a:r>
            <a:r>
              <a:rPr sz="1700" b="1" dirty="0">
                <a:solidFill>
                  <a:srgbClr val="151515"/>
                </a:solidFill>
                <a:latin typeface="Aptos"/>
              </a:rPr>
              <a:t> </a:t>
            </a:r>
            <a:r>
              <a:rPr sz="1700" b="1" dirty="0" err="1">
                <a:solidFill>
                  <a:srgbClr val="151515"/>
                </a:solidFill>
                <a:latin typeface="Aptos"/>
              </a:rPr>
              <a:t>épocas</a:t>
            </a:r>
            <a:r>
              <a:rPr sz="1700" b="1" dirty="0">
                <a:solidFill>
                  <a:srgbClr val="151515"/>
                </a:solidFill>
                <a:latin typeface="Aptos"/>
              </a:rPr>
              <a:t>, batch 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37560"/>
            <a:ext cx="438912" cy="438912"/>
          </a:xfrm>
          <a:prstGeom prst="roundRect">
            <a:avLst/>
          </a:prstGeom>
          <a:solidFill>
            <a:srgbClr val="F2C230"/>
          </a:solidFill>
          <a:ln>
            <a:solidFill>
              <a:srgbClr val="F2C2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/>
            <a:r>
              <a:rPr sz="1400" b="1">
                <a:solidFill>
                  <a:srgbClr val="151515"/>
                </a:solidFill>
                <a:latin typeface="Aptos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319272"/>
            <a:ext cx="25146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700" b="1">
                <a:solidFill>
                  <a:srgbClr val="151515"/>
                </a:solidFill>
                <a:latin typeface="Aptos"/>
              </a:rPr>
              <a:t>Envía 163 parámetros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840480" y="3566160"/>
            <a:ext cx="411480" cy="0"/>
          </a:xfrm>
          <a:prstGeom prst="line">
            <a:avLst/>
          </a:prstGeom>
          <a:ln w="25400">
            <a:solidFill>
              <a:srgbClr val="5E6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389120" y="3337560"/>
            <a:ext cx="438912" cy="438912"/>
          </a:xfrm>
          <a:prstGeom prst="roundRect">
            <a:avLst/>
          </a:prstGeom>
          <a:solidFill>
            <a:srgbClr val="F2C230"/>
          </a:solidFill>
          <a:ln>
            <a:solidFill>
              <a:srgbClr val="F2C2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/>
            <a:r>
              <a:rPr sz="1400" b="1">
                <a:solidFill>
                  <a:srgbClr val="151515"/>
                </a:solidFill>
                <a:latin typeface="Aptos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80" y="3319272"/>
            <a:ext cx="25146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700" b="1">
                <a:solidFill>
                  <a:srgbClr val="151515"/>
                </a:solidFill>
                <a:latin typeface="Aptos"/>
              </a:rPr>
              <a:t>PC aplica FedAvg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543800" y="3566160"/>
            <a:ext cx="411479" cy="0"/>
          </a:xfrm>
          <a:prstGeom prst="line">
            <a:avLst/>
          </a:prstGeom>
          <a:ln w="25400">
            <a:solidFill>
              <a:srgbClr val="5E6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092440" y="3337560"/>
            <a:ext cx="438912" cy="438912"/>
          </a:xfrm>
          <a:prstGeom prst="roundRect">
            <a:avLst/>
          </a:prstGeom>
          <a:solidFill>
            <a:srgbClr val="F2C230"/>
          </a:solidFill>
          <a:ln>
            <a:solidFill>
              <a:srgbClr val="F2C2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/>
            <a:r>
              <a:rPr sz="1400" b="1">
                <a:solidFill>
                  <a:srgbClr val="151515"/>
                </a:solidFill>
                <a:latin typeface="Aptos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319272"/>
            <a:ext cx="2514600" cy="50292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r>
              <a:rPr sz="1700" b="1">
                <a:solidFill>
                  <a:srgbClr val="151515"/>
                </a:solidFill>
                <a:latin typeface="Aptos"/>
              </a:rPr>
              <a:t>Modelo global vuelve al edge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486400"/>
            <a:ext cx="9875520" cy="41148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/>
            <a:r>
              <a:rPr sz="1900" b="1">
                <a:solidFill>
                  <a:srgbClr val="26547C"/>
                </a:solidFill>
                <a:latin typeface="Aptos"/>
              </a:rPr>
              <a:t>El modelo completo tiene 1,139 parámetros; el ciclo federado comparte solo W3, b3, W4 y b4.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6473952"/>
            <a:ext cx="1737360" cy="18288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r"/>
            <a:r>
              <a:rPr sz="800" b="0">
                <a:solidFill>
                  <a:srgbClr val="5E6470"/>
                </a:solidFill>
                <a:latin typeface="Aptos"/>
              </a:rPr>
              <a:t>Avances HFL v7 |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34747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900" b="1">
                <a:solidFill>
                  <a:srgbClr val="2A9D8F"/>
                </a:solidFill>
                <a:latin typeface="Aptos"/>
              </a:rPr>
              <a:t>SEGURIDAD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7863840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151515"/>
                </a:solidFill>
                <a:latin typeface="Aptos"/>
              </a:rPr>
              <a:t>ASCON-128 protege el ciclo completo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143000" cy="36576"/>
          </a:xfrm>
          <a:prstGeom prst="rect">
            <a:avLst/>
          </a:prstGeom>
          <a:solidFill>
            <a:srgbClr val="F2C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Unian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82880"/>
            <a:ext cx="1005840" cy="575296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8225509"/>
              </p:ext>
            </p:extLst>
          </p:nvPr>
        </p:nvGraphicFramePr>
        <p:xfrm>
          <a:off x="594360" y="1325880"/>
          <a:ext cx="7153326" cy="32708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24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555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85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68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4167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Canal</a:t>
                      </a:r>
                    </a:p>
                  </a:txBody>
                  <a:tcPr marL="45720" marR="45720" marT="27432" marB="27432">
                    <a:solidFill>
                      <a:srgbClr val="2654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Contenido</a:t>
                      </a:r>
                    </a:p>
                  </a:txBody>
                  <a:tcPr marL="45720" marR="45720" marT="27432" marB="27432">
                    <a:solidFill>
                      <a:srgbClr val="2654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Modo RN</a:t>
                      </a:r>
                    </a:p>
                  </a:txBody>
                  <a:tcPr marL="45720" marR="45720" marT="27432" marB="27432">
                    <a:solidFill>
                      <a:srgbClr val="2654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Baseline</a:t>
                      </a:r>
                    </a:p>
                  </a:txBody>
                  <a:tcPr marL="45720" marR="45720" marT="27432" marB="27432">
                    <a:solidFill>
                      <a:srgbClr val="2654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4167"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151515"/>
                          </a:solidFill>
                          <a:latin typeface="Aptos"/>
                        </a:rPr>
                        <a:t>ESP32 -&gt; RPi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51515"/>
                          </a:solidFill>
                          <a:latin typeface="Aptos"/>
                        </a:rPr>
                        <a:t>Features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51515"/>
                          </a:solidFill>
                          <a:latin typeface="Aptos"/>
                        </a:rPr>
                        <a:t>MQTT + ASCON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51515"/>
                          </a:solidFill>
                          <a:latin typeface="Aptos"/>
                        </a:rPr>
                        <a:t>MQTT plain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4167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51515"/>
                          </a:solidFill>
                          <a:latin typeface="Aptos"/>
                        </a:rPr>
                        <a:t>RPi -&gt; PC</a:t>
                      </a:r>
                    </a:p>
                  </a:txBody>
                  <a:tcPr marL="45720" marR="45720" marT="27432" marB="27432"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51515"/>
                          </a:solidFill>
                          <a:latin typeface="Aptos"/>
                        </a:rPr>
                        <a:t>Pesos + métricas</a:t>
                      </a:r>
                    </a:p>
                  </a:txBody>
                  <a:tcPr marL="45720" marR="45720" marT="27432" marB="27432"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51515"/>
                          </a:solidFill>
                          <a:latin typeface="Aptos"/>
                        </a:rPr>
                        <a:t>HTTP + ASCON</a:t>
                      </a:r>
                    </a:p>
                  </a:txBody>
                  <a:tcPr marL="45720" marR="45720" marT="27432" marB="27432"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51515"/>
                          </a:solidFill>
                          <a:latin typeface="Aptos"/>
                        </a:rPr>
                        <a:t>HTTP plain</a:t>
                      </a:r>
                    </a:p>
                  </a:txBody>
                  <a:tcPr marL="45720" marR="45720" marT="27432" marB="27432">
                    <a:solidFill>
                      <a:srgbClr val="F7F4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4167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51515"/>
                          </a:solidFill>
                          <a:latin typeface="Aptos"/>
                        </a:rPr>
                        <a:t>PC -&gt; RPi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151515"/>
                          </a:solidFill>
                          <a:latin typeface="Aptos"/>
                        </a:rPr>
                        <a:t>Modelo global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51515"/>
                          </a:solidFill>
                          <a:latin typeface="Aptos"/>
                        </a:rPr>
                        <a:t>HTTP + ASCON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51515"/>
                          </a:solidFill>
                          <a:latin typeface="Aptos"/>
                        </a:rPr>
                        <a:t>HTTP plain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4167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51515"/>
                          </a:solidFill>
                          <a:latin typeface="Aptos"/>
                        </a:rPr>
                        <a:t>RPi -&gt; ESP32</a:t>
                      </a:r>
                    </a:p>
                  </a:txBody>
                  <a:tcPr marL="45720" marR="45720" marT="27432" marB="27432"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51515"/>
                          </a:solidFill>
                          <a:latin typeface="Aptos"/>
                        </a:rPr>
                        <a:t>Modelo global</a:t>
                      </a:r>
                    </a:p>
                  </a:txBody>
                  <a:tcPr marL="45720" marR="45720" marT="27432" marB="27432"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51515"/>
                          </a:solidFill>
                          <a:latin typeface="Aptos"/>
                        </a:rPr>
                        <a:t>MQTT + ASCON</a:t>
                      </a:r>
                    </a:p>
                  </a:txBody>
                  <a:tcPr marL="45720" marR="45720" marT="27432" marB="27432"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151515"/>
                          </a:solidFill>
                          <a:latin typeface="Aptos"/>
                        </a:rPr>
                        <a:t>MQTT plain</a:t>
                      </a:r>
                    </a:p>
                  </a:txBody>
                  <a:tcPr marL="45720" marR="45720" marT="27432" marB="27432">
                    <a:solidFill>
                      <a:srgbClr val="F7F4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092440" y="1417320"/>
            <a:ext cx="1920240" cy="502920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r>
              <a:rPr sz="3600" b="1">
                <a:solidFill>
                  <a:srgbClr val="2A9D8F"/>
                </a:solidFill>
                <a:latin typeface="Aptos"/>
              </a:rPr>
              <a:t>&lt; 0.1%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993392"/>
            <a:ext cx="2743200" cy="32004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r>
              <a:rPr sz="1500" b="1">
                <a:solidFill>
                  <a:srgbClr val="151515"/>
                </a:solidFill>
                <a:latin typeface="Aptos"/>
              </a:rPr>
              <a:t>overhead temporal relativo por ronda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971800"/>
            <a:ext cx="1920240" cy="502920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r>
              <a:rPr sz="3600" b="1">
                <a:solidFill>
                  <a:srgbClr val="C44536"/>
                </a:solidFill>
                <a:latin typeface="Aptos"/>
              </a:rPr>
              <a:t>~36%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3547872"/>
            <a:ext cx="2743200" cy="32004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r>
              <a:rPr sz="1500" b="1">
                <a:solidFill>
                  <a:srgbClr val="151515"/>
                </a:solidFill>
                <a:latin typeface="Aptos"/>
              </a:rPr>
              <a:t>incremento de tamaño por mensaje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983480"/>
            <a:ext cx="978408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>
                <a:solidFill>
                  <a:srgbClr val="26547C"/>
                </a:solidFill>
                <a:latin typeface="Aptos"/>
              </a:rPr>
              <a:t>La rama no-ASCON permite medir el costo del cifrado sin cambiar el resto de la arquitectura.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21240" y="6473952"/>
            <a:ext cx="1737360" cy="18288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r"/>
            <a:r>
              <a:rPr sz="800" b="0">
                <a:solidFill>
                  <a:srgbClr val="5E6470"/>
                </a:solidFill>
                <a:latin typeface="Aptos"/>
              </a:rPr>
              <a:t>Avances HFL v7 |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34747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900" b="1">
                <a:solidFill>
                  <a:srgbClr val="2A9D8F"/>
                </a:solidFill>
                <a:latin typeface="Aptos"/>
              </a:rPr>
              <a:t>AGREGACIÓN INTERMEDIA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7863840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151515"/>
                </a:solidFill>
                <a:latin typeface="Aptos"/>
              </a:rPr>
              <a:t>Estrategia FOG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143000" cy="36576"/>
          </a:xfrm>
          <a:prstGeom prst="rect">
            <a:avLst/>
          </a:prstGeom>
          <a:solidFill>
            <a:srgbClr val="F2C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Unian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82880"/>
            <a:ext cx="1005840" cy="57529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" y="2194560"/>
            <a:ext cx="1645920" cy="548640"/>
          </a:xfrm>
          <a:prstGeom prst="roundRect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Gateway A</a:t>
            </a:r>
            <a:br/>
            <a:r>
              <a:t>leader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069080"/>
            <a:ext cx="1645920" cy="548640"/>
          </a:xfrm>
          <a:prstGeom prst="roundRect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Gateway B</a:t>
            </a:r>
            <a:br/>
            <a:r>
              <a:t>peer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3063240"/>
            <a:ext cx="1828800" cy="685800"/>
          </a:xfrm>
          <a:prstGeom prst="roundRect">
            <a:avLst/>
          </a:prstGeom>
          <a:solidFill>
            <a:srgbClr val="F2C230"/>
          </a:solidFill>
          <a:ln>
            <a:solidFill>
              <a:srgbClr val="F2C2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/>
            <a:r>
              <a:rPr sz="1800" b="1">
                <a:solidFill>
                  <a:srgbClr val="151515"/>
                </a:solidFill>
                <a:latin typeface="Aptos"/>
              </a:rPr>
              <a:t>Fog FedAvg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3063240"/>
            <a:ext cx="1645920" cy="685800"/>
          </a:xfrm>
          <a:prstGeom prst="roundRect">
            <a:avLst/>
          </a:prstGeom>
          <a:solidFill>
            <a:srgbClr val="26547C"/>
          </a:solidFill>
          <a:ln>
            <a:solidFill>
              <a:srgbClr val="265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PC</a:t>
            </a:r>
            <a:br/>
            <a:r>
              <a:t>Cloud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14600" y="2468880"/>
            <a:ext cx="2331720" cy="777240"/>
          </a:xfrm>
          <a:prstGeom prst="line">
            <a:avLst/>
          </a:prstGeom>
          <a:ln w="2540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514600" y="3520440"/>
            <a:ext cx="2331720" cy="822960"/>
          </a:xfrm>
          <a:prstGeom prst="line">
            <a:avLst/>
          </a:prstGeom>
          <a:ln w="2540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675120" y="3401568"/>
            <a:ext cx="2468880" cy="0"/>
          </a:xfrm>
          <a:prstGeom prst="line">
            <a:avLst/>
          </a:prstGeom>
          <a:ln w="2540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6675120" y="3886200"/>
            <a:ext cx="2468880" cy="0"/>
          </a:xfrm>
          <a:prstGeom prst="line">
            <a:avLst/>
          </a:prstGeom>
          <a:ln w="25400">
            <a:solidFill>
              <a:srgbClr val="C445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108960" y="2423160"/>
            <a:ext cx="1280160" cy="228600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r>
              <a:rPr sz="1200" b="1">
                <a:solidFill>
                  <a:srgbClr val="2A9D8F"/>
                </a:solidFill>
                <a:latin typeface="Aptos"/>
              </a:rPr>
              <a:t>fog/weights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063240"/>
            <a:ext cx="1645920" cy="228600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r>
              <a:rPr sz="1200" b="1">
                <a:solidFill>
                  <a:srgbClr val="2A9D8F"/>
                </a:solidFill>
                <a:latin typeface="Aptos"/>
              </a:rPr>
              <a:t>/aggregate-from-fog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4041648"/>
            <a:ext cx="1645920" cy="228600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r>
              <a:rPr sz="1200" b="1">
                <a:solidFill>
                  <a:srgbClr val="C44536"/>
                </a:solidFill>
                <a:latin typeface="Aptos"/>
              </a:rPr>
              <a:t>fog/global_model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3035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51515"/>
                </a:solidFill>
                <a:latin typeface="Aptos"/>
              </a:rPr>
              <a:t>El líder agrega pesos locales y pesos peer.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51515"/>
                </a:solidFill>
                <a:latin typeface="Aptos"/>
              </a:rPr>
              <a:t>El PC recibe una actualización preagregada.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51515"/>
                </a:solidFill>
                <a:latin typeface="Aptos"/>
              </a:rPr>
              <a:t>El modelo global se redistribuye a peers y ESP32.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21240" y="6473952"/>
            <a:ext cx="1737360" cy="18288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r"/>
            <a:r>
              <a:rPr sz="800" b="0">
                <a:solidFill>
                  <a:srgbClr val="5E6470"/>
                </a:solidFill>
                <a:latin typeface="Aptos"/>
              </a:rPr>
              <a:t>Avances HFL v7 |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34747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900" b="1">
                <a:solidFill>
                  <a:srgbClr val="2A9D8F"/>
                </a:solidFill>
                <a:latin typeface="Aptos"/>
              </a:rPr>
              <a:t>EVIDENCIA EXPERIMENTAL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7863840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151515"/>
                </a:solidFill>
                <a:latin typeface="Aptos"/>
              </a:rPr>
              <a:t>Resultados de las variantes v7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143000" cy="36576"/>
          </a:xfrm>
          <a:prstGeom prst="rect">
            <a:avLst/>
          </a:prstGeom>
          <a:solidFill>
            <a:srgbClr val="F2C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Unian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82880"/>
            <a:ext cx="1005840" cy="575296"/>
          </a:xfrm>
          <a:prstGeom prst="rect">
            <a:avLst/>
          </a:prstGeom>
        </p:spPr>
      </p:pic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85800" y="1325880"/>
          <a:ext cx="566928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675120" y="1508760"/>
          <a:ext cx="420624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Variante</a:t>
                      </a:r>
                    </a:p>
                  </a:txBody>
                  <a:tcPr marL="45720" marR="45720" marT="27432" marB="27432">
                    <a:solidFill>
                      <a:srgbClr val="2654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Intentos</a:t>
                      </a:r>
                    </a:p>
                  </a:txBody>
                  <a:tcPr marL="45720" marR="45720" marT="27432" marB="27432">
                    <a:solidFill>
                      <a:srgbClr val="2654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Loss</a:t>
                      </a:r>
                    </a:p>
                  </a:txBody>
                  <a:tcPr marL="45720" marR="45720" marT="27432" marB="27432">
                    <a:solidFill>
                      <a:srgbClr val="2654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Ronda</a:t>
                      </a:r>
                    </a:p>
                  </a:txBody>
                  <a:tcPr marL="45720" marR="45720" marT="27432" marB="27432">
                    <a:solidFill>
                      <a:srgbClr val="2654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151515"/>
                          </a:solidFill>
                          <a:latin typeface="Aptos"/>
                        </a:rPr>
                        <a:t>RN + ASCON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51515"/>
                          </a:solidFill>
                          <a:latin typeface="Aptos"/>
                        </a:rPr>
                        <a:t>9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51515"/>
                          </a:solidFill>
                          <a:latin typeface="Aptos"/>
                        </a:rPr>
                        <a:t>0.1415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51515"/>
                          </a:solidFill>
                          <a:latin typeface="Aptos"/>
                        </a:rPr>
                        <a:t>61.25 s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51515"/>
                          </a:solidFill>
                          <a:latin typeface="Aptos"/>
                        </a:rPr>
                        <a:t>RN sin ASCON</a:t>
                      </a:r>
                    </a:p>
                  </a:txBody>
                  <a:tcPr marL="45720" marR="45720" marT="27432" marB="27432"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51515"/>
                          </a:solidFill>
                          <a:latin typeface="Aptos"/>
                        </a:rPr>
                        <a:t>14</a:t>
                      </a:r>
                    </a:p>
                  </a:txBody>
                  <a:tcPr marL="45720" marR="45720" marT="27432" marB="27432"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51515"/>
                          </a:solidFill>
                          <a:latin typeface="Aptos"/>
                        </a:rPr>
                        <a:t>0.1581</a:t>
                      </a:r>
                    </a:p>
                  </a:txBody>
                  <a:tcPr marL="45720" marR="45720" marT="27432" marB="27432"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51515"/>
                          </a:solidFill>
                          <a:latin typeface="Aptos"/>
                        </a:rPr>
                        <a:t>51.01 s</a:t>
                      </a:r>
                    </a:p>
                  </a:txBody>
                  <a:tcPr marL="45720" marR="45720" marT="27432" marB="27432">
                    <a:solidFill>
                      <a:srgbClr val="F7F4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51515"/>
                          </a:solidFill>
                          <a:latin typeface="Aptos"/>
                        </a:rPr>
                        <a:t>CNN FOG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51515"/>
                          </a:solidFill>
                          <a:latin typeface="Aptos"/>
                        </a:rPr>
                        <a:t>7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51515"/>
                          </a:solidFill>
                          <a:latin typeface="Aptos"/>
                        </a:rPr>
                        <a:t>0.0910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151515"/>
                          </a:solidFill>
                          <a:latin typeface="Aptos"/>
                        </a:rPr>
                        <a:t>58.61 s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720840" y="4160520"/>
            <a:ext cx="4160520" cy="82296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r>
              <a:rPr sz="1700" b="1">
                <a:solidFill>
                  <a:srgbClr val="26547C"/>
                </a:solidFill>
                <a:latin typeface="Aptos"/>
              </a:rPr>
              <a:t>Lectura: ASCON no rompe la convergencia; FOG y CNN funcionan, pero el MLP/RN conserva la ruta más simple para defender.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21240" y="6473952"/>
            <a:ext cx="1737360" cy="18288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r"/>
            <a:r>
              <a:rPr sz="800" b="0">
                <a:solidFill>
                  <a:srgbClr val="5E6470"/>
                </a:solidFill>
                <a:latin typeface="Aptos"/>
              </a:rPr>
              <a:t>Avances HFL v7 |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34747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900" b="1">
                <a:solidFill>
                  <a:srgbClr val="2A9D8F"/>
                </a:solidFill>
                <a:latin typeface="Aptos"/>
              </a:rPr>
              <a:t>CAMBIOS INCORPORADOS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7863840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151515"/>
                </a:solidFill>
                <a:latin typeface="Aptos"/>
              </a:rPr>
              <a:t>Paper actualizado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143000" cy="36576"/>
          </a:xfrm>
          <a:prstGeom prst="rect">
            <a:avLst/>
          </a:prstGeom>
          <a:solidFill>
            <a:srgbClr val="F2C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Unian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82880"/>
            <a:ext cx="1005840" cy="5752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150876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51515"/>
                </a:solidFill>
                <a:latin typeface="Aptos"/>
              </a:rPr>
              <a:t>Introducción y objetivos alineados con v7 real: ESP32-S3, Raspberry Pi 4 y PC.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51515"/>
                </a:solidFill>
                <a:latin typeface="Aptos"/>
              </a:rPr>
              <a:t>Marco teórico depurado: TinyML, HFL, ASCON, FOG y NLP como trabajo futuro.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51515"/>
                </a:solidFill>
                <a:latin typeface="Aptos"/>
              </a:rPr>
              <a:t>Metodología ampliada: RN/MLP, CNN, no-ASCON, FOG y notebook de entrenamiento.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51515"/>
                </a:solidFill>
                <a:latin typeface="Aptos"/>
              </a:rPr>
              <a:t>Resultados actualizados con comparación offline y métricas de variantes.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51515"/>
                </a:solidFill>
                <a:latin typeface="Aptos"/>
              </a:rPr>
              <a:t>Conclusiones ajustadas: arquitectura modular y validación del ciclo bidireccional.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349240"/>
            <a:ext cx="9875520" cy="32004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r>
              <a:rPr sz="1800" b="1">
                <a:solidFill>
                  <a:srgbClr val="2A9D8F"/>
                </a:solidFill>
                <a:latin typeface="Aptos"/>
              </a:rPr>
              <a:t>El PDF ya compila con Tectonic: build/EncabezadoTesisMSc.pdf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21240" y="6473952"/>
            <a:ext cx="1737360" cy="18288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r"/>
            <a:r>
              <a:rPr sz="800" b="0">
                <a:solidFill>
                  <a:srgbClr val="5E6470"/>
                </a:solidFill>
                <a:latin typeface="Aptos"/>
              </a:rPr>
              <a:t>Avances HFL v7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34747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900" b="1">
                <a:solidFill>
                  <a:srgbClr val="2A9D8F"/>
                </a:solidFill>
                <a:latin typeface="Aptos"/>
              </a:rPr>
              <a:t>SÍNTESIS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7863840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151515"/>
                </a:solidFill>
                <a:latin typeface="Aptos"/>
              </a:rPr>
              <a:t>Mensaje para la reunión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143000" cy="36576"/>
          </a:xfrm>
          <a:prstGeom prst="rect">
            <a:avLst/>
          </a:prstGeom>
          <a:solidFill>
            <a:srgbClr val="F2C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Unian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82880"/>
            <a:ext cx="1005840" cy="5752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1417320"/>
            <a:ext cx="4114800" cy="41148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r>
              <a:rPr sz="2400" b="1">
                <a:solidFill>
                  <a:srgbClr val="151515"/>
                </a:solidFill>
                <a:latin typeface="Aptos"/>
              </a:rPr>
              <a:t>Lo que ya podemos mostrar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51515"/>
                </a:solidFill>
                <a:latin typeface="Aptos"/>
              </a:rPr>
              <a:t>HFL bidireccional funcionando en Edge--Fog--Cloud.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51515"/>
                </a:solidFill>
                <a:latin typeface="Aptos"/>
              </a:rPr>
              <a:t>Tres variantes comparables: RN, no-ASCON y CNN.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51515"/>
                </a:solidFill>
                <a:latin typeface="Aptos"/>
              </a:rPr>
              <a:t>Modo FOG implementado para agregación entre gateways.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51515"/>
                </a:solidFill>
                <a:latin typeface="Aptos"/>
              </a:rPr>
              <a:t>ASCON medido contra baseline y viable en tiempo.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417320"/>
            <a:ext cx="4114800" cy="41148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r>
              <a:rPr sz="2400" b="1">
                <a:solidFill>
                  <a:srgbClr val="C44536"/>
                </a:solidFill>
                <a:latin typeface="Aptos"/>
              </a:rPr>
              <a:t>Pendientes honestos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011680"/>
            <a:ext cx="507492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dirty="0" err="1">
                <a:solidFill>
                  <a:srgbClr val="151515"/>
                </a:solidFill>
                <a:latin typeface="Aptos"/>
              </a:rPr>
              <a:t>Mejorar</a:t>
            </a:r>
            <a:r>
              <a:rPr sz="2000" dirty="0">
                <a:solidFill>
                  <a:srgbClr val="151515"/>
                </a:solidFill>
                <a:latin typeface="Aptos"/>
              </a:rPr>
              <a:t> </a:t>
            </a:r>
            <a:r>
              <a:rPr sz="2000" dirty="0" err="1">
                <a:solidFill>
                  <a:srgbClr val="151515"/>
                </a:solidFill>
                <a:latin typeface="Aptos"/>
              </a:rPr>
              <a:t>redacción</a:t>
            </a:r>
            <a:r>
              <a:rPr sz="2000" dirty="0">
                <a:solidFill>
                  <a:srgbClr val="151515"/>
                </a:solidFill>
                <a:latin typeface="Aptos"/>
              </a:rPr>
              <a:t> final y </a:t>
            </a:r>
            <a:r>
              <a:rPr sz="2000" dirty="0" err="1">
                <a:solidFill>
                  <a:srgbClr val="151515"/>
                </a:solidFill>
                <a:latin typeface="Aptos"/>
              </a:rPr>
              <a:t>uniformar</a:t>
            </a:r>
            <a:r>
              <a:rPr sz="2000" dirty="0">
                <a:solidFill>
                  <a:srgbClr val="151515"/>
                </a:solidFill>
                <a:latin typeface="Aptos"/>
              </a:rPr>
              <a:t> </a:t>
            </a:r>
            <a:r>
              <a:rPr sz="2000" dirty="0" err="1">
                <a:solidFill>
                  <a:srgbClr val="151515"/>
                </a:solidFill>
                <a:latin typeface="Aptos"/>
              </a:rPr>
              <a:t>nombres</a:t>
            </a:r>
            <a:r>
              <a:rPr sz="2000" dirty="0">
                <a:solidFill>
                  <a:srgbClr val="151515"/>
                </a:solidFill>
                <a:latin typeface="Aptos"/>
              </a:rPr>
              <a:t> de </a:t>
            </a:r>
            <a:r>
              <a:rPr sz="2000" dirty="0" err="1">
                <a:solidFill>
                  <a:srgbClr val="151515"/>
                </a:solidFill>
                <a:latin typeface="Aptos"/>
              </a:rPr>
              <a:t>ramas</a:t>
            </a:r>
            <a:r>
              <a:rPr sz="2000" dirty="0">
                <a:solidFill>
                  <a:srgbClr val="151515"/>
                </a:solidFill>
                <a:latin typeface="Aptos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dirty="0" err="1">
                <a:solidFill>
                  <a:srgbClr val="151515"/>
                </a:solidFill>
                <a:latin typeface="Aptos"/>
              </a:rPr>
              <a:t>Reducir</a:t>
            </a:r>
            <a:r>
              <a:rPr sz="2000" dirty="0">
                <a:solidFill>
                  <a:srgbClr val="151515"/>
                </a:solidFill>
                <a:latin typeface="Aptos"/>
              </a:rPr>
              <a:t> overfull boxes del LaTeX </a:t>
            </a:r>
            <a:r>
              <a:rPr sz="2000" dirty="0" err="1">
                <a:solidFill>
                  <a:srgbClr val="151515"/>
                </a:solidFill>
                <a:latin typeface="Aptos"/>
              </a:rPr>
              <a:t>si</a:t>
            </a:r>
            <a:r>
              <a:rPr sz="2000" dirty="0">
                <a:solidFill>
                  <a:srgbClr val="151515"/>
                </a:solidFill>
                <a:latin typeface="Aptos"/>
              </a:rPr>
              <a:t> se </a:t>
            </a:r>
            <a:r>
              <a:rPr sz="2000" dirty="0" err="1">
                <a:solidFill>
                  <a:srgbClr val="151515"/>
                </a:solidFill>
                <a:latin typeface="Aptos"/>
              </a:rPr>
              <a:t>entrega</a:t>
            </a:r>
            <a:r>
              <a:rPr sz="2000" dirty="0">
                <a:solidFill>
                  <a:srgbClr val="151515"/>
                </a:solidFill>
                <a:latin typeface="Aptos"/>
              </a:rPr>
              <a:t> </a:t>
            </a:r>
            <a:r>
              <a:rPr sz="2000" dirty="0" err="1">
                <a:solidFill>
                  <a:srgbClr val="151515"/>
                </a:solidFill>
                <a:latin typeface="Aptos"/>
              </a:rPr>
              <a:t>versión</a:t>
            </a:r>
            <a:r>
              <a:rPr sz="2000" dirty="0">
                <a:solidFill>
                  <a:srgbClr val="151515"/>
                </a:solidFill>
                <a:latin typeface="Aptos"/>
              </a:rPr>
              <a:t> final.</a:t>
            </a:r>
          </a:p>
          <a:p>
            <a:pPr>
              <a:spcAft>
                <a:spcPts val="800"/>
              </a:spcAft>
            </a:pPr>
            <a:r>
              <a:rPr sz="2000" dirty="0" err="1">
                <a:solidFill>
                  <a:srgbClr val="151515"/>
                </a:solidFill>
                <a:latin typeface="Aptos"/>
              </a:rPr>
              <a:t>Agregar</a:t>
            </a:r>
            <a:r>
              <a:rPr sz="2000" dirty="0">
                <a:solidFill>
                  <a:srgbClr val="151515"/>
                </a:solidFill>
                <a:latin typeface="Aptos"/>
              </a:rPr>
              <a:t> </a:t>
            </a:r>
            <a:r>
              <a:rPr sz="2000" dirty="0" err="1">
                <a:solidFill>
                  <a:srgbClr val="151515"/>
                </a:solidFill>
                <a:latin typeface="Aptos"/>
              </a:rPr>
              <a:t>fotos</a:t>
            </a:r>
            <a:r>
              <a:rPr sz="2000" dirty="0">
                <a:solidFill>
                  <a:srgbClr val="151515"/>
                </a:solidFill>
                <a:latin typeface="Aptos"/>
              </a:rPr>
              <a:t>/hardware real </a:t>
            </a:r>
            <a:r>
              <a:rPr sz="2000" dirty="0" err="1">
                <a:solidFill>
                  <a:srgbClr val="151515"/>
                </a:solidFill>
                <a:latin typeface="Aptos"/>
              </a:rPr>
              <a:t>si</a:t>
            </a:r>
            <a:r>
              <a:rPr sz="2000" dirty="0">
                <a:solidFill>
                  <a:srgbClr val="151515"/>
                </a:solidFill>
                <a:latin typeface="Aptos"/>
              </a:rPr>
              <a:t> </a:t>
            </a:r>
            <a:r>
              <a:rPr sz="2000" dirty="0" err="1">
                <a:solidFill>
                  <a:srgbClr val="151515"/>
                </a:solidFill>
                <a:latin typeface="Aptos"/>
              </a:rPr>
              <a:t>el</a:t>
            </a:r>
            <a:r>
              <a:rPr sz="2000" dirty="0">
                <a:solidFill>
                  <a:srgbClr val="151515"/>
                </a:solidFill>
                <a:latin typeface="Aptos"/>
              </a:rPr>
              <a:t> </a:t>
            </a:r>
            <a:r>
              <a:rPr sz="2000" dirty="0" err="1">
                <a:solidFill>
                  <a:srgbClr val="151515"/>
                </a:solidFill>
                <a:latin typeface="Aptos"/>
              </a:rPr>
              <a:t>profesor</a:t>
            </a:r>
            <a:r>
              <a:rPr sz="2000" dirty="0">
                <a:solidFill>
                  <a:srgbClr val="151515"/>
                </a:solidFill>
                <a:latin typeface="Aptos"/>
              </a:rPr>
              <a:t> </a:t>
            </a:r>
            <a:r>
              <a:rPr sz="2000" dirty="0" err="1">
                <a:solidFill>
                  <a:srgbClr val="151515"/>
                </a:solidFill>
                <a:latin typeface="Aptos"/>
              </a:rPr>
              <a:t>pide</a:t>
            </a:r>
            <a:r>
              <a:rPr sz="2000" dirty="0">
                <a:solidFill>
                  <a:srgbClr val="151515"/>
                </a:solidFill>
                <a:latin typeface="Aptos"/>
              </a:rPr>
              <a:t> </a:t>
            </a:r>
            <a:r>
              <a:rPr sz="2000" dirty="0" err="1">
                <a:solidFill>
                  <a:srgbClr val="151515"/>
                </a:solidFill>
                <a:latin typeface="Aptos"/>
              </a:rPr>
              <a:t>evidencia</a:t>
            </a:r>
            <a:r>
              <a:rPr sz="2000" dirty="0">
                <a:solidFill>
                  <a:srgbClr val="151515"/>
                </a:solidFill>
                <a:latin typeface="Aptos"/>
              </a:rPr>
              <a:t> visual.</a:t>
            </a:r>
          </a:p>
          <a:p>
            <a:pPr>
              <a:spcAft>
                <a:spcPts val="800"/>
              </a:spcAft>
            </a:pPr>
            <a:r>
              <a:rPr sz="2000" dirty="0" err="1">
                <a:solidFill>
                  <a:srgbClr val="151515"/>
                </a:solidFill>
                <a:latin typeface="Aptos"/>
              </a:rPr>
              <a:t>Dejar</a:t>
            </a:r>
            <a:r>
              <a:rPr sz="2000" dirty="0">
                <a:solidFill>
                  <a:srgbClr val="151515"/>
                </a:solidFill>
                <a:latin typeface="Aptos"/>
              </a:rPr>
              <a:t> NLP </a:t>
            </a:r>
            <a:r>
              <a:rPr sz="2000" dirty="0" err="1">
                <a:solidFill>
                  <a:srgbClr val="151515"/>
                </a:solidFill>
                <a:latin typeface="Aptos"/>
              </a:rPr>
              <a:t>como</a:t>
            </a:r>
            <a:r>
              <a:rPr sz="2000" dirty="0">
                <a:solidFill>
                  <a:srgbClr val="151515"/>
                </a:solidFill>
                <a:latin typeface="Aptos"/>
              </a:rPr>
              <a:t> </a:t>
            </a:r>
            <a:r>
              <a:rPr sz="2000" dirty="0" err="1">
                <a:solidFill>
                  <a:srgbClr val="151515"/>
                </a:solidFill>
                <a:latin typeface="Aptos"/>
              </a:rPr>
              <a:t>futuro</a:t>
            </a:r>
            <a:r>
              <a:rPr sz="2000" dirty="0">
                <a:solidFill>
                  <a:srgbClr val="151515"/>
                </a:solidFill>
                <a:latin typeface="Aptos"/>
              </a:rPr>
              <a:t>, no </a:t>
            </a:r>
            <a:r>
              <a:rPr sz="2000" dirty="0" err="1">
                <a:solidFill>
                  <a:srgbClr val="151515"/>
                </a:solidFill>
                <a:latin typeface="Aptos"/>
              </a:rPr>
              <a:t>como</a:t>
            </a:r>
            <a:r>
              <a:rPr sz="2000" dirty="0">
                <a:solidFill>
                  <a:srgbClr val="151515"/>
                </a:solidFill>
                <a:latin typeface="Aptos"/>
              </a:rPr>
              <a:t> </a:t>
            </a:r>
            <a:r>
              <a:rPr sz="2000" dirty="0" err="1">
                <a:solidFill>
                  <a:srgbClr val="151515"/>
                </a:solidFill>
                <a:latin typeface="Aptos"/>
              </a:rPr>
              <a:t>implementación</a:t>
            </a:r>
            <a:r>
              <a:rPr sz="2000" dirty="0">
                <a:solidFill>
                  <a:srgbClr val="151515"/>
                </a:solidFill>
                <a:latin typeface="Aptos"/>
              </a:rPr>
              <a:t> actual.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15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6016752"/>
            <a:ext cx="10607040" cy="36576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Tesis técnica: un IDS IoT federado, cifrado y modular puede operar sobre hardware de borde real.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21240" y="6473952"/>
            <a:ext cx="1737360" cy="18288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r"/>
            <a:r>
              <a:rPr sz="800" b="0">
                <a:solidFill>
                  <a:srgbClr val="5E6470"/>
                </a:solidFill>
                <a:latin typeface="Aptos"/>
              </a:rPr>
              <a:t>Avances HFL v7 |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883</Words>
  <Application>Microsoft Office PowerPoint</Application>
  <PresentationFormat>Panorámica</PresentationFormat>
  <Paragraphs>178</Paragraphs>
  <Slides>11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5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Santiago Alejandro Jaimes Puerto</cp:lastModifiedBy>
  <cp:revision>3</cp:revision>
  <dcterms:created xsi:type="dcterms:W3CDTF">2013-01-27T09:14:16Z</dcterms:created>
  <dcterms:modified xsi:type="dcterms:W3CDTF">2026-04-24T04:57:10Z</dcterms:modified>
  <cp:category/>
</cp:coreProperties>
</file>