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Desempeño offline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MLP/RN</c:v>
                </c:pt>
                <c:pt idx="1">
                  <c:v>Residual</c:v>
                </c:pt>
                <c:pt idx="2">
                  <c:v>CNN-1D</c:v>
                </c:pt>
                <c:pt idx="3">
                  <c:v>Transformer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0.906</c:v>
                </c:pt>
                <c:pt idx="1">
                  <c:v>0.9055</c:v>
                </c:pt>
                <c:pt idx="2">
                  <c:v>0.9051</c:v>
                </c:pt>
                <c:pt idx="3">
                  <c:v>0.8903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weighted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MLP/RN</c:v>
                </c:pt>
                <c:pt idx="1">
                  <c:v>Residual</c:v>
                </c:pt>
                <c:pt idx="2">
                  <c:v>CNN-1D</c:v>
                </c:pt>
                <c:pt idx="3">
                  <c:v>Transformer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0.9049</c:v>
                </c:pt>
                <c:pt idx="1">
                  <c:v>0.9044</c:v>
                </c:pt>
                <c:pt idx="2">
                  <c:v>0.9041</c:v>
                </c:pt>
                <c:pt idx="3">
                  <c:v>0.8919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2"/>
          <c:min val="0.86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Accuracy global final promedio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final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RN + ASCON</c:v>
                </c:pt>
                <c:pt idx="1">
                  <c:v>RN sin ASCON</c:v>
                </c:pt>
                <c:pt idx="2">
                  <c:v>CNN FOG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0.9463</c:v>
                </c:pt>
                <c:pt idx="1">
                  <c:v>0.9298</c:v>
                </c:pt>
                <c:pt idx="2">
                  <c:v>0.975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88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4114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F2C230"/>
                </a:solidFill>
                <a:latin typeface="Aptos"/>
              </a:rPr>
              <a:t>Avances HFL v7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400800" cy="2057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800" b="1">
                <a:solidFill>
                  <a:srgbClr val="FFFFFF"/>
                </a:solidFill>
                <a:latin typeface="Aptos"/>
              </a:rPr>
              <a:t>IDS IoT con TinyML,</a:t>
            </a:r>
            <a:br/>
            <a:r>
              <a:t>aprendizaje federado</a:t>
            </a:r>
            <a:br/>
            <a:r>
              <a:t>y ASCON-128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68112"/>
            <a:ext cx="78638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ESP32-S3 -&gt; Raspberry Pi -&gt; PC | RN, CNN, no-ASCON y FOG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6217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151515"/>
                </a:solidFill>
                <a:latin typeface="Aptos"/>
              </a:rPr>
              <a:t>Santiago Alejandro Jaimes Puerto · Nicolas Casas Ibarra</a:t>
            </a:r>
          </a:p>
        </p:txBody>
      </p:sp>
      <p:pic>
        <p:nvPicPr>
          <p:cNvPr id="8" name="Picture 7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5559552"/>
            <a:ext cx="960120" cy="54914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80960" y="2423160"/>
            <a:ext cx="960120" cy="475488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2834640"/>
            <a:ext cx="960120" cy="475488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Fog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2423160"/>
            <a:ext cx="960120" cy="475488"/>
          </a:xfrm>
          <a:prstGeom prst="roundRect">
            <a:avLst/>
          </a:prstGeom>
          <a:solidFill>
            <a:srgbClr val="C44536"/>
          </a:solidFill>
          <a:ln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CAMBIO DE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Del plan v5 al sistema v7 implementado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508760"/>
            <a:ext cx="1097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5E6470"/>
                </a:solidFill>
                <a:latin typeface="Aptos"/>
              </a:rP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508760"/>
            <a:ext cx="1097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2A9D8F"/>
                </a:solidFill>
                <a:latin typeface="Aptos"/>
              </a:rPr>
              <a:t>Ahora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57400"/>
            <a:ext cx="1554480" cy="502920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2057400"/>
            <a:ext cx="1554480" cy="502920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2971800"/>
            <a:ext cx="1645920" cy="502920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ESP32 broker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971800"/>
            <a:ext cx="1645920" cy="502920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ESP32 client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2313432"/>
            <a:ext cx="320040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743200" y="2606040"/>
            <a:ext cx="685800" cy="36576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383280" y="3227832"/>
            <a:ext cx="228600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20" y="1965960"/>
            <a:ext cx="1463040" cy="50292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ESP32-S3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965960"/>
            <a:ext cx="1737360" cy="502920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151515"/>
                </a:solidFill>
                <a:latin typeface="Aptos"/>
              </a:rPr>
              <a:t>Raspberry 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1965960"/>
            <a:ext cx="1143000" cy="502920"/>
          </a:xfrm>
          <a:prstGeom prst="roundRect">
            <a:avLst/>
          </a:prstGeom>
          <a:solidFill>
            <a:srgbClr val="C44536"/>
          </a:solidFill>
          <a:ln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80960" y="2221992"/>
            <a:ext cx="320040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38360" y="2221992"/>
            <a:ext cx="320040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909560" y="2880360"/>
            <a:ext cx="1143000" cy="438912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6052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10 clases y cliente separado quedaron como antecedente.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v7 trabaja con 3 clases MQTT y 13 features de flujo.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La comparación real cambia modelo, cifrado y topología.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160520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RN/MLP con ASCON como rama principal.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Baseline sin ASCON para medir overhead.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CNN-1D y FOG como variantes de arquitectura.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EDGE--FOG--CLOUD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Arquitectura HFL bidireccional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1828800"/>
            <a:ext cx="2331720" cy="59436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21488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151515"/>
                </a:solidFill>
                <a:latin typeface="Aptos"/>
              </a:rPr>
              <a:t>ESP32-S3</a:t>
            </a:r>
            <a:br/>
            <a:r>
              <a:t>Inferencia TinyML</a:t>
            </a:r>
            <a:br/>
            <a:r>
              <a:t>MQTT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2331720" cy="594360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>
                <a:solidFill>
                  <a:srgbClr val="151515"/>
                </a:solidFill>
                <a:latin typeface="Aptos"/>
              </a:rPr>
              <a:t>Fog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606040"/>
            <a:ext cx="21488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151515"/>
                </a:solidFill>
                <a:latin typeface="Aptos"/>
              </a:rPr>
              <a:t>Raspberry Pi</a:t>
            </a:r>
            <a:br/>
            <a:r>
              <a:t>Entrenamiento local</a:t>
            </a:r>
            <a:br/>
            <a:r>
              <a:t>Broker + FedAvg fog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828800"/>
            <a:ext cx="2331720" cy="594360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606040"/>
            <a:ext cx="214884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0">
                <a:solidFill>
                  <a:srgbClr val="151515"/>
                </a:solidFill>
                <a:latin typeface="Aptos"/>
              </a:rPr>
              <a:t>PC FastAPI</a:t>
            </a:r>
            <a:br/>
            <a:r>
              <a:t>FedAvg global</a:t>
            </a:r>
            <a:br/>
            <a:r>
              <a:t>Dashboard + CSV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2148840"/>
            <a:ext cx="1188720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20840" y="2148840"/>
            <a:ext cx="1371600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720840" y="3931920"/>
            <a:ext cx="1371600" cy="0"/>
          </a:xfrm>
          <a:prstGeom prst="line">
            <a:avLst/>
          </a:prstGeom>
          <a:ln w="2540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154680" y="3931920"/>
            <a:ext cx="1188720" cy="0"/>
          </a:xfrm>
          <a:prstGeom prst="line">
            <a:avLst/>
          </a:prstGeom>
          <a:ln w="2540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28800" y="1417320"/>
            <a:ext cx="4937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2A9D8F"/>
                </a:solidFill>
                <a:latin typeface="Aptos"/>
              </a:rPr>
              <a:t>Bottom-up: features -&gt; entrenamiento local -&gt; pesos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4187952"/>
            <a:ext cx="4754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C44536"/>
                </a:solidFill>
                <a:latin typeface="Aptos"/>
              </a:rPr>
              <a:t>Top-down: modelo global -&gt; gateway -&gt; ESP32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Topics: fl/features, fl/global_model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Endpoints: /aggregate-from-gateway, /deploy-model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FOG: fog/weights y fog/global_model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DATASET TRICLASE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Datos y problema de clasificación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61264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286000"/>
                <a:gridCol w="1005840"/>
                <a:gridCol w="1508760"/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Clase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Archivo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Flujos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Señal principal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normal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uniflow_normal.csv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171,837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MQTT/TCP benigno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mqtt_bruteforce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uniflow_mqtt_bruteforce.csv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33,080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PSH y paquetes altos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scan_A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uniflow_scan_A.csv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51,359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Pocos paquetes, tamaño bajo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371600"/>
            <a:ext cx="1828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2A9D8F"/>
                </a:solidFill>
                <a:latin typeface="Aptos"/>
              </a:rPr>
              <a:t>13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205740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num_pkts, num_bytes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mean/std/min/max IAT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mean/std/min/max packet length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PSH, RST y URG flags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20116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51515"/>
                </a:solidFill>
                <a:latin typeface="Aptos"/>
              </a:rPr>
              <a:t>Etiquetado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pkts &gt;= 50 y PSH &gt;= 10 -&gt; bruteforce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pkts &lt;= 5, pkt_len &lt;= 50 y PSH &lt;= 1 -&gt; scan_A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pkts &lt;= 30 y pkt_len &gt;= 50 -&gt; 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NOTEBOOK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Modelos probados antes del despliegue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417320"/>
          <a:ext cx="640080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452360" y="1600200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MLP/RN queda como rama principal por balance.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CNN-1D se implementa para comparar arquitectura.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Transformer se conserva como experimento offline.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51515"/>
                </a:solidFill>
                <a:latin typeface="Aptos"/>
              </a:rPr>
              <a:t>Todos exportan pesos, scaler y label_map.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4800600"/>
            <a:ext cx="36576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26547C"/>
                </a:solidFill>
                <a:latin typeface="Aptos"/>
              </a:rPr>
              <a:t>Decisión: federar solo las capas finales para reducir comunicación.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PROCESO POR RONDA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Entrenamiento federado implementado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508760"/>
            <a:ext cx="438912" cy="438912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90472"/>
            <a:ext cx="2514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ESP32 envía features cada 5 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0480" y="1737360"/>
            <a:ext cx="411480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89120" y="1508760"/>
            <a:ext cx="438912" cy="438912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490472"/>
            <a:ext cx="2514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Gateway acumula 40 muestras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43800" y="1737360"/>
            <a:ext cx="411479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92440" y="1508760"/>
            <a:ext cx="438912" cy="438912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490472"/>
            <a:ext cx="2514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Entrena 5 épocas, batch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37560"/>
            <a:ext cx="438912" cy="438912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319272"/>
            <a:ext cx="2514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Envía 163 parámetros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0" y="3566160"/>
            <a:ext cx="411480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89120" y="3337560"/>
            <a:ext cx="438912" cy="438912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319272"/>
            <a:ext cx="2514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PC aplica FedAvg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43800" y="3566160"/>
            <a:ext cx="411479" cy="0"/>
          </a:xfrm>
          <a:prstGeom prst="line">
            <a:avLst/>
          </a:prstGeom>
          <a:ln w="25400">
            <a:solidFill>
              <a:srgbClr val="5E6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92440" y="3337560"/>
            <a:ext cx="438912" cy="438912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151515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319272"/>
            <a:ext cx="2514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151515"/>
                </a:solidFill>
                <a:latin typeface="Aptos"/>
              </a:rPr>
              <a:t>Modelo global vuelve al 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86400"/>
            <a:ext cx="9875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26547C"/>
                </a:solidFill>
                <a:latin typeface="Aptos"/>
              </a:rPr>
              <a:t>El modelo completo tiene 1,139 parámetros; el ciclo federado comparte solo W3, b3, W4 y b4.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ASCON-128 protege el ciclo completo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25880"/>
          <a:ext cx="6355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737360"/>
                <a:gridCol w="1828800"/>
                <a:gridCol w="1463040"/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Canal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Contenido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Modo RN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Baseline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ESP32 -&gt; RPi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Features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MQTT + ASCON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MQTT plain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RPi -&gt; PC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Pesos + métricas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HTTP + ASCON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HTTP plain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PC -&gt; RPi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Modelo global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HTTP + ASCON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HTTP plain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RPi -&gt; ESP32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Modelo global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MQTT + ASCON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51515"/>
                          </a:solidFill>
                          <a:latin typeface="Aptos"/>
                        </a:rPr>
                        <a:t>MQTT plain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92440" y="1417320"/>
            <a:ext cx="19202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2A9D8F"/>
                </a:solidFill>
                <a:latin typeface="Aptos"/>
              </a:rPr>
              <a:t>&lt; 0.1%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993392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51515"/>
                </a:solidFill>
                <a:latin typeface="Aptos"/>
              </a:rPr>
              <a:t>overhead temporal relativo por ronda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971800"/>
            <a:ext cx="19202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600" b="1">
                <a:solidFill>
                  <a:srgbClr val="C44536"/>
                </a:solidFill>
                <a:latin typeface="Aptos"/>
              </a:rPr>
              <a:t>~36%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547872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151515"/>
                </a:solidFill>
                <a:latin typeface="Aptos"/>
              </a:rPr>
              <a:t>incremento de tamaño por mensaje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978408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26547C"/>
                </a:solidFill>
                <a:latin typeface="Aptos"/>
              </a:rPr>
              <a:t>La rama no-ASCON permite medir el costo del cifrado sin cambiar el resto de la arquitectura.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AGREGACIÓN INTERMEDIA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Estrategia FOG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2194560"/>
            <a:ext cx="1645920" cy="54864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Gateway A</a:t>
            </a:r>
            <a:br/>
            <a:r>
              <a:t>leader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69080"/>
            <a:ext cx="1645920" cy="54864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Gateway B</a:t>
            </a:r>
            <a:br/>
            <a:r>
              <a:t>peer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3063240"/>
            <a:ext cx="1828800" cy="685800"/>
          </a:xfrm>
          <a:prstGeom prst="roundRect">
            <a:avLst/>
          </a:prstGeom>
          <a:solidFill>
            <a:srgbClr val="F2C230"/>
          </a:solidFill>
          <a:ln>
            <a:solidFill>
              <a:srgbClr val="F2C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800" b="1">
                <a:solidFill>
                  <a:srgbClr val="151515"/>
                </a:solidFill>
                <a:latin typeface="Aptos"/>
              </a:rPr>
              <a:t>Fog FedAvg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3063240"/>
            <a:ext cx="1645920" cy="685800"/>
          </a:xfrm>
          <a:prstGeom prst="roundRect">
            <a:avLst/>
          </a:prstGeom>
          <a:solidFill>
            <a:srgbClr val="26547C"/>
          </a:solidFill>
          <a:ln>
            <a:solidFill>
              <a:srgbClr val="2654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PC</a:t>
            </a:r>
            <a:br/>
            <a:r>
              <a:t>Cloud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2468880"/>
            <a:ext cx="2331720" cy="77724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514600" y="3520440"/>
            <a:ext cx="2331720" cy="82296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675120" y="3401568"/>
            <a:ext cx="2468880" cy="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675120" y="3886200"/>
            <a:ext cx="2468880" cy="0"/>
          </a:xfrm>
          <a:prstGeom prst="line">
            <a:avLst/>
          </a:prstGeom>
          <a:ln w="25400">
            <a:solidFill>
              <a:srgbClr val="C445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108960" y="2423160"/>
            <a:ext cx="1280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2A9D8F"/>
                </a:solidFill>
                <a:latin typeface="Aptos"/>
              </a:rPr>
              <a:t>fog/weights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063240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2A9D8F"/>
                </a:solidFill>
                <a:latin typeface="Aptos"/>
              </a:rPr>
              <a:t>/aggregate-from-fog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041648"/>
            <a:ext cx="1645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1">
                <a:solidFill>
                  <a:srgbClr val="C44536"/>
                </a:solidFill>
                <a:latin typeface="Aptos"/>
              </a:rPr>
              <a:t>fog/global_model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3035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El líder agrega pesos locales y pesos peer.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El PC recibe una actualización preagregada.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51515"/>
                </a:solidFill>
                <a:latin typeface="Aptos"/>
              </a:rPr>
              <a:t>El modelo global se redistribuye a peers y ESP32.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EVIDENCIA EXPERIMENTAL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Resultados de las variantes v7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325880"/>
          <a:ext cx="566928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0" y="1508760"/>
          <a:ext cx="4206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822960"/>
                <a:gridCol w="100584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Variante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Intentos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Loss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Ronda</a:t>
                      </a:r>
                    </a:p>
                  </a:txBody>
                  <a:tcPr marL="45720" marR="45720" marT="27432" marB="27432">
                    <a:solidFill>
                      <a:srgbClr val="26547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RN + ASCON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0.1415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61.25 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RN sin ASCON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0.1581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51.01 s</a:t>
                      </a:r>
                    </a:p>
                  </a:txBody>
                  <a:tcPr marL="45720" marR="45720" marT="27432" marB="27432">
                    <a:solidFill>
                      <a:srgbClr val="F7F4E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CNN FOG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0.0910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515"/>
                          </a:solidFill>
                          <a:latin typeface="Aptos"/>
                        </a:rPr>
                        <a:t>58.61 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720840" y="4160520"/>
            <a:ext cx="41605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1">
                <a:solidFill>
                  <a:srgbClr val="26547C"/>
                </a:solidFill>
                <a:latin typeface="Aptos"/>
              </a:rPr>
              <a:t>Lectura: ASCON no rompe la convergencia; FOG y CNN funcionan, pero el MLP/RN conserva la ruta más simple para defender.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CAMBIOS INCORPORADOS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Paper actualizado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5087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Introducción y objetivos alineados con v7 real: ESP32-S3, Raspberry Pi 4 y PC.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Marco teórico depurado: TinyML, HFL, ASCON y FOG.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Metodología ampliada: RN/MLP, CNN, no-ASCON, FOG y notebook de entrenamiento.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Resultados actualizados con comparación offline y métricas de variantes.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Conclusiones ajustadas: arquitectura modular y validación del ciclo bidireccional.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49240"/>
            <a:ext cx="9875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2A9D8F"/>
                </a:solidFill>
                <a:latin typeface="Aptos"/>
              </a:rPr>
              <a:t>El PDF ya compila con Tectonic: build/EncabezadoTesisMSc.pdf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34747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A9D8F"/>
                </a:solidFill>
                <a:latin typeface="Aptos"/>
              </a:rPr>
              <a:t>SÍNTESIS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786384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151515"/>
                </a:solidFill>
                <a:latin typeface="Aptos"/>
              </a:rPr>
              <a:t>Mensaje para la reunión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43000" cy="36576"/>
          </a:xfrm>
          <a:prstGeom prst="rect">
            <a:avLst/>
          </a:prstGeom>
          <a:solidFill>
            <a:srgbClr val="F2C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Unian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005840" cy="5752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1417320"/>
            <a:ext cx="4114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151515"/>
                </a:solidFill>
                <a:latin typeface="Aptos"/>
              </a:rPr>
              <a:t>Lo que ya podemos mostrar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HFL bidireccional funcionando en Edge--Fog--Cloud.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Tres variantes comparables: RN, no-ASCON y CNN.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Modo FOG implementado para agregación entre gateways.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ASCON medido contra baseline y viable en tiempo.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417320"/>
            <a:ext cx="4114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C44536"/>
                </a:solidFill>
                <a:latin typeface="Aptos"/>
              </a:rPr>
              <a:t>Pendientes honestos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Mejorar redacción final y uniformar nombres de ramas.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Reducir overfull boxes del LaTeX si se entrega versión final.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Agregar fotos/hardware real si el profesor pide evidencia visual.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51515"/>
                </a:solidFill>
                <a:latin typeface="Aptos"/>
              </a:rPr>
              <a:t>Cerrar pendientes de redacción, tablas y anexos.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016752"/>
            <a:ext cx="10607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Tesis técnica: un IDS IoT federado, cifrado y modular puede operar sobre hardware de borde real.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6473952"/>
            <a:ext cx="1737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5E6470"/>
                </a:solidFill>
                <a:latin typeface="Aptos"/>
              </a:rPr>
              <a:t>Avances HFL v7 |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