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4" autoAdjust="0"/>
    <p:restoredTop sz="94604"/>
  </p:normalViewPr>
  <p:slideViewPr>
    <p:cSldViewPr>
      <p:cViewPr>
        <p:scale>
          <a:sx n="25" d="100"/>
          <a:sy n="25" d="100"/>
        </p:scale>
        <p:origin x="3138" y="-204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7.png"/><Relationship Id="rId7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COMIT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TICSw</a:t>
            </a:r>
            <a:r>
              <a:rPr lang="es-ES" dirty="0"/>
              <a:t>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IMAGINE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ARTIxxx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MSINxxx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MBITxxx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MISOxxx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ISISxxx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5/05/2026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Ingenier</a:t>
            </a:r>
            <a:r>
              <a:rPr lang="en-US" dirty="0" err="1"/>
              <a:t>ía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Computación</a:t>
            </a:r>
            <a:endParaRPr lang="es-ES" dirty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hfl_v7_bidirectiona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81" y="24263132"/>
            <a:ext cx="12498890" cy="10588990"/>
          </a:xfrm>
          <a:prstGeom prst="rect">
            <a:avLst/>
          </a:prstGeom>
        </p:spPr>
      </p:pic>
      <p:pic>
        <p:nvPicPr>
          <p:cNvPr id="23" name="Picture 22" descr="global_accuracy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586" y="20474323"/>
            <a:ext cx="12587564" cy="4964185"/>
          </a:xfrm>
          <a:prstGeom prst="rect">
            <a:avLst/>
          </a:prstGeom>
        </p:spPr>
      </p:pic>
      <p:sp>
        <p:nvSpPr>
          <p:cNvPr id="2" name="1 Titulo"/>
          <p:cNvSpPr>
            <a:spLocks noGrp="1"/>
          </p:cNvSpPr>
          <p:nvPr>
            <p:ph type="title"/>
          </p:nvPr>
        </p:nvSpPr>
        <p:spPr>
          <a:xfrm>
            <a:off x="339914" y="3913419"/>
            <a:ext cx="24482720" cy="144000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Sistema de deteccion de intrusiones para redes IoT mediante TinyML, aprendizaje federado jerarquico y cifrado ligero ASCON-128 en una arquitectura Edge-Fog-Cloud</a:t>
            </a:r>
            <a:endParaRPr lang="es-CO" dirty="0"/>
          </a:p>
        </p:txBody>
      </p:sp>
      <p:sp>
        <p:nvSpPr>
          <p:cNvPr id="3" name="2 Header Resumen"/>
          <p:cNvSpPr>
            <a:spLocks noGrp="1"/>
          </p:cNvSpPr>
          <p:nvPr>
            <p:ph type="body" sz="quarter" idx="13"/>
          </p:nvPr>
        </p:nvSpPr>
        <p:spPr>
          <a:xfrm>
            <a:off x="585765" y="6512836"/>
            <a:ext cx="24050672" cy="948432"/>
          </a:xfrm>
        </p:spPr>
        <p:txBody>
          <a:bodyPr/>
          <a:lstStyle/>
          <a:p>
            <a:r>
              <a:rPr lang="es-CO" b="1" dirty="0"/>
              <a:t>Resumen</a:t>
            </a:r>
            <a:endParaRPr lang="es-CO" dirty="0"/>
          </a:p>
        </p:txBody>
      </p:sp>
      <p:sp>
        <p:nvSpPr>
          <p:cNvPr id="5" name="4 Header Introduccion"/>
          <p:cNvSpPr>
            <a:spLocks noGrp="1"/>
          </p:cNvSpPr>
          <p:nvPr>
            <p:ph type="body" sz="quarter" idx="15"/>
          </p:nvPr>
        </p:nvSpPr>
        <p:spPr>
          <a:xfrm>
            <a:off x="693442" y="10178774"/>
            <a:ext cx="11520000" cy="1054724"/>
          </a:xfrm>
        </p:spPr>
        <p:txBody>
          <a:bodyPr/>
          <a:lstStyle/>
          <a:p>
            <a:r>
              <a:rPr lang="es-CO" b="1" dirty="0" err="1"/>
              <a:t>Introduccion</a:t>
            </a:r>
            <a:endParaRPr lang="es-CO" dirty="0"/>
          </a:p>
        </p:txBody>
      </p:sp>
      <p:sp>
        <p:nvSpPr>
          <p:cNvPr id="6" name="5 Header Objetivos"/>
          <p:cNvSpPr>
            <a:spLocks noGrp="1"/>
          </p:cNvSpPr>
          <p:nvPr>
            <p:ph type="body" sz="quarter" idx="16"/>
          </p:nvPr>
        </p:nvSpPr>
        <p:spPr>
          <a:xfrm>
            <a:off x="710744" y="16552899"/>
            <a:ext cx="11520000" cy="986431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Objetivos</a:t>
            </a:r>
            <a:endParaRPr lang="es-CO" dirty="0"/>
          </a:p>
        </p:txBody>
      </p:sp>
      <p:sp>
        <p:nvSpPr>
          <p:cNvPr id="7" name="6 Header Metodologia"/>
          <p:cNvSpPr>
            <a:spLocks noGrp="1"/>
          </p:cNvSpPr>
          <p:nvPr>
            <p:ph type="body" sz="quarter" idx="17"/>
          </p:nvPr>
        </p:nvSpPr>
        <p:spPr>
          <a:xfrm>
            <a:off x="731101" y="23474858"/>
            <a:ext cx="11520000" cy="1008112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Metodología</a:t>
            </a:r>
            <a:endParaRPr lang="es-CO" dirty="0"/>
          </a:p>
        </p:txBody>
      </p:sp>
      <p:sp>
        <p:nvSpPr>
          <p:cNvPr id="8" name="7 Header Diseno"/>
          <p:cNvSpPr>
            <a:spLocks noGrp="1"/>
          </p:cNvSpPr>
          <p:nvPr>
            <p:ph type="body" sz="quarter" idx="18"/>
          </p:nvPr>
        </p:nvSpPr>
        <p:spPr>
          <a:xfrm>
            <a:off x="13280568" y="10153378"/>
            <a:ext cx="11520000" cy="1080119"/>
          </a:xfrm>
        </p:spPr>
        <p:txBody>
          <a:bodyPr>
            <a:normAutofit lnSpcReduction="10000"/>
          </a:bodyPr>
          <a:lstStyle/>
          <a:p>
            <a:r>
              <a:rPr lang="es-CO" b="1" dirty="0"/>
              <a:t>Diseño e implementación</a:t>
            </a:r>
            <a:endParaRPr lang="es-CO" dirty="0"/>
          </a:p>
        </p:txBody>
      </p:sp>
      <p:sp>
        <p:nvSpPr>
          <p:cNvPr id="9" name="8 Header Resultados"/>
          <p:cNvSpPr>
            <a:spLocks noGrp="1"/>
          </p:cNvSpPr>
          <p:nvPr>
            <p:ph type="body" sz="quarter" idx="19"/>
          </p:nvPr>
        </p:nvSpPr>
        <p:spPr>
          <a:xfrm>
            <a:off x="13302634" y="19082371"/>
            <a:ext cx="11520000" cy="1144392"/>
          </a:xfrm>
        </p:spPr>
        <p:txBody>
          <a:bodyPr>
            <a:normAutofit/>
          </a:bodyPr>
          <a:lstStyle/>
          <a:p>
            <a:r>
              <a:rPr lang="es-CO" b="1" dirty="0"/>
              <a:t>Resultados</a:t>
            </a:r>
            <a:endParaRPr lang="es-CO" dirty="0"/>
          </a:p>
        </p:txBody>
      </p:sp>
      <p:sp>
        <p:nvSpPr>
          <p:cNvPr id="10" name="9 Header Conclusiones"/>
          <p:cNvSpPr>
            <a:spLocks noGrp="1"/>
          </p:cNvSpPr>
          <p:nvPr>
            <p:ph type="body" sz="quarter" idx="20"/>
          </p:nvPr>
        </p:nvSpPr>
        <p:spPr>
          <a:xfrm>
            <a:off x="13319728" y="28371402"/>
            <a:ext cx="11520000" cy="1035718"/>
          </a:xfrm>
        </p:spPr>
        <p:txBody>
          <a:bodyPr>
            <a:normAutofit lnSpcReduction="10000"/>
          </a:bodyPr>
          <a:lstStyle/>
          <a:p>
            <a:r>
              <a:rPr lang="es-CO" b="1" dirty="0"/>
              <a:t>Conclusiones</a:t>
            </a:r>
            <a:endParaRPr lang="es-CO" dirty="0"/>
          </a:p>
        </p:txBody>
      </p:sp>
      <p:sp>
        <p:nvSpPr>
          <p:cNvPr id="11" name="10 Programa"/>
          <p:cNvSpPr>
            <a:spLocks noGrp="1"/>
          </p:cNvSpPr>
          <p:nvPr>
            <p:ph type="body" sz="quarter" idx="30"/>
          </p:nvPr>
        </p:nvSpPr>
        <p:spPr>
          <a:xfrm>
            <a:off x="-27187" y="2497094"/>
            <a:ext cx="13420850" cy="1223869"/>
          </a:xfrm>
        </p:spPr>
        <p:txBody>
          <a:bodyPr/>
          <a:lstStyle/>
          <a:p>
            <a:r>
              <a:rPr lang="es-CO" dirty="0"/>
              <a:t>COMIT – Seguridad y Sistemas Distribuidos / Maestria en Ingenieria de Sistemas y Computacion</a:t>
            </a:r>
          </a:p>
        </p:txBody>
      </p:sp>
      <p:sp>
        <p:nvSpPr>
          <p:cNvPr id="12" name="11 Integrantes"/>
          <p:cNvSpPr>
            <a:spLocks noGrp="1"/>
          </p:cNvSpPr>
          <p:nvPr>
            <p:ph type="body" sz="quarter" idx="31"/>
          </p:nvPr>
        </p:nvSpPr>
        <p:spPr>
          <a:xfrm>
            <a:off x="731101" y="5328841"/>
            <a:ext cx="23760000" cy="720000"/>
          </a:xfrm>
        </p:spPr>
        <p:txBody>
          <a:bodyPr/>
          <a:lstStyle/>
          <a:p>
            <a:r>
              <a:rPr lang="es-CO" dirty="0"/>
              <a:t>Santiago Alejandro Jaimes Puerto, Nicolas Casas Ibarra</a:t>
            </a:r>
          </a:p>
        </p:txBody>
      </p:sp>
      <p:sp>
        <p:nvSpPr>
          <p:cNvPr id="13" name="12 Correos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CO" dirty="0"/>
              <a:t>sa.jaimesp@uniandes.edu.co, n.casasi@uniandes.edu.co</a:t>
            </a:r>
          </a:p>
        </p:txBody>
      </p:sp>
      <p:sp>
        <p:nvSpPr>
          <p:cNvPr id="14" name="13 Asesor"/>
          <p:cNvSpPr>
            <a:spLocks noGrp="1"/>
          </p:cNvSpPr>
          <p:nvPr>
            <p:ph type="body" sz="quarter" idx="33"/>
          </p:nvPr>
        </p:nvSpPr>
        <p:spPr>
          <a:xfrm>
            <a:off x="13393663" y="2448387"/>
            <a:ext cx="11852351" cy="1249009"/>
          </a:xfrm>
        </p:spPr>
        <p:txBody>
          <a:bodyPr/>
          <a:lstStyle/>
          <a:p>
            <a:r>
              <a:rPr lang="es-CO" dirty="0"/>
              <a:t>Asesor: Prof. Carlos Andres Lozano Garzon, PhD  (calozanog@uniandes.edu.co)</a:t>
            </a:r>
          </a:p>
        </p:txBody>
      </p:sp>
      <p:sp>
        <p:nvSpPr>
          <p:cNvPr id="15" name="14 Introduccion contenido"/>
          <p:cNvSpPr>
            <a:spLocks noGrp="1"/>
          </p:cNvSpPr>
          <p:nvPr>
            <p:ph sz="quarter" idx="34"/>
          </p:nvPr>
        </p:nvSpPr>
        <p:spPr>
          <a:xfrm>
            <a:off x="450676" y="11233497"/>
            <a:ext cx="12247651" cy="5412150"/>
          </a:xfrm>
        </p:spPr>
        <p:txBody>
          <a:bodyPr>
            <a:noAutofit/>
          </a:bodyPr>
          <a:lstStyle/>
          <a:p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El despliegue masivo de redes </a:t>
            </a:r>
            <a:r>
              <a:rPr lang="es-MX" sz="24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/MQTT amplía la superficie de ataque, pero los IDS clásicos asumen servidores capaces, datos centralizados y comunicaciones sin cifrar — supuestos incompatibles con microcontroladores como el ESP32-S3.</a:t>
            </a:r>
          </a:p>
          <a:p>
            <a:endParaRPr lang="es-MX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Problema: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 los modelos de alta precisión (Random Forest, SVM-RBF) superan 99% de </a:t>
            </a:r>
            <a:r>
              <a:rPr lang="es-MX" sz="24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pero requieren megabytes de memoria que un MCU no tiene; centralizar flujos de tráfico es costoso y arriesga la privacidad; y los pesos federados intercambiados en cada ronda son activos sensibles que suelen viajar en claro o protegidos con esquemas ad-hoc ya comprometidos en la literatura.</a:t>
            </a:r>
          </a:p>
          <a:p>
            <a:endParaRPr lang="es-MX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Solución: 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este trabajo construye una arquitectura jerárquica Edge–Fog–Cloud (ESP32-S3 + Raspberry Pi 4 + PC) que combina </a:t>
            </a:r>
            <a:r>
              <a:rPr lang="es-MX" sz="2400" dirty="0" err="1"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para inferencia local, aprendizaje federado bidireccional para entrenamiento distribuido sin compartir datos crudos, y ASCON-128 (estándar NIST 2023 de criptografía ligera) para proteger confidencialidad e integridad en todos los canales MQTT/HTTP.</a:t>
            </a:r>
          </a:p>
        </p:txBody>
      </p:sp>
      <p:sp>
        <p:nvSpPr>
          <p:cNvPr id="16" name="15 Objetivos contenido"/>
          <p:cNvSpPr>
            <a:spLocks noGrp="1"/>
          </p:cNvSpPr>
          <p:nvPr>
            <p:ph sz="quarter" idx="35"/>
          </p:nvPr>
        </p:nvSpPr>
        <p:spPr>
          <a:xfrm>
            <a:off x="339914" y="17420309"/>
            <a:ext cx="12247651" cy="605454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5500" b="1" dirty="0"/>
              <a:t>Objetivo </a:t>
            </a:r>
            <a:r>
              <a:rPr sz="5500" b="1" dirty="0"/>
              <a:t>General: </a:t>
            </a:r>
            <a:r>
              <a:rPr lang="es-MX" sz="5100" dirty="0"/>
              <a:t>Validar que la detección de intrusiones en el borde de redes </a:t>
            </a:r>
            <a:r>
              <a:rPr lang="es-MX" sz="5100" dirty="0" err="1"/>
              <a:t>IoT</a:t>
            </a:r>
            <a:r>
              <a:rPr lang="es-MX" sz="5100" dirty="0"/>
              <a:t> puede ser simultáneamente precisa, privada y segura, mediante una arquitectura jerárquica Edge–Fog–Cloud que integra inferencia </a:t>
            </a:r>
            <a:r>
              <a:rPr lang="es-MX" sz="5100" dirty="0" err="1"/>
              <a:t>TinyML</a:t>
            </a:r>
            <a:r>
              <a:rPr lang="es-MX" sz="5100" dirty="0"/>
              <a:t>, aprendizaje federado y criptografía ligera estandarizada como ASCON 128. </a:t>
            </a:r>
          </a:p>
          <a:p>
            <a:pPr marL="0" indent="0">
              <a:buNone/>
            </a:pPr>
            <a:r>
              <a:rPr lang="es-MX" sz="5100" b="1" dirty="0"/>
              <a:t>Objetivos </a:t>
            </a:r>
            <a:r>
              <a:rPr sz="5100" b="1" dirty="0" err="1"/>
              <a:t>Especificos</a:t>
            </a:r>
            <a:r>
              <a:rPr sz="5100" b="1" dirty="0"/>
              <a:t>:</a:t>
            </a:r>
          </a:p>
          <a:p>
            <a:r>
              <a:rPr lang="es-MX" sz="5100" b="1" dirty="0"/>
              <a:t>Construir el pipeline de datos</a:t>
            </a:r>
            <a:r>
              <a:rPr lang="es-MX" sz="5100" dirty="0"/>
              <a:t> para captura, normalización y extracción de </a:t>
            </a:r>
            <a:r>
              <a:rPr lang="es-MX" sz="5100" dirty="0" err="1"/>
              <a:t>features</a:t>
            </a:r>
            <a:r>
              <a:rPr lang="es-MX" sz="5100" dirty="0"/>
              <a:t> de tráfico </a:t>
            </a:r>
            <a:r>
              <a:rPr lang="es-MX" sz="5100" dirty="0" err="1"/>
              <a:t>IoT</a:t>
            </a:r>
            <a:r>
              <a:rPr lang="es-MX" sz="5100" dirty="0"/>
              <a:t>/MQTT, seleccionando </a:t>
            </a:r>
            <a:r>
              <a:rPr lang="es-MX" sz="5100" dirty="0" err="1"/>
              <a:t>datasets</a:t>
            </a:r>
            <a:r>
              <a:rPr lang="es-MX" sz="5100" dirty="0"/>
              <a:t> públicos adecuados para entrenamiento y evaluación comparativa.</a:t>
            </a:r>
          </a:p>
          <a:p>
            <a:r>
              <a:rPr lang="es-MX" sz="5100" b="1" dirty="0"/>
              <a:t>Entrenar y comparar modelos compactos</a:t>
            </a:r>
            <a:r>
              <a:rPr lang="es-MX" sz="5100" dirty="0"/>
              <a:t> (MLP, CNN-1D, Residual-MLP, Tiny </a:t>
            </a:r>
            <a:r>
              <a:rPr lang="es-MX" sz="5100" dirty="0" err="1"/>
              <a:t>Transformer</a:t>
            </a:r>
            <a:r>
              <a:rPr lang="es-MX" sz="5100" dirty="0"/>
              <a:t>) para IDS </a:t>
            </a:r>
            <a:r>
              <a:rPr lang="es-MX" sz="5100" dirty="0" err="1"/>
              <a:t>IoT</a:t>
            </a:r>
            <a:r>
              <a:rPr lang="es-MX" sz="5100" dirty="0"/>
              <a:t>, exportando pesos y parámetros de normalización para ejecución en el microcontrolador ESP32-S3.</a:t>
            </a:r>
          </a:p>
          <a:p>
            <a:r>
              <a:rPr lang="es-MX" sz="5100" b="1" dirty="0"/>
              <a:t>Implementar un esquema de aprendizaje federado jerárquico</a:t>
            </a:r>
            <a:r>
              <a:rPr lang="es-MX" sz="5100" dirty="0"/>
              <a:t> para entrenamiento distribuido, evaluando agregación </a:t>
            </a:r>
            <a:r>
              <a:rPr lang="es-MX" sz="5100" dirty="0" err="1"/>
              <a:t>FedAvg</a:t>
            </a:r>
            <a:r>
              <a:rPr lang="es-MX" sz="5100" dirty="0"/>
              <a:t>, estabilidad con datos no IID y costos de comunicación en una arquitectura Edge–Fog–Cloud.</a:t>
            </a:r>
          </a:p>
          <a:p>
            <a:r>
              <a:rPr lang="es-MX" sz="5100" b="1" dirty="0"/>
              <a:t>Integrar cifrado ligero ASCON-128</a:t>
            </a:r>
            <a:r>
              <a:rPr lang="es-MX" sz="5100" dirty="0"/>
              <a:t> y validar experimentalmente el sistema completo, evaluando precisión de detección, impacto del aprendizaje federado frente al centralizado, y efectos en latencia, consumo y desempeño general.</a:t>
            </a:r>
          </a:p>
        </p:txBody>
      </p:sp>
      <p:sp>
        <p:nvSpPr>
          <p:cNvPr id="19" name="18 Resultados contenido"/>
          <p:cNvSpPr>
            <a:spLocks noGrp="1"/>
          </p:cNvSpPr>
          <p:nvPr>
            <p:ph sz="quarter" idx="38"/>
          </p:nvPr>
        </p:nvSpPr>
        <p:spPr>
          <a:xfrm>
            <a:off x="13115989" y="25686068"/>
            <a:ext cx="11810480" cy="2717481"/>
          </a:xfrm>
        </p:spPr>
        <p:txBody>
          <a:bodyPr>
            <a:normAutofit fontScale="92500" lnSpcReduction="20000"/>
          </a:bodyPr>
          <a:lstStyle/>
          <a:p>
            <a:r>
              <a:rPr lang="es-MX" sz="2800" dirty="0"/>
              <a:t>La variante CNN_ASCON_FOG logra el mejor desempeño global (</a:t>
            </a:r>
            <a:r>
              <a:rPr lang="es-MX" sz="2800" dirty="0" err="1"/>
              <a:t>acc</a:t>
            </a:r>
            <a:r>
              <a:rPr lang="es-MX" sz="2800" dirty="0"/>
              <a:t> 0.975, </a:t>
            </a:r>
            <a:r>
              <a:rPr lang="es-MX" sz="2800" dirty="0" err="1"/>
              <a:t>loss</a:t>
            </a:r>
            <a:r>
              <a:rPr lang="es-MX" sz="2800" dirty="0"/>
              <a:t> 0.091). Las configuraciones con ASCON-128 superan en promedio +3.2 puntos porcentuales de </a:t>
            </a:r>
            <a:r>
              <a:rPr lang="es-MX" sz="2800" dirty="0" err="1"/>
              <a:t>accuracy</a:t>
            </a:r>
            <a:r>
              <a:rPr lang="es-MX" sz="2800" dirty="0"/>
              <a:t> a sus contrapartes sin cifrado, con un </a:t>
            </a:r>
            <a:r>
              <a:rPr lang="es-MX" sz="2800" dirty="0" err="1"/>
              <a:t>overhead</a:t>
            </a:r>
            <a:r>
              <a:rPr lang="es-MX" sz="2800" dirty="0"/>
              <a:t> temporal de apenas 0.10–0.27% del ciclo FL y un incremento de tamaño de mensaje de +48% (~1.07 KB). Todas las variantes convergen por encima de 0.90 de </a:t>
            </a:r>
            <a:r>
              <a:rPr lang="es-MX" sz="2800" dirty="0" err="1"/>
              <a:t>accuracy</a:t>
            </a:r>
            <a:r>
              <a:rPr lang="es-MX" sz="2800" dirty="0"/>
              <a:t> en 5 a 10 rondas globales, confirmando la viabilidad del esquema HFL cifrado sobre hardware restringido.</a:t>
            </a:r>
            <a:endParaRPr sz="2800" b="0" dirty="0"/>
          </a:p>
        </p:txBody>
      </p:sp>
      <p:sp>
        <p:nvSpPr>
          <p:cNvPr id="31" name="Marcador de contenido 30">
            <a:extLst>
              <a:ext uri="{FF2B5EF4-FFF2-40B4-BE49-F238E27FC236}">
                <a16:creationId xmlns:a16="http://schemas.microsoft.com/office/drawing/2014/main" id="{84F20F61-3544-F9C5-E3F7-0AD31294007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12937425" y="29403821"/>
            <a:ext cx="12343216" cy="5374520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•</a:t>
            </a:r>
            <a:r>
              <a:rPr lang="es-MX" b="1" dirty="0"/>
              <a:t> </a:t>
            </a:r>
            <a:r>
              <a:rPr lang="es-MX" sz="3400" b="1" dirty="0"/>
              <a:t>Viabilidad </a:t>
            </a:r>
            <a:r>
              <a:rPr lang="es-MX" sz="3400" b="1" dirty="0" err="1"/>
              <a:t>TinyML</a:t>
            </a:r>
            <a:r>
              <a:rPr lang="es-MX" sz="3400" b="1" dirty="0"/>
              <a:t>: </a:t>
            </a:r>
            <a:r>
              <a:rPr lang="es-MX" sz="3400" dirty="0"/>
              <a:t>un MLP de 1.139 parámetros (~4.5 KB) y una CNN-1D federada se ejecutan en el ESP32-S3 con </a:t>
            </a:r>
            <a:r>
              <a:rPr lang="es-MX" sz="3400" dirty="0" err="1"/>
              <a:t>accuracy</a:t>
            </a:r>
            <a:r>
              <a:rPr lang="es-MX" sz="3400" dirty="0"/>
              <a:t> operativa entre 0.93 y 0.97, validando que </a:t>
            </a:r>
            <a:r>
              <a:rPr lang="es-MX" sz="3400" dirty="0" err="1"/>
              <a:t>MCUs</a:t>
            </a:r>
            <a:r>
              <a:rPr lang="es-MX" sz="3400" dirty="0"/>
              <a:t> comerciales pueden hospedar IDS de red sin acelerador externo ni cuantización agresiva.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Privacidad sin sacrificio relevante: </a:t>
            </a:r>
            <a:r>
              <a:rPr lang="es-MX" sz="3400" dirty="0"/>
              <a:t>el HFL reduce &gt;99.99% el intercambio de datos sensibles (de ~13.3M valores crudos a 163 parámetros por ronda) con una penalización de solo 2-3 </a:t>
            </a:r>
            <a:r>
              <a:rPr lang="es-MX" sz="3400" dirty="0" err="1"/>
              <a:t>pts</a:t>
            </a:r>
            <a:r>
              <a:rPr lang="es-MX" sz="3400" dirty="0"/>
              <a:t> de </a:t>
            </a:r>
            <a:r>
              <a:rPr lang="es-MX" sz="3400" dirty="0" err="1"/>
              <a:t>accuracy</a:t>
            </a:r>
            <a:r>
              <a:rPr lang="es-MX" sz="3400" dirty="0"/>
              <a:t> frente al modelo centralizado equivalente.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ASCON-128 mejora, no degrada: </a:t>
            </a:r>
            <a:r>
              <a:rPr lang="es-MX" sz="3400" dirty="0"/>
              <a:t>lejos de ser un costo a aceptar, el cifrado autenticado mejora +3.2 </a:t>
            </a:r>
            <a:r>
              <a:rPr lang="es-MX" sz="3400" dirty="0" err="1"/>
              <a:t>pts</a:t>
            </a:r>
            <a:r>
              <a:rPr lang="es-MX" sz="3400" dirty="0"/>
              <a:t> la </a:t>
            </a:r>
            <a:r>
              <a:rPr lang="es-MX" sz="3400" dirty="0" err="1"/>
              <a:t>accuracy</a:t>
            </a:r>
            <a:r>
              <a:rPr lang="es-MX" sz="3400" dirty="0"/>
              <a:t> promedio frente a la </a:t>
            </a:r>
            <a:r>
              <a:rPr lang="es-MX" sz="3400" dirty="0" err="1"/>
              <a:t>baseline</a:t>
            </a:r>
            <a:r>
              <a:rPr lang="es-MX" sz="3400" dirty="0"/>
              <a:t> PLAIN porque su validación de tag actúa como filtro implícito de mensajes corruptos; el </a:t>
            </a:r>
            <a:r>
              <a:rPr lang="es-MX" sz="3400" dirty="0" err="1"/>
              <a:t>overhead</a:t>
            </a:r>
            <a:r>
              <a:rPr lang="es-MX" sz="3400" dirty="0"/>
              <a:t> temporal queda en 0.10–0.27% del ciclo federado.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FOG depende de la integridad del canal: </a:t>
            </a:r>
            <a:r>
              <a:rPr lang="es-MX" sz="3400" dirty="0"/>
              <a:t>la </a:t>
            </a:r>
            <a:r>
              <a:rPr lang="es-MX" sz="3400" dirty="0" err="1"/>
              <a:t>pre-agregación</a:t>
            </a:r>
            <a:r>
              <a:rPr lang="es-MX" sz="3400" dirty="0"/>
              <a:t> FOG mejora CNN +1.5 </a:t>
            </a:r>
            <a:r>
              <a:rPr lang="es-MX" sz="3400" dirty="0" err="1"/>
              <a:t>pts</a:t>
            </a:r>
            <a:r>
              <a:rPr lang="es-MX" sz="3400" dirty="0"/>
              <a:t> y RN+ASCON +2.5 </a:t>
            </a:r>
            <a:r>
              <a:rPr lang="es-MX" sz="3400" dirty="0" err="1"/>
              <a:t>pts</a:t>
            </a:r>
            <a:r>
              <a:rPr lang="es-MX" sz="3400" dirty="0"/>
              <a:t>, pero degrada RN_PLAIN_FOG (-3 </a:t>
            </a:r>
            <a:r>
              <a:rPr lang="es-MX" sz="3400" dirty="0" err="1"/>
              <a:t>pts</a:t>
            </a:r>
            <a:r>
              <a:rPr lang="es-MX" sz="3400" dirty="0"/>
              <a:t>), lo que muestra que la integridad autenticada no es complementaria a la topología </a:t>
            </a:r>
            <a:r>
              <a:rPr lang="es-MX" sz="3400" dirty="0" err="1"/>
              <a:t>fog</a:t>
            </a:r>
            <a:r>
              <a:rPr lang="es-MX" sz="3400" dirty="0"/>
              <a:t> sino condición habilitante.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Trabajo futuro: </a:t>
            </a:r>
            <a:r>
              <a:rPr lang="es-MX" sz="3400" dirty="0"/>
              <a:t>extender la arquitectura con robustez bizantina (Krum, </a:t>
            </a:r>
            <a:r>
              <a:rPr lang="es-MX" sz="3400" dirty="0" err="1"/>
              <a:t>FLTrust</a:t>
            </a:r>
            <a:r>
              <a:rPr lang="es-MX" sz="3400" dirty="0"/>
              <a:t>), cuantización INT8 para </a:t>
            </a:r>
            <a:r>
              <a:rPr lang="es-MX" sz="3400" dirty="0" err="1"/>
              <a:t>MCUs</a:t>
            </a:r>
            <a:r>
              <a:rPr lang="es-MX" sz="3400" dirty="0"/>
              <a:t> aún más pequeños, contramedidas de canal lateral sobre ASCON, </a:t>
            </a:r>
            <a:r>
              <a:rPr lang="es-MX" sz="3400" dirty="0" err="1"/>
              <a:t>datasets</a:t>
            </a:r>
            <a:r>
              <a:rPr lang="es-MX" sz="3400" dirty="0"/>
              <a:t> reales (CICIoT2023, </a:t>
            </a:r>
            <a:r>
              <a:rPr lang="es-MX" sz="3400" dirty="0" err="1"/>
              <a:t>TON_IoT</a:t>
            </a:r>
            <a:r>
              <a:rPr lang="es-MX" sz="3400" dirty="0"/>
              <a:t>) y privacidad diferencial.</a:t>
            </a:r>
          </a:p>
          <a:p>
            <a:endParaRPr lang="es-CO" dirty="0"/>
          </a:p>
        </p:txBody>
      </p:sp>
      <p:sp>
        <p:nvSpPr>
          <p:cNvPr id="34" name="3 Resumen contenido">
            <a:extLst>
              <a:ext uri="{FF2B5EF4-FFF2-40B4-BE49-F238E27FC236}">
                <a16:creationId xmlns:a16="http://schemas.microsoft.com/office/drawing/2014/main" id="{64F52985-828A-2078-1192-DAAF5B7788A6}"/>
              </a:ext>
            </a:extLst>
          </p:cNvPr>
          <p:cNvSpPr txBox="1">
            <a:spLocks/>
          </p:cNvSpPr>
          <p:nvPr/>
        </p:nvSpPr>
        <p:spPr>
          <a:xfrm>
            <a:off x="630958" y="7461268"/>
            <a:ext cx="24050672" cy="2609845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>
            <a:lvl1pPr marL="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879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9758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4637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00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9D2862F5-B3FA-8663-5E08-0C5C59D91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0677" y="7461268"/>
            <a:ext cx="24261194" cy="2607934"/>
          </a:xfrm>
        </p:spPr>
        <p:txBody>
          <a:bodyPr/>
          <a:lstStyle/>
          <a:p>
            <a:r>
              <a:rPr lang="es-CO" sz="3200" b="0" dirty="0"/>
              <a:t>Sistema de Detección de Intrusiones (IDS) para tráfico </a:t>
            </a:r>
            <a:r>
              <a:rPr lang="es-CO" sz="3200" b="0" dirty="0" err="1"/>
              <a:t>IoT</a:t>
            </a:r>
            <a:r>
              <a:rPr lang="es-CO" sz="3200" b="0" dirty="0"/>
              <a:t>/MQTT desplegado en arquitectura jerárquica Edge–Fog–Cloud (ESP32-S3 · Raspberry Pi 4 · PC). Integra </a:t>
            </a:r>
            <a:r>
              <a:rPr lang="es-CO" sz="3200" b="0" dirty="0" err="1"/>
              <a:t>TinyML</a:t>
            </a:r>
            <a:r>
              <a:rPr lang="es-CO" sz="3200" b="0" dirty="0"/>
              <a:t> para inferencia local en microcontrolador, aprendizaje federado jerárquico (HFL) bidireccional y cifrado autenticado ASCON-128 (estándar NIST 2023). Se evalúan 8 variantes experimentales (RN/CNN × ASCON/PLAIN × </a:t>
            </a:r>
            <a:r>
              <a:rPr lang="es-CO" sz="3200" b="0" dirty="0" err="1"/>
              <a:t>NoFOG</a:t>
            </a:r>
            <a:r>
              <a:rPr lang="es-CO" sz="3200" b="0" dirty="0"/>
              <a:t>/FOG) en 58 corridas sobre hardware real. La variante CNN_ASCON_FOG alcanza </a:t>
            </a:r>
            <a:r>
              <a:rPr lang="es-CO" sz="3200" b="0" dirty="0" err="1"/>
              <a:t>accuracy</a:t>
            </a:r>
            <a:r>
              <a:rPr lang="es-CO" sz="3200" b="0" dirty="0"/>
              <a:t> 0.975 y </a:t>
            </a:r>
            <a:r>
              <a:rPr lang="es-CO" sz="3200" b="0" dirty="0" err="1"/>
              <a:t>loss</a:t>
            </a:r>
            <a:r>
              <a:rPr lang="es-CO" sz="3200" b="0" dirty="0"/>
              <a:t> 0.091, demostrando que la seguridad criptográfica no sacrifica desempeño de detección.</a:t>
            </a:r>
            <a:endParaRPr lang="es-CO" sz="4000" dirty="0"/>
          </a:p>
          <a:p>
            <a:endParaRPr lang="es-CO" dirty="0"/>
          </a:p>
        </p:txBody>
      </p:sp>
      <p:sp>
        <p:nvSpPr>
          <p:cNvPr id="17" name="15 Objetivos contenido">
            <a:extLst>
              <a:ext uri="{FF2B5EF4-FFF2-40B4-BE49-F238E27FC236}">
                <a16:creationId xmlns:a16="http://schemas.microsoft.com/office/drawing/2014/main" id="{B3228DD6-2DF6-8AB0-424D-C3B4FF073C71}"/>
              </a:ext>
            </a:extLst>
          </p:cNvPr>
          <p:cNvSpPr txBox="1">
            <a:spLocks/>
          </p:cNvSpPr>
          <p:nvPr/>
        </p:nvSpPr>
        <p:spPr>
          <a:xfrm>
            <a:off x="12916742" y="11289948"/>
            <a:ext cx="12286408" cy="1508290"/>
          </a:xfrm>
          <a:prstGeom prst="rect">
            <a:avLst/>
          </a:prstGeom>
        </p:spPr>
        <p:txBody>
          <a:bodyPr vert="horz" lIns="349758" tIns="174879" rIns="349758" bIns="174879" rtlCol="0">
            <a:normAutofit lnSpcReduction="10000"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600" b="1" dirty="0"/>
              <a:t>Por qué Edge–Fog–Cloud: </a:t>
            </a:r>
            <a:r>
              <a:rPr lang="es-MX" sz="2600" dirty="0"/>
              <a:t>la jerarquía distribuye responsabilidades según la capacidad de cada capa — inferencia local de baja latencia en el borde, agregación intermedia en el </a:t>
            </a:r>
            <a:r>
              <a:rPr lang="es-MX" sz="2600" dirty="0" err="1"/>
              <a:t>fog</a:t>
            </a:r>
            <a:r>
              <a:rPr lang="es-MX" sz="2600" dirty="0"/>
              <a:t> y coordinación global en la nube — sin enviar datos crudos al servidor.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18" name="15 Objetivos contenido">
            <a:extLst>
              <a:ext uri="{FF2B5EF4-FFF2-40B4-BE49-F238E27FC236}">
                <a16:creationId xmlns:a16="http://schemas.microsoft.com/office/drawing/2014/main" id="{6B3EB3FF-7810-3071-EEE9-A43A2CAA18AD}"/>
              </a:ext>
            </a:extLst>
          </p:cNvPr>
          <p:cNvSpPr txBox="1">
            <a:spLocks/>
          </p:cNvSpPr>
          <p:nvPr/>
        </p:nvSpPr>
        <p:spPr>
          <a:xfrm>
            <a:off x="12971961" y="16663761"/>
            <a:ext cx="12247651" cy="2418610"/>
          </a:xfrm>
          <a:prstGeom prst="rect">
            <a:avLst/>
          </a:prstGeom>
        </p:spPr>
        <p:txBody>
          <a:bodyPr vert="horz" lIns="349758" tIns="174879" rIns="349758" bIns="174879" rtlCol="0">
            <a:normAutofit fontScale="85000" lnSpcReduction="20000"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Selección del modelo (notebook offline): se entrenaron y compararon MLP, CNN-1D, Residual MLP y Tiny </a:t>
            </a:r>
            <a:r>
              <a:rPr lang="es-MX" dirty="0" err="1"/>
              <a:t>Transformer</a:t>
            </a:r>
            <a:r>
              <a:rPr lang="es-MX" dirty="0"/>
              <a:t> sobre los </a:t>
            </a:r>
            <a:r>
              <a:rPr lang="es-MX" dirty="0" err="1"/>
              <a:t>datasets</a:t>
            </a:r>
            <a:r>
              <a:rPr lang="es-MX" dirty="0"/>
              <a:t> unificados. El MLP (~4.5 KB, 90.6% offline) ganó por balance entre precisión, tamaño y simplicidad de exportación a C++; la CNN-1D quedó como variante experimental (hfl_v7-CNN).</a:t>
            </a:r>
          </a:p>
          <a:p>
            <a:pPr marL="0" indent="0">
              <a:buNone/>
            </a:pPr>
            <a:r>
              <a:rPr lang="es-MX" dirty="0"/>
              <a:t>Seguridad: ASCON-128 protege los 4 canales (</a:t>
            </a:r>
            <a:r>
              <a:rPr lang="es-MX" dirty="0" err="1"/>
              <a:t>envelope</a:t>
            </a:r>
            <a:r>
              <a:rPr lang="es-MX" dirty="0"/>
              <a:t> JSON); en modo FOG se añaden </a:t>
            </a:r>
            <a:r>
              <a:rPr lang="es-MX" dirty="0" err="1"/>
              <a:t>fog</a:t>
            </a:r>
            <a:r>
              <a:rPr lang="es-MX" dirty="0"/>
              <a:t>/</a:t>
            </a:r>
            <a:r>
              <a:rPr lang="es-MX" dirty="0" err="1"/>
              <a:t>weights</a:t>
            </a:r>
            <a:r>
              <a:rPr lang="es-MX" dirty="0"/>
              <a:t> y </a:t>
            </a:r>
            <a:r>
              <a:rPr lang="es-MX" dirty="0" err="1"/>
              <a:t>fog</a:t>
            </a:r>
            <a:r>
              <a:rPr lang="es-MX" dirty="0"/>
              <a:t>/</a:t>
            </a:r>
            <a:r>
              <a:rPr lang="es-MX" dirty="0" err="1"/>
              <a:t>global_model</a:t>
            </a:r>
            <a:r>
              <a:rPr lang="es-MX" dirty="0"/>
              <a:t> entre líder y peer.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24" name="15 Objetivos contenido">
            <a:extLst>
              <a:ext uri="{FF2B5EF4-FFF2-40B4-BE49-F238E27FC236}">
                <a16:creationId xmlns:a16="http://schemas.microsoft.com/office/drawing/2014/main" id="{11A0C3FA-1DA8-B1B7-351F-35266ABC60A8}"/>
              </a:ext>
            </a:extLst>
          </p:cNvPr>
          <p:cNvSpPr txBox="1">
            <a:spLocks/>
          </p:cNvSpPr>
          <p:nvPr/>
        </p:nvSpPr>
        <p:spPr>
          <a:xfrm>
            <a:off x="13268390" y="13497850"/>
            <a:ext cx="4742170" cy="1200416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8969347C-14C7-5C6F-09C5-D137CEEAC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45487"/>
              </p:ext>
            </p:extLst>
          </p:nvPr>
        </p:nvGraphicFramePr>
        <p:xfrm>
          <a:off x="13142936" y="12688473"/>
          <a:ext cx="11468274" cy="1799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758">
                  <a:extLst>
                    <a:ext uri="{9D8B030D-6E8A-4147-A177-3AD203B41FA5}">
                      <a16:colId xmlns:a16="http://schemas.microsoft.com/office/drawing/2014/main" val="3838920312"/>
                    </a:ext>
                  </a:extLst>
                </a:gridCol>
                <a:gridCol w="3822758">
                  <a:extLst>
                    <a:ext uri="{9D8B030D-6E8A-4147-A177-3AD203B41FA5}">
                      <a16:colId xmlns:a16="http://schemas.microsoft.com/office/drawing/2014/main" val="1741866039"/>
                    </a:ext>
                  </a:extLst>
                </a:gridCol>
                <a:gridCol w="3822758">
                  <a:extLst>
                    <a:ext uri="{9D8B030D-6E8A-4147-A177-3AD203B41FA5}">
                      <a16:colId xmlns:a16="http://schemas.microsoft.com/office/drawing/2014/main" val="1060297567"/>
                    </a:ext>
                  </a:extLst>
                </a:gridCol>
              </a:tblGrid>
              <a:tr h="610474">
                <a:tc gridSpan="3">
                  <a:txBody>
                    <a:bodyPr/>
                    <a:lstStyle/>
                    <a:p>
                      <a:pPr marL="0" marR="0" lvl="0" indent="0" algn="ctr" defTabSz="34975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b="1" dirty="0"/>
                        <a:t>Hardware seleccionado:</a:t>
                      </a:r>
                      <a:endParaRPr lang="es-CO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17741"/>
                  </a:ext>
                </a:extLst>
              </a:tr>
              <a:tr h="897816">
                <a:tc>
                  <a:txBody>
                    <a:bodyPr/>
                    <a:lstStyle/>
                    <a:p>
                      <a:pPr marL="0" marR="0" lvl="0" indent="0" algn="l" defTabSz="34975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200" dirty="0"/>
                        <a:t>ESP32-S3 (</a:t>
                      </a:r>
                      <a:r>
                        <a:rPr lang="es-MX" sz="2200" dirty="0" err="1"/>
                        <a:t>WiFi</a:t>
                      </a:r>
                      <a:r>
                        <a:rPr lang="es-MX" sz="2200" dirty="0"/>
                        <a:t> nativo, 512 KB SRAM, C++): suficiente para </a:t>
                      </a:r>
                      <a:r>
                        <a:rPr lang="es-MX" sz="2200" dirty="0" err="1"/>
                        <a:t>TinyML</a:t>
                      </a:r>
                      <a:r>
                        <a:rPr lang="es-MX" sz="2200" dirty="0"/>
                        <a:t> y ASCON-128 nativo.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975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dirty="0"/>
                        <a:t>Raspberry Pi 4: corre </a:t>
                      </a:r>
                      <a:r>
                        <a:rPr lang="es-MX" sz="2400" dirty="0" err="1"/>
                        <a:t>Mosquitto</a:t>
                      </a:r>
                      <a:r>
                        <a:rPr lang="es-MX" sz="2400" dirty="0"/>
                        <a:t> y entrenamiento </a:t>
                      </a:r>
                      <a:r>
                        <a:rPr lang="es-MX" sz="2400" dirty="0" err="1"/>
                        <a:t>Keras</a:t>
                      </a:r>
                      <a:r>
                        <a:rPr lang="es-MX" sz="2400" dirty="0"/>
                        <a:t> como </a:t>
                      </a:r>
                      <a:r>
                        <a:rPr lang="es-MX" sz="2400" dirty="0" err="1"/>
                        <a:t>gateway</a:t>
                      </a:r>
                      <a:r>
                        <a:rPr lang="es-MX" sz="2400" dirty="0"/>
                        <a:t> </a:t>
                      </a:r>
                      <a:r>
                        <a:rPr lang="es-MX" sz="2400" dirty="0" err="1"/>
                        <a:t>fog</a:t>
                      </a:r>
                      <a:r>
                        <a:rPr lang="es-MX" sz="2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975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dirty="0"/>
                        <a:t>PC + </a:t>
                      </a:r>
                      <a:r>
                        <a:rPr lang="es-MX" sz="2400" dirty="0" err="1"/>
                        <a:t>FastAPI</a:t>
                      </a:r>
                      <a:r>
                        <a:rPr lang="es-MX" sz="2400" dirty="0"/>
                        <a:t>: coordinador flexible con </a:t>
                      </a:r>
                      <a:r>
                        <a:rPr lang="es-MX" sz="2400" dirty="0" err="1"/>
                        <a:t>dashboard</a:t>
                      </a:r>
                      <a:r>
                        <a:rPr lang="es-MX" sz="2400" dirty="0"/>
                        <a:t> analítico.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901374"/>
                  </a:ext>
                </a:extLst>
              </a:tr>
            </a:tbl>
          </a:graphicData>
        </a:graphic>
      </p:graphicFrame>
      <p:pic>
        <p:nvPicPr>
          <p:cNvPr id="30" name="Imagen 29">
            <a:extLst>
              <a:ext uri="{FF2B5EF4-FFF2-40B4-BE49-F238E27FC236}">
                <a16:creationId xmlns:a16="http://schemas.microsoft.com/office/drawing/2014/main" id="{CF3188D2-4CA6-F5EE-B8B8-4EB320C37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53" b="21928"/>
          <a:stretch>
            <a:fillRect/>
          </a:stretch>
        </p:blipFill>
        <p:spPr>
          <a:xfrm>
            <a:off x="13294658" y="14592417"/>
            <a:ext cx="3570657" cy="200383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1319C63-8AF3-780F-7785-8F1E183876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9486" y="14485668"/>
            <a:ext cx="2338463" cy="233846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CACE5DE-F82A-EDF9-DD24-531F4BBD6D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756" y="14550171"/>
            <a:ext cx="3142469" cy="20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1056</Words>
  <Application>Microsoft Office PowerPoint</Application>
  <PresentationFormat>Personalizado</PresentationFormat>
  <Paragraphs>38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FormatoPoster_ISIS</vt:lpstr>
      <vt:lpstr>Sistema de deteccion de intrusiones para redes IoT mediante TinyML, aprendizaje federado jerarquico y cifrado ligero ASCON-128 en una arquitectura Edge-Fog-Cloud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Santiago Alejandro Jaimes Puerto</cp:lastModifiedBy>
  <cp:revision>17</cp:revision>
  <dcterms:created xsi:type="dcterms:W3CDTF">2016-02-24T12:38:22Z</dcterms:created>
  <dcterms:modified xsi:type="dcterms:W3CDTF">2026-05-06T02:07:11Z</dcterms:modified>
</cp:coreProperties>
</file>