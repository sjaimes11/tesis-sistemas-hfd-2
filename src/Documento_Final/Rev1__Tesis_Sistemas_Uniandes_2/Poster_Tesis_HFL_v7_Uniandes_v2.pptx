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6"/>
  </p:handoutMasterIdLst>
  <p:sldIdLst>
    <p:sldId id="256" r:id="rId2"/>
  </p:sldIdLst>
  <p:sldSz cx="25203150" cy="36004500"/>
  <p:notesSz cx="6858000" cy="9144000"/>
  <p:defaultTextStyle>
    <a:defPPr>
      <a:defRPr lang="es-CO"/>
    </a:defPPr>
    <a:lvl1pPr marL="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1pPr>
    <a:lvl2pPr marL="174879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2pPr>
    <a:lvl3pPr marL="349758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3pPr>
    <a:lvl4pPr marL="524637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4pPr>
    <a:lvl5pPr marL="699516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5pPr>
    <a:lvl6pPr marL="874395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6pPr>
    <a:lvl7pPr marL="1049274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7pPr>
    <a:lvl8pPr marL="1224153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8pPr>
    <a:lvl9pPr marL="1399032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0">
          <p15:clr>
            <a:srgbClr val="A4A3A4"/>
          </p15:clr>
        </p15:guide>
        <p15:guide id="2" pos="79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2D9"/>
    <a:srgbClr val="DBC965"/>
    <a:srgbClr val="295688"/>
    <a:srgbClr val="CC6634"/>
    <a:srgbClr val="668C46"/>
    <a:srgbClr val="663366"/>
    <a:srgbClr val="E66400"/>
    <a:srgbClr val="003399"/>
    <a:srgbClr val="915000"/>
    <a:srgbClr val="0066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93"/>
    <p:restoredTop sz="94604"/>
  </p:normalViewPr>
  <p:slideViewPr>
    <p:cSldViewPr>
      <p:cViewPr>
        <p:scale>
          <a:sx n="60" d="100"/>
          <a:sy n="60" d="100"/>
        </p:scale>
        <p:origin x="400" y="-5536"/>
      </p:cViewPr>
      <p:guideLst>
        <p:guide orient="horz" pos="11340"/>
        <p:guide pos="793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-3858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ABEAF-95F9-44D9-8220-B5EB390C6BFF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B9EF3-57EF-49F1-93E1-F89EDA84B7D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44490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7.png"/><Relationship Id="rId4" Type="http://schemas.openxmlformats.org/officeDocument/2006/relationships/image" Target="../media/image52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8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890236" y="11184739"/>
            <a:ext cx="21422678" cy="771763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3780473" y="20402552"/>
            <a:ext cx="17642205" cy="92011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48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4975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246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995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743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4927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241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399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8341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15615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90876" y="23136226"/>
            <a:ext cx="21422678" cy="7150894"/>
          </a:xfrm>
        </p:spPr>
        <p:txBody>
          <a:bodyPr anchor="t"/>
          <a:lstStyle>
            <a:lvl1pPr algn="l">
              <a:defRPr sz="15300" b="1" cap="all"/>
            </a:lvl1pPr>
          </a:lstStyle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990876" y="15260249"/>
            <a:ext cx="21422678" cy="7875980"/>
          </a:xfrm>
        </p:spPr>
        <p:txBody>
          <a:bodyPr anchor="b"/>
          <a:lstStyle>
            <a:lvl1pPr marL="0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1pPr>
            <a:lvl2pPr marL="1748790" indent="0">
              <a:buNone/>
              <a:defRPr sz="6900">
                <a:solidFill>
                  <a:schemeClr val="tx1">
                    <a:tint val="75000"/>
                  </a:schemeClr>
                </a:solidFill>
              </a:defRPr>
            </a:lvl2pPr>
            <a:lvl3pPr marL="3497580" indent="0">
              <a:buNone/>
              <a:defRPr sz="6100">
                <a:solidFill>
                  <a:schemeClr val="tx1">
                    <a:tint val="75000"/>
                  </a:schemeClr>
                </a:solidFill>
              </a:defRPr>
            </a:lvl3pPr>
            <a:lvl4pPr marL="524637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4pPr>
            <a:lvl5pPr marL="699516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5pPr>
            <a:lvl6pPr marL="874395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6pPr>
            <a:lvl7pPr marL="1049274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7pPr>
            <a:lvl8pPr marL="1224153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8pPr>
            <a:lvl9pPr marL="1399032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7793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160" y="8401058"/>
            <a:ext cx="11131391" cy="23761304"/>
          </a:xfrm>
        </p:spPr>
        <p:txBody>
          <a:bodyPr/>
          <a:lstStyle>
            <a:lvl1pPr>
              <a:defRPr sz="10700"/>
            </a:lvl1pPr>
            <a:lvl2pPr>
              <a:defRPr sz="9200"/>
            </a:lvl2pPr>
            <a:lvl3pPr>
              <a:defRPr sz="7700"/>
            </a:lvl3pPr>
            <a:lvl4pPr>
              <a:defRPr sz="6900"/>
            </a:lvl4pPr>
            <a:lvl5pPr>
              <a:defRPr sz="6900"/>
            </a:lvl5pPr>
            <a:lvl6pPr>
              <a:defRPr sz="6900"/>
            </a:lvl6pPr>
            <a:lvl7pPr>
              <a:defRPr sz="6900"/>
            </a:lvl7pPr>
            <a:lvl8pPr>
              <a:defRPr sz="6900"/>
            </a:lvl8pPr>
            <a:lvl9pPr>
              <a:defRPr sz="6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12811603" y="8401058"/>
            <a:ext cx="11131391" cy="23761304"/>
          </a:xfrm>
        </p:spPr>
        <p:txBody>
          <a:bodyPr/>
          <a:lstStyle>
            <a:lvl1pPr>
              <a:defRPr sz="10700"/>
            </a:lvl1pPr>
            <a:lvl2pPr>
              <a:defRPr sz="9200"/>
            </a:lvl2pPr>
            <a:lvl3pPr>
              <a:defRPr sz="7700"/>
            </a:lvl3pPr>
            <a:lvl4pPr>
              <a:defRPr sz="6900"/>
            </a:lvl4pPr>
            <a:lvl5pPr>
              <a:defRPr sz="6900"/>
            </a:lvl5pPr>
            <a:lvl6pPr>
              <a:defRPr sz="6900"/>
            </a:lvl6pPr>
            <a:lvl7pPr>
              <a:defRPr sz="6900"/>
            </a:lvl7pPr>
            <a:lvl8pPr>
              <a:defRPr sz="6900"/>
            </a:lvl8pPr>
            <a:lvl9pPr>
              <a:defRPr sz="6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86262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60159" y="8059343"/>
            <a:ext cx="11135768" cy="3358751"/>
          </a:xfrm>
        </p:spPr>
        <p:txBody>
          <a:bodyPr anchor="b"/>
          <a:lstStyle>
            <a:lvl1pPr marL="0" indent="0">
              <a:buNone/>
              <a:defRPr sz="9200" b="1"/>
            </a:lvl1pPr>
            <a:lvl2pPr marL="1748790" indent="0">
              <a:buNone/>
              <a:defRPr sz="7700" b="1"/>
            </a:lvl2pPr>
            <a:lvl3pPr marL="3497580" indent="0">
              <a:buNone/>
              <a:defRPr sz="6900" b="1"/>
            </a:lvl3pPr>
            <a:lvl4pPr marL="5246370" indent="0">
              <a:buNone/>
              <a:defRPr sz="6100" b="1"/>
            </a:lvl4pPr>
            <a:lvl5pPr marL="6995160" indent="0">
              <a:buNone/>
              <a:defRPr sz="6100" b="1"/>
            </a:lvl5pPr>
            <a:lvl6pPr marL="8743950" indent="0">
              <a:buNone/>
              <a:defRPr sz="6100" b="1"/>
            </a:lvl6pPr>
            <a:lvl7pPr marL="10492740" indent="0">
              <a:buNone/>
              <a:defRPr sz="6100" b="1"/>
            </a:lvl7pPr>
            <a:lvl8pPr marL="12241530" indent="0">
              <a:buNone/>
              <a:defRPr sz="6100" b="1"/>
            </a:lvl8pPr>
            <a:lvl9pPr marL="13990320" indent="0">
              <a:buNone/>
              <a:defRPr sz="6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1260159" y="11418095"/>
            <a:ext cx="11135768" cy="20744261"/>
          </a:xfrm>
        </p:spPr>
        <p:txBody>
          <a:bodyPr/>
          <a:lstStyle>
            <a:lvl1pPr>
              <a:defRPr sz="9200"/>
            </a:lvl1pPr>
            <a:lvl2pPr>
              <a:defRPr sz="7700"/>
            </a:lvl2pPr>
            <a:lvl3pPr>
              <a:defRPr sz="6900"/>
            </a:lvl3pPr>
            <a:lvl4pPr>
              <a:defRPr sz="6100"/>
            </a:lvl4pPr>
            <a:lvl5pPr>
              <a:defRPr sz="6100"/>
            </a:lvl5pPr>
            <a:lvl6pPr>
              <a:defRPr sz="6100"/>
            </a:lvl6pPr>
            <a:lvl7pPr>
              <a:defRPr sz="6100"/>
            </a:lvl7pPr>
            <a:lvl8pPr>
              <a:defRPr sz="6100"/>
            </a:lvl8pPr>
            <a:lvl9pPr>
              <a:defRPr sz="6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12802855" y="8059343"/>
            <a:ext cx="11140141" cy="3358751"/>
          </a:xfrm>
        </p:spPr>
        <p:txBody>
          <a:bodyPr anchor="b"/>
          <a:lstStyle>
            <a:lvl1pPr marL="0" indent="0">
              <a:buNone/>
              <a:defRPr sz="9200" b="1"/>
            </a:lvl1pPr>
            <a:lvl2pPr marL="1748790" indent="0">
              <a:buNone/>
              <a:defRPr sz="7700" b="1"/>
            </a:lvl2pPr>
            <a:lvl3pPr marL="3497580" indent="0">
              <a:buNone/>
              <a:defRPr sz="6900" b="1"/>
            </a:lvl3pPr>
            <a:lvl4pPr marL="5246370" indent="0">
              <a:buNone/>
              <a:defRPr sz="6100" b="1"/>
            </a:lvl4pPr>
            <a:lvl5pPr marL="6995160" indent="0">
              <a:buNone/>
              <a:defRPr sz="6100" b="1"/>
            </a:lvl5pPr>
            <a:lvl6pPr marL="8743950" indent="0">
              <a:buNone/>
              <a:defRPr sz="6100" b="1"/>
            </a:lvl6pPr>
            <a:lvl7pPr marL="10492740" indent="0">
              <a:buNone/>
              <a:defRPr sz="6100" b="1"/>
            </a:lvl7pPr>
            <a:lvl8pPr marL="12241530" indent="0">
              <a:buNone/>
              <a:defRPr sz="6100" b="1"/>
            </a:lvl8pPr>
            <a:lvl9pPr marL="13990320" indent="0">
              <a:buNone/>
              <a:defRPr sz="6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12802855" y="11418095"/>
            <a:ext cx="11140141" cy="20744261"/>
          </a:xfrm>
        </p:spPr>
        <p:txBody>
          <a:bodyPr/>
          <a:lstStyle>
            <a:lvl1pPr>
              <a:defRPr sz="9200"/>
            </a:lvl1pPr>
            <a:lvl2pPr>
              <a:defRPr sz="7700"/>
            </a:lvl2pPr>
            <a:lvl3pPr>
              <a:defRPr sz="6900"/>
            </a:lvl3pPr>
            <a:lvl4pPr>
              <a:defRPr sz="6100"/>
            </a:lvl4pPr>
            <a:lvl5pPr>
              <a:defRPr sz="6100"/>
            </a:lvl5pPr>
            <a:lvl6pPr>
              <a:defRPr sz="6100"/>
            </a:lvl6pPr>
            <a:lvl7pPr>
              <a:defRPr sz="6100"/>
            </a:lvl7pPr>
            <a:lvl8pPr>
              <a:defRPr sz="6100"/>
            </a:lvl8pPr>
            <a:lvl9pPr>
              <a:defRPr sz="6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656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5507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20262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 smtClean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Resumen</a:t>
            </a:r>
            <a:endParaRPr lang="es-CO" dirty="0"/>
          </a:p>
        </p:txBody>
      </p:sp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812" y="-71757"/>
            <a:ext cx="25269826" cy="2547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5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-23814" y="2448521"/>
            <a:ext cx="12672000" cy="720000"/>
          </a:xfrm>
          <a:solidFill>
            <a:srgbClr val="EC7327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 xml:space="preserve">COMIT – Sub </a:t>
            </a:r>
            <a:r>
              <a:rPr lang="es-ES" dirty="0" smtClean="0"/>
              <a:t>área / Programa estudiante</a:t>
            </a:r>
            <a:endParaRPr lang="es-ES" dirty="0" smtClean="0"/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25579B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25579B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EC7327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21 Marcador de texto"/>
          <p:cNvSpPr>
            <a:spLocks noGrp="1"/>
          </p:cNvSpPr>
          <p:nvPr>
            <p:ph type="body" sz="quarter" idx="33" hasCustomPrompt="1"/>
          </p:nvPr>
        </p:nvSpPr>
        <p:spPr>
          <a:xfrm>
            <a:off x="12646013" y="2448521"/>
            <a:ext cx="12600000" cy="720000"/>
          </a:xfrm>
          <a:solidFill>
            <a:srgbClr val="EC7327">
              <a:alpha val="25098"/>
            </a:srgbClr>
          </a:solidFill>
        </p:spPr>
        <p:txBody>
          <a:bodyPr>
            <a:noAutofit/>
          </a:bodyPr>
          <a:lstStyle>
            <a:lvl1pPr marL="0" indent="0" algn="r">
              <a:buNone/>
              <a:defRPr sz="3200" b="1" i="1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Asesor: &lt;asesor&gt; (&lt;correo asesor&gt;@uniandes.edu.co)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http://</a:t>
            </a:r>
            <a:r>
              <a:rPr lang="es-CO" sz="2400" b="1" dirty="0" smtClean="0"/>
              <a:t>sistemas.uniandes.edu.co</a:t>
            </a:r>
            <a:endParaRPr lang="es-CO" sz="2400" b="1" dirty="0"/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pic>
        <p:nvPicPr>
          <p:cNvPr id="8" name="7 Imagen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1233" y="35156826"/>
            <a:ext cx="720000" cy="720000"/>
          </a:xfrm>
          <a:prstGeom prst="rect">
            <a:avLst/>
          </a:prstGeom>
        </p:spPr>
      </p:pic>
      <p:pic>
        <p:nvPicPr>
          <p:cNvPr id="9" name="8 Imagen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3184" y="35104130"/>
            <a:ext cx="720000" cy="720000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903" y="35140153"/>
            <a:ext cx="720000" cy="720000"/>
          </a:xfrm>
          <a:prstGeom prst="rect">
            <a:avLst/>
          </a:prstGeom>
        </p:spPr>
      </p:pic>
      <p:sp>
        <p:nvSpPr>
          <p:cNvPr id="14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introducción</a:t>
            </a:r>
            <a:r>
              <a:rPr lang="es-CO" dirty="0" smtClean="0"/>
              <a:t xml:space="preserve"> del proyecto</a:t>
            </a:r>
            <a:endParaRPr lang="es-ES" dirty="0" smtClean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objetivos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el diseño e implementación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 metodología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resultados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las conclusiones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val="33714591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S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 smtClean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-23814" y="2448521"/>
            <a:ext cx="12672000" cy="720000"/>
          </a:xfrm>
          <a:solidFill>
            <a:srgbClr val="24AAE1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 smtClean="0"/>
              <a:t>TICSw</a:t>
            </a:r>
            <a:r>
              <a:rPr lang="es-ES" dirty="0" smtClean="0"/>
              <a:t xml:space="preserve"> – Sub </a:t>
            </a:r>
            <a:r>
              <a:rPr lang="es-ES" dirty="0" smtClean="0"/>
              <a:t>área / Programa estudiante</a:t>
            </a:r>
            <a:endParaRPr lang="es-ES" dirty="0" smtClean="0"/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E1244B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E1244B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24AAE1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mtClean="0"/>
              <a:t xml:space="preserve"> </a:t>
            </a:r>
            <a:endParaRPr lang="es-CO"/>
          </a:p>
        </p:txBody>
      </p:sp>
      <p:sp>
        <p:nvSpPr>
          <p:cNvPr id="32" name="21 Marcador de texto"/>
          <p:cNvSpPr>
            <a:spLocks noGrp="1"/>
          </p:cNvSpPr>
          <p:nvPr>
            <p:ph type="body" sz="quarter" idx="33" hasCustomPrompt="1"/>
          </p:nvPr>
        </p:nvSpPr>
        <p:spPr>
          <a:xfrm>
            <a:off x="12646013" y="2448521"/>
            <a:ext cx="12600000" cy="720000"/>
          </a:xfrm>
          <a:solidFill>
            <a:srgbClr val="24AAE1">
              <a:alpha val="25098"/>
            </a:srgbClr>
          </a:solidFill>
        </p:spPr>
        <p:txBody>
          <a:bodyPr>
            <a:noAutofit/>
          </a:bodyPr>
          <a:lstStyle>
            <a:lvl1pPr marL="0" indent="0" algn="r">
              <a:buNone/>
              <a:defRPr sz="3200" b="1" i="1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Asesor: &lt;asesor&gt; (&lt;correo asesor&gt;@uniandes.edu.co)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http://</a:t>
            </a:r>
            <a:r>
              <a:rPr lang="es-CO" sz="2400" b="1" dirty="0" smtClean="0"/>
              <a:t>sistemas.uniandes.edu.co</a:t>
            </a:r>
            <a:endParaRPr lang="es-CO" sz="2400" b="1" dirty="0"/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"/>
            <a:ext cx="25200000" cy="2538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4 Imagen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984" y="35140234"/>
            <a:ext cx="720000" cy="720000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3583" y="35104130"/>
            <a:ext cx="720000" cy="720000"/>
          </a:xfrm>
          <a:prstGeom prst="rect">
            <a:avLst/>
          </a:prstGeom>
        </p:spPr>
      </p:pic>
      <p:pic>
        <p:nvPicPr>
          <p:cNvPr id="11" name="10 Imagen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5871" y="35201896"/>
            <a:ext cx="720000" cy="580646"/>
          </a:xfrm>
          <a:prstGeom prst="rect">
            <a:avLst/>
          </a:prstGeom>
        </p:spPr>
      </p:pic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introducción</a:t>
            </a:r>
            <a:r>
              <a:rPr lang="es-CO" dirty="0" smtClean="0"/>
              <a:t xml:space="preserve"> del proyecto</a:t>
            </a:r>
            <a:endParaRPr lang="es-ES" dirty="0" smtClean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objetivos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el diseño e implementación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 metodología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resultados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las conclusiones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val="4146826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 smtClean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-23814" y="2448521"/>
            <a:ext cx="12672000" cy="720000"/>
          </a:xfrm>
          <a:solidFill>
            <a:srgbClr val="57AC46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IMAGINE / Programa estudiante</a:t>
            </a:r>
            <a:endParaRPr lang="es-ES" dirty="0" smtClean="0"/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9F417E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9F417E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57AC46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mtClean="0"/>
              <a:t xml:space="preserve"> </a:t>
            </a:r>
            <a:endParaRPr lang="es-CO"/>
          </a:p>
        </p:txBody>
      </p:sp>
      <p:sp>
        <p:nvSpPr>
          <p:cNvPr id="32" name="21 Marcador de texto"/>
          <p:cNvSpPr>
            <a:spLocks noGrp="1"/>
          </p:cNvSpPr>
          <p:nvPr>
            <p:ph type="body" sz="quarter" idx="33" hasCustomPrompt="1"/>
          </p:nvPr>
        </p:nvSpPr>
        <p:spPr>
          <a:xfrm>
            <a:off x="12646013" y="2448521"/>
            <a:ext cx="12600000" cy="720000"/>
          </a:xfrm>
          <a:solidFill>
            <a:srgbClr val="57AC46">
              <a:alpha val="25098"/>
            </a:srgbClr>
          </a:solidFill>
        </p:spPr>
        <p:txBody>
          <a:bodyPr>
            <a:noAutofit/>
          </a:bodyPr>
          <a:lstStyle>
            <a:lvl1pPr marL="0" indent="0" algn="r">
              <a:buNone/>
              <a:defRPr sz="3200" b="1" i="1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Asesor: &lt;asesor&gt; (&lt;correo asesor&gt;@uniandes.edu.co)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http://</a:t>
            </a:r>
            <a:r>
              <a:rPr lang="es-CO" sz="2400" b="1" dirty="0" smtClean="0"/>
              <a:t>sistemas.uniandes.edu.co</a:t>
            </a:r>
            <a:endParaRPr lang="es-CO" sz="2400" b="1" dirty="0"/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introducción</a:t>
            </a:r>
            <a:r>
              <a:rPr lang="es-CO" dirty="0" smtClean="0"/>
              <a:t xml:space="preserve"> del proyecto</a:t>
            </a:r>
            <a:endParaRPr lang="es-ES" dirty="0" smtClean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objetivos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el diseño e implementación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 metodología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resultados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las conclusiones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" y="251"/>
            <a:ext cx="25282526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 descr="D:\Dropbox\Personales\Uniandes\Proyectos\Websis\iconos\svg\Redes\twitter_9F417E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5952" y="35209385"/>
            <a:ext cx="720000" cy="581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:\Dropbox\Personales\Uniandes\Proyectos\Websis\iconos\svg\Redes\web_9F417E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4015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D:\Dropbox\Personales\Uniandes\Proyectos\Websis\iconos\svg\Redes\facebook_9F417E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1438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36422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 smtClean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5" y="2448521"/>
            <a:ext cx="25200000" cy="720000"/>
          </a:xfrm>
          <a:solidFill>
            <a:srgbClr val="006772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 smtClean="0"/>
              <a:t>ARTIxxx</a:t>
            </a:r>
            <a:r>
              <a:rPr lang="es-ES" dirty="0" smtClean="0"/>
              <a:t xml:space="preserve"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BB7F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BB7F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00677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mtClean="0"/>
              <a:t xml:space="preserve"> </a:t>
            </a:r>
            <a:endParaRPr lang="es-CO"/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http://</a:t>
            </a:r>
            <a:r>
              <a:rPr lang="es-CO" sz="2400" b="1" dirty="0" smtClean="0"/>
              <a:t>sistemas.uniandes.edu.co</a:t>
            </a:r>
            <a:endParaRPr lang="es-CO" sz="2400" b="1" dirty="0"/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introducción</a:t>
            </a:r>
            <a:r>
              <a:rPr lang="es-CO" dirty="0" smtClean="0"/>
              <a:t xml:space="preserve"> del proyecto</a:t>
            </a:r>
            <a:endParaRPr lang="es-ES" dirty="0" smtClean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objetivos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el diseño e implementación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 metodología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resultados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las conclusiones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pic>
        <p:nvPicPr>
          <p:cNvPr id="2050" name="Picture 2" descr="D:\Dropbox\Personales\Uniandes\Proyectos\Websis\iconos\svg\Redes\twitter_BB7F00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5871" y="35224235"/>
            <a:ext cx="720000" cy="581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D:\Dropbox\Personales\Uniandes\Proyectos\Websis\iconos\svg\Redes\web_BB7F00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:\Dropbox\Personales\Uniandes\Proyectos\Websis\iconos\svg\Redes\facebook_BB7F00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6294" y="3512580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0"/>
            <a:ext cx="25282526" cy="2500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64804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 smtClean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5" y="2448521"/>
            <a:ext cx="25200000" cy="720000"/>
          </a:xfrm>
          <a:solidFill>
            <a:srgbClr val="006639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 smtClean="0"/>
              <a:t>MSINxxx</a:t>
            </a:r>
            <a:r>
              <a:rPr lang="es-ES" dirty="0" smtClean="0"/>
              <a:t xml:space="preserve"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9150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9150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006639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mtClean="0"/>
              <a:t xml:space="preserve"> </a:t>
            </a:r>
            <a:endParaRPr lang="es-CO"/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http://</a:t>
            </a:r>
            <a:r>
              <a:rPr lang="es-CO" sz="2400" b="1" dirty="0" smtClean="0"/>
              <a:t>sistemas.uniandes.edu.co</a:t>
            </a:r>
            <a:endParaRPr lang="es-CO" sz="2400" b="1" dirty="0"/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introducción</a:t>
            </a:r>
            <a:r>
              <a:rPr lang="es-CO" dirty="0" smtClean="0"/>
              <a:t xml:space="preserve"> del proyecto</a:t>
            </a:r>
            <a:endParaRPr lang="es-ES" dirty="0" smtClean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objetivos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el diseño e implementación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 metodología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resultados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las conclusiones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pic>
        <p:nvPicPr>
          <p:cNvPr id="4097" name="Picture 1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282526" cy="2500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 descr="D:\Dropbox\Personales\Uniandes\Proyectos\Websis\iconos\svg\Redes\web_915000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141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D:\Dropbox\Personales\Uniandes\Proyectos\Websis\iconos\svg\Redes\facebook_915000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1481" y="35155003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:\Dropbox\Personales\Uniandes\Proyectos\Websis\iconos\svg\Redes\twitter_915000.png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8673" y="35224235"/>
            <a:ext cx="720000" cy="581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2950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 smtClean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5" y="2448521"/>
            <a:ext cx="25200000" cy="720000"/>
          </a:xfrm>
          <a:solidFill>
            <a:srgbClr val="003399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 smtClean="0"/>
              <a:t>MBITxxx</a:t>
            </a:r>
            <a:r>
              <a:rPr lang="es-ES" dirty="0" smtClean="0"/>
              <a:t xml:space="preserve"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E664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E664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0" y="34924130"/>
            <a:ext cx="25236000" cy="1080000"/>
          </a:xfrm>
          <a:prstGeom prst="rect">
            <a:avLst/>
          </a:prstGeom>
          <a:solidFill>
            <a:srgbClr val="003399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mtClean="0"/>
              <a:t xml:space="preserve"> </a:t>
            </a:r>
            <a:endParaRPr lang="es-CO"/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http://</a:t>
            </a:r>
            <a:r>
              <a:rPr lang="es-CO" sz="2400" b="1" dirty="0" smtClean="0"/>
              <a:t>sistemas.uniandes.edu.co</a:t>
            </a:r>
            <a:endParaRPr lang="es-CO" sz="2400" b="1" dirty="0"/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introducción</a:t>
            </a:r>
            <a:r>
              <a:rPr lang="es-CO" dirty="0" smtClean="0"/>
              <a:t xml:space="preserve"> del proyecto</a:t>
            </a:r>
            <a:endParaRPr lang="es-ES" dirty="0" smtClean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objetivos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el diseño e implementación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 metodología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resultados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las conclusiones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373013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 descr="D:\Dropbox\Personales\Uniandes\Proyectos\Websis\iconos\svg\Redes\facebook_E66400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7057" y="351402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:\Dropbox\Personales\Uniandes\Proyectos\Websis\iconos\svg\Redes\twitter_E66400.png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5951" y="35206688"/>
            <a:ext cx="720000" cy="58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D:\Dropbox\Personales\Uniandes\Proyectos\Websis\iconos\svg\Redes\web_E66400.png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2185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63564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 smtClean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5" y="2448521"/>
            <a:ext cx="25200000" cy="720000"/>
          </a:xfrm>
          <a:solidFill>
            <a:srgbClr val="663366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 smtClean="0"/>
              <a:t>MISOxxx</a:t>
            </a:r>
            <a:r>
              <a:rPr lang="es-ES" dirty="0" smtClean="0"/>
              <a:t xml:space="preserve"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668C46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668C46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0" y="34924130"/>
            <a:ext cx="25236000" cy="1080000"/>
          </a:xfrm>
          <a:prstGeom prst="rect">
            <a:avLst/>
          </a:prstGeom>
          <a:solidFill>
            <a:srgbClr val="663366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mtClean="0"/>
              <a:t xml:space="preserve"> </a:t>
            </a:r>
            <a:endParaRPr lang="es-CO"/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http://</a:t>
            </a:r>
            <a:r>
              <a:rPr lang="es-CO" sz="2400" b="1" dirty="0" smtClean="0"/>
              <a:t>sistemas.uniandes.edu.co</a:t>
            </a:r>
            <a:endParaRPr lang="es-CO" sz="2400" b="1" dirty="0"/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introducción</a:t>
            </a:r>
            <a:r>
              <a:rPr lang="es-CO" dirty="0" smtClean="0"/>
              <a:t xml:space="preserve"> del proyecto</a:t>
            </a:r>
            <a:endParaRPr lang="es-ES" dirty="0" smtClean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objetivos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el diseño e implementación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 metodología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resultados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las conclusiones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pic>
        <p:nvPicPr>
          <p:cNvPr id="3073" name="Picture 1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373013" cy="2500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 descr="D:\Dropbox\Personales\Uniandes\Proyectos\Websis\iconos\svg\Redes\web_668c46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854" y="35084033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D:\Dropbox\Personales\Uniandes\Proyectos\Websis\iconos\svg\Redes\facebook_668c46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3503" y="35140233"/>
            <a:ext cx="720000" cy="720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:\Dropbox\Personales\Uniandes\Proyectos\Websis\iconos\svg\Redes\twitter_668c46.png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7959" y="35212162"/>
            <a:ext cx="720000" cy="58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51659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 smtClean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4" y="2448520"/>
            <a:ext cx="25235825" cy="720081"/>
          </a:xfrm>
          <a:solidFill>
            <a:srgbClr val="CC6634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 smtClean="0"/>
              <a:t>ISISxxx</a:t>
            </a:r>
            <a:r>
              <a:rPr lang="es-ES" dirty="0" smtClean="0"/>
              <a:t xml:space="preserve"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295688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295688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0" y="34924130"/>
            <a:ext cx="25236000" cy="1080000"/>
          </a:xfrm>
          <a:prstGeom prst="rect">
            <a:avLst/>
          </a:prstGeom>
          <a:solidFill>
            <a:srgbClr val="CC6634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mtClean="0"/>
              <a:t xml:space="preserve"> </a:t>
            </a:r>
            <a:endParaRPr lang="es-CO"/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http://</a:t>
            </a:r>
            <a:r>
              <a:rPr lang="es-CO" sz="2400" b="1" dirty="0" smtClean="0"/>
              <a:t>sistemas.uniandes.edu.co</a:t>
            </a:r>
            <a:endParaRPr lang="es-CO" sz="2400" b="1" dirty="0"/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introducción</a:t>
            </a:r>
            <a:r>
              <a:rPr lang="es-CO" dirty="0" smtClean="0"/>
              <a:t xml:space="preserve"> del proyecto</a:t>
            </a:r>
            <a:endParaRPr lang="es-ES" dirty="0" smtClean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objetivos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el diseño e implementación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 metodología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resultados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las conclusiones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pic>
        <p:nvPicPr>
          <p:cNvPr id="4097" name="Picture 1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373013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 descr="D:\Dropbox\Personales\Uniandes\Proyectos\Websis\iconos\svg\Redes\twitter_295685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4522" y="35104130"/>
            <a:ext cx="891429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D:\Dropbox\Personales\Uniandes\Proyectos\Websis\iconos\svg\Redes\web_295685.png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402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:\Dropbox\Personales\Uniandes\Proyectos\Websis\iconos\svg\Redes\facebook_295685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1495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6241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 smtClean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n-US" dirty="0" err="1" smtClean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4" y="2500313"/>
            <a:ext cx="12601321" cy="668288"/>
          </a:xfrm>
          <a:solidFill>
            <a:srgbClr val="DBC965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 smtClean="0"/>
              <a:t>Ingenier</a:t>
            </a:r>
            <a:r>
              <a:rPr lang="en-US" dirty="0" err="1" smtClean="0"/>
              <a:t>ía</a:t>
            </a:r>
            <a:r>
              <a:rPr lang="en-US" dirty="0" smtClean="0"/>
              <a:t xml:space="preserve"> de </a:t>
            </a:r>
            <a:r>
              <a:rPr lang="en-US" dirty="0" err="1" smtClean="0"/>
              <a:t>Sistemas</a:t>
            </a:r>
            <a:r>
              <a:rPr lang="en-US" dirty="0" smtClean="0"/>
              <a:t xml:space="preserve"> y </a:t>
            </a:r>
            <a:r>
              <a:rPr lang="en-US" dirty="0" err="1" smtClean="0"/>
              <a:t>Computación</a:t>
            </a:r>
            <a:endParaRPr lang="es-ES" dirty="0" smtClean="0"/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295688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295688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0" y="34924130"/>
            <a:ext cx="25236000" cy="1080000"/>
          </a:xfrm>
          <a:prstGeom prst="rect">
            <a:avLst/>
          </a:prstGeom>
          <a:solidFill>
            <a:srgbClr val="DBC965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mtClean="0"/>
              <a:t xml:space="preserve"> </a:t>
            </a:r>
            <a:endParaRPr lang="es-CO"/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http://</a:t>
            </a:r>
            <a:r>
              <a:rPr lang="es-CO" sz="2400" b="1" dirty="0" smtClean="0"/>
              <a:t>sistemas.uniandes.edu.co</a:t>
            </a:r>
            <a:endParaRPr lang="es-CO" sz="2400" b="1" dirty="0"/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introducción</a:t>
            </a:r>
            <a:r>
              <a:rPr lang="es-CO" dirty="0" smtClean="0"/>
              <a:t xml:space="preserve"> del proyecto</a:t>
            </a:r>
            <a:endParaRPr lang="es-ES" dirty="0" smtClean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objetivos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el diseño e implementación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 metodología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resultados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las conclusiones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pic>
        <p:nvPicPr>
          <p:cNvPr id="4098" name="Picture 2" descr="D:\Dropbox\Personales\Uniandes\Proyectos\Websis\iconos\svg\Redes\twitter_295685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4522" y="35104130"/>
            <a:ext cx="891429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D:\Dropbox\Personales\Uniandes\Proyectos\Websis\iconos\svg\Redes\web_295685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402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:\Dropbox\Personales\Uniandes\Proyectos\Websis\iconos\svg\Redes\facebook_295685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1495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373013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21 Marcador de texto"/>
          <p:cNvSpPr>
            <a:spLocks noGrp="1"/>
          </p:cNvSpPr>
          <p:nvPr>
            <p:ph type="body" sz="quarter" idx="33" hasCustomPrompt="1"/>
          </p:nvPr>
        </p:nvSpPr>
        <p:spPr>
          <a:xfrm>
            <a:off x="12601495" y="2500313"/>
            <a:ext cx="12644518" cy="668208"/>
          </a:xfrm>
          <a:solidFill>
            <a:srgbClr val="F7F2D9"/>
          </a:solidFill>
        </p:spPr>
        <p:txBody>
          <a:bodyPr>
            <a:noAutofit/>
          </a:bodyPr>
          <a:lstStyle>
            <a:lvl1pPr marL="0" indent="0" algn="r">
              <a:buNone/>
              <a:defRPr sz="3200" b="1" i="1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Asesor: &lt;asesor&gt; (&lt;correo asesor&gt;@uniandes.edu.co)</a:t>
            </a:r>
          </a:p>
        </p:txBody>
      </p:sp>
    </p:spTree>
    <p:extLst>
      <p:ext uri="{BB962C8B-B14F-4D97-AF65-F5344CB8AC3E}">
        <p14:creationId xmlns:p14="http://schemas.microsoft.com/office/powerpoint/2010/main" val="17598786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60159" y="1433514"/>
            <a:ext cx="8291664" cy="6100763"/>
          </a:xfrm>
        </p:spPr>
        <p:txBody>
          <a:bodyPr anchor="b"/>
          <a:lstStyle>
            <a:lvl1pPr algn="l">
              <a:defRPr sz="7700" b="1"/>
            </a:lvl1pPr>
          </a:lstStyle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853733" y="1433516"/>
            <a:ext cx="14089263" cy="30728846"/>
          </a:xfrm>
        </p:spPr>
        <p:txBody>
          <a:bodyPr/>
          <a:lstStyle>
            <a:lvl1pPr>
              <a:defRPr sz="12200"/>
            </a:lvl1pPr>
            <a:lvl2pPr>
              <a:defRPr sz="10700"/>
            </a:lvl2pPr>
            <a:lvl3pPr>
              <a:defRPr sz="92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260159" y="7534279"/>
            <a:ext cx="8291664" cy="24628081"/>
          </a:xfrm>
        </p:spPr>
        <p:txBody>
          <a:bodyPr/>
          <a:lstStyle>
            <a:lvl1pPr marL="0" indent="0">
              <a:buNone/>
              <a:defRPr sz="5400"/>
            </a:lvl1pPr>
            <a:lvl2pPr marL="1748790" indent="0">
              <a:buNone/>
              <a:defRPr sz="4600"/>
            </a:lvl2pPr>
            <a:lvl3pPr marL="3497580" indent="0">
              <a:buNone/>
              <a:defRPr sz="3800"/>
            </a:lvl3pPr>
            <a:lvl4pPr marL="5246370" indent="0">
              <a:buNone/>
              <a:defRPr sz="3400"/>
            </a:lvl4pPr>
            <a:lvl5pPr marL="6995160" indent="0">
              <a:buNone/>
              <a:defRPr sz="3400"/>
            </a:lvl5pPr>
            <a:lvl6pPr marL="8743950" indent="0">
              <a:buNone/>
              <a:defRPr sz="3400"/>
            </a:lvl6pPr>
            <a:lvl7pPr marL="10492740" indent="0">
              <a:buNone/>
              <a:defRPr sz="3400"/>
            </a:lvl7pPr>
            <a:lvl8pPr marL="12241530" indent="0">
              <a:buNone/>
              <a:defRPr sz="3400"/>
            </a:lvl8pPr>
            <a:lvl9pPr marL="13990320" indent="0">
              <a:buNone/>
              <a:defRPr sz="3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02373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939994" y="25203153"/>
            <a:ext cx="15121890" cy="2975376"/>
          </a:xfrm>
        </p:spPr>
        <p:txBody>
          <a:bodyPr anchor="b"/>
          <a:lstStyle>
            <a:lvl1pPr algn="l">
              <a:defRPr sz="7700" b="1"/>
            </a:lvl1pPr>
          </a:lstStyle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939994" y="3217067"/>
            <a:ext cx="15121890" cy="21602700"/>
          </a:xfrm>
        </p:spPr>
        <p:txBody>
          <a:bodyPr/>
          <a:lstStyle>
            <a:lvl1pPr marL="0" indent="0">
              <a:buNone/>
              <a:defRPr sz="12200"/>
            </a:lvl1pPr>
            <a:lvl2pPr marL="1748790" indent="0">
              <a:buNone/>
              <a:defRPr sz="10700"/>
            </a:lvl2pPr>
            <a:lvl3pPr marL="3497580" indent="0">
              <a:buNone/>
              <a:defRPr sz="9200"/>
            </a:lvl3pPr>
            <a:lvl4pPr marL="5246370" indent="0">
              <a:buNone/>
              <a:defRPr sz="7700"/>
            </a:lvl4pPr>
            <a:lvl5pPr marL="6995160" indent="0">
              <a:buNone/>
              <a:defRPr sz="7700"/>
            </a:lvl5pPr>
            <a:lvl6pPr marL="8743950" indent="0">
              <a:buNone/>
              <a:defRPr sz="7700"/>
            </a:lvl6pPr>
            <a:lvl7pPr marL="10492740" indent="0">
              <a:buNone/>
              <a:defRPr sz="7700"/>
            </a:lvl7pPr>
            <a:lvl8pPr marL="12241530" indent="0">
              <a:buNone/>
              <a:defRPr sz="7700"/>
            </a:lvl8pPr>
            <a:lvl9pPr marL="13990320" indent="0">
              <a:buNone/>
              <a:defRPr sz="7700"/>
            </a:lvl9pPr>
          </a:lstStyle>
          <a:p>
            <a:r>
              <a:rPr lang="en-US" smtClean="0"/>
              <a:t>Drag picture to placeholder or click icon to add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939994" y="28178529"/>
            <a:ext cx="15121890" cy="4225524"/>
          </a:xfrm>
        </p:spPr>
        <p:txBody>
          <a:bodyPr/>
          <a:lstStyle>
            <a:lvl1pPr marL="0" indent="0">
              <a:buNone/>
              <a:defRPr sz="5400"/>
            </a:lvl1pPr>
            <a:lvl2pPr marL="1748790" indent="0">
              <a:buNone/>
              <a:defRPr sz="4600"/>
            </a:lvl2pPr>
            <a:lvl3pPr marL="3497580" indent="0">
              <a:buNone/>
              <a:defRPr sz="3800"/>
            </a:lvl3pPr>
            <a:lvl4pPr marL="5246370" indent="0">
              <a:buNone/>
              <a:defRPr sz="3400"/>
            </a:lvl4pPr>
            <a:lvl5pPr marL="6995160" indent="0">
              <a:buNone/>
              <a:defRPr sz="3400"/>
            </a:lvl5pPr>
            <a:lvl6pPr marL="8743950" indent="0">
              <a:buNone/>
              <a:defRPr sz="3400"/>
            </a:lvl6pPr>
            <a:lvl7pPr marL="10492740" indent="0">
              <a:buNone/>
              <a:defRPr sz="3400"/>
            </a:lvl7pPr>
            <a:lvl8pPr marL="12241530" indent="0">
              <a:buNone/>
              <a:defRPr sz="3400"/>
            </a:lvl8pPr>
            <a:lvl9pPr marL="13990320" indent="0">
              <a:buNone/>
              <a:defRPr sz="3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03318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28430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18272286" y="1441856"/>
            <a:ext cx="5670709" cy="3072050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60157" y="1441856"/>
            <a:ext cx="16592074" cy="3072050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2383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1260158" y="1441852"/>
            <a:ext cx="22682835" cy="6000750"/>
          </a:xfrm>
          <a:prstGeom prst="rect">
            <a:avLst/>
          </a:prstGeom>
        </p:spPr>
        <p:txBody>
          <a:bodyPr vert="horz" lIns="349758" tIns="174879" rIns="349758" bIns="174879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60158" y="8401058"/>
            <a:ext cx="22682835" cy="23761304"/>
          </a:xfrm>
          <a:prstGeom prst="rect">
            <a:avLst/>
          </a:prstGeom>
        </p:spPr>
        <p:txBody>
          <a:bodyPr vert="horz" lIns="349758" tIns="174879" rIns="349758" bIns="174879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1260158" y="33370843"/>
            <a:ext cx="5880735" cy="1916906"/>
          </a:xfrm>
          <a:prstGeom prst="rect">
            <a:avLst/>
          </a:prstGeom>
        </p:spPr>
        <p:txBody>
          <a:bodyPr vert="horz" lIns="349758" tIns="174879" rIns="349758" bIns="174879" rtlCol="0" anchor="ctr"/>
          <a:lstStyle>
            <a:lvl1pPr algn="l">
              <a:defRPr sz="4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8611076" y="33370843"/>
            <a:ext cx="7980998" cy="1916906"/>
          </a:xfrm>
          <a:prstGeom prst="rect">
            <a:avLst/>
          </a:prstGeom>
        </p:spPr>
        <p:txBody>
          <a:bodyPr vert="horz" lIns="349758" tIns="174879" rIns="349758" bIns="174879" rtlCol="0" anchor="ctr"/>
          <a:lstStyle>
            <a:lvl1pPr algn="ctr">
              <a:defRPr sz="4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8062258" y="33370843"/>
            <a:ext cx="5880735" cy="1916906"/>
          </a:xfrm>
          <a:prstGeom prst="rect">
            <a:avLst/>
          </a:prstGeom>
        </p:spPr>
        <p:txBody>
          <a:bodyPr vert="horz" lIns="349758" tIns="174879" rIns="349758" bIns="174879" rtlCol="0" anchor="ctr"/>
          <a:lstStyle>
            <a:lvl1pPr algn="r">
              <a:defRPr sz="4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2192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56" r:id="rId17"/>
    <p:sldLayoutId id="2147483657" r:id="rId18"/>
    <p:sldLayoutId id="2147483658" r:id="rId19"/>
    <p:sldLayoutId id="2147483659" r:id="rId20"/>
  </p:sldLayoutIdLst>
  <p:timing>
    <p:tnLst>
      <p:par>
        <p:cTn id="1" dur="indefinite" restart="never" nodeType="tmRoot"/>
      </p:par>
    </p:tnLst>
  </p:timing>
  <p:txStyles>
    <p:titleStyle>
      <a:lvl1pPr algn="ctr" defTabSz="3497580" rtl="0" eaLnBrk="1" latinLnBrk="0" hangingPunct="1">
        <a:spcBef>
          <a:spcPct val="0"/>
        </a:spcBef>
        <a:buNone/>
        <a:defRPr sz="16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11593" indent="-1311593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12200" kern="1200">
          <a:solidFill>
            <a:schemeClr val="tx1"/>
          </a:solidFill>
          <a:latin typeface="+mn-lt"/>
          <a:ea typeface="+mn-ea"/>
          <a:cs typeface="+mn-cs"/>
        </a:defRPr>
      </a:lvl1pPr>
      <a:lvl2pPr marL="2841784" indent="-1092994" algn="l" defTabSz="349758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700" kern="1200">
          <a:solidFill>
            <a:schemeClr val="tx1"/>
          </a:solidFill>
          <a:latin typeface="+mn-lt"/>
          <a:ea typeface="+mn-ea"/>
          <a:cs typeface="+mn-cs"/>
        </a:defRPr>
      </a:lvl2pPr>
      <a:lvl3pPr marL="437197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3pPr>
      <a:lvl4pPr marL="612076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–"/>
        <a:defRPr sz="7700" kern="1200">
          <a:solidFill>
            <a:schemeClr val="tx1"/>
          </a:solidFill>
          <a:latin typeface="+mn-lt"/>
          <a:ea typeface="+mn-ea"/>
          <a:cs typeface="+mn-cs"/>
        </a:defRPr>
      </a:lvl4pPr>
      <a:lvl5pPr marL="786955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»"/>
        <a:defRPr sz="7700" kern="1200">
          <a:solidFill>
            <a:schemeClr val="tx1"/>
          </a:solidFill>
          <a:latin typeface="+mn-lt"/>
          <a:ea typeface="+mn-ea"/>
          <a:cs typeface="+mn-cs"/>
        </a:defRPr>
      </a:lvl5pPr>
      <a:lvl6pPr marL="961834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6pPr>
      <a:lvl7pPr marL="1136713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7pPr>
      <a:lvl8pPr marL="1311592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8pPr>
      <a:lvl9pPr marL="1486471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1pPr>
      <a:lvl2pPr marL="174879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2pPr>
      <a:lvl3pPr marL="349758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3pPr>
      <a:lvl4pPr marL="524637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4pPr>
      <a:lvl5pPr marL="699516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5pPr>
      <a:lvl6pPr marL="874395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6pPr>
      <a:lvl7pPr marL="1049274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7pPr>
      <a:lvl8pPr marL="1224153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i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s-CO" b="1" dirty="0">
                <a:solidFill/>
              </a:rPr>
              <a:t>Sistema de deteccion de intrusiones para redes IoT mediante TinyML, aprendizaje federado jerarquico y cifrado ligero ASCON-128 en una arquitectura Edge-Fog-Cloud</a:t>
            </a:r>
            <a:endParaRPr lang="es-CO" dirty="0"/>
          </a:p>
        </p:txBody>
      </p:sp>
      <p:sp>
        <p:nvSpPr>
          <p:cNvPr id="3" name="2 Header Resumen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O" b="1">
                <a:solidFill/>
              </a:rPr>
              <a:t>Resumen</a:t>
            </a:r>
            <a:endParaRPr lang="es-CO"/>
          </a:p>
        </p:txBody>
      </p:sp>
      <p:sp>
        <p:nvSpPr>
          <p:cNvPr id="4" name="3 Resumen contenido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10000"/>
          </a:bodyPr>
          <a:lstStyle/>
          <a:p>
            <a:r>
              <a:rPr sz="2800" b="0">
                <a:solidFill/>
              </a:rPr>
              <a:t>Sistema de Deteccion de Intrusiones (IDS) para trafico IoT/MQTT en arquitectura jerarquica Edge-Fog-Cloud (ESP32-S3 + Raspberry Pi 4 + PC). Combina TinyML, HFL bidireccional y ASCON-128 (estandar NIST). Se evaluan </a:t>
            </a:r>
            <a:r>
              <a:rPr sz="2800" b="0">
                <a:solidFill>
                  <a:srgbClr val="E66B17"/>
                </a:solidFill>
              </a:rPr>
              <a:t>8 variantes</a:t>
            </a:r>
            <a:r>
              <a:rPr sz="2800" b="0">
                <a:solidFill/>
              </a:rPr>
              <a:t> (RN/CNN x ASCON/PLAIN x NoFOG/FOG) sobre </a:t>
            </a:r>
            <a:r>
              <a:rPr sz="2800" b="0">
                <a:solidFill>
                  <a:srgbClr val="1F3A6E"/>
                </a:solidFill>
              </a:rPr>
              <a:t>58</a:t>
            </a:r>
            <a:r>
              <a:rPr sz="2800" b="0">
                <a:solidFill/>
              </a:rPr>
              <a:t> intentos en hardware real. Mejor resultado: </a:t>
            </a:r>
            <a:r>
              <a:rPr sz="2800" b="0">
                <a:solidFill>
                  <a:srgbClr val="1F3A6E"/>
                </a:solidFill>
              </a:rPr>
              <a:t>CNN_ASCON_FOG</a:t>
            </a:r>
            <a:r>
              <a:rPr sz="2800" b="0">
                <a:solidFill/>
              </a:rPr>
              <a:t> con accuracy </a:t>
            </a:r>
            <a:r>
              <a:rPr sz="2800" b="0">
                <a:solidFill>
                  <a:srgbClr val="1F6E4A"/>
                </a:solidFill>
              </a:rPr>
              <a:t>0.975</a:t>
            </a:r>
            <a:r>
              <a:rPr sz="2800" b="0">
                <a:solidFill/>
              </a:rPr>
              <a:t> y loss 0.091.</a:t>
            </a:r>
            <a:endParaRPr lang="es-CO"/>
          </a:p>
        </p:txBody>
      </p:sp>
      <p:sp>
        <p:nvSpPr>
          <p:cNvPr id="5" name="4 Header Introduccion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s-CO" b="1">
                <a:solidFill/>
              </a:rPr>
              <a:t>Introduccion</a:t>
            </a:r>
            <a:endParaRPr lang="es-CO"/>
          </a:p>
        </p:txBody>
      </p:sp>
      <p:sp>
        <p:nvSpPr>
          <p:cNvPr id="6" name="5 Header Objetivos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s-CO" b="1">
                <a:solidFill/>
              </a:rPr>
              <a:t>Objetivos</a:t>
            </a:r>
            <a:endParaRPr lang="es-CO"/>
          </a:p>
        </p:txBody>
      </p:sp>
      <p:sp>
        <p:nvSpPr>
          <p:cNvPr id="7" name="6 Header Metodologia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r>
              <a:rPr lang="es-CO" b="1">
                <a:solidFill/>
              </a:rPr>
              <a:t>Metodologia</a:t>
            </a:r>
            <a:endParaRPr lang="es-CO"/>
          </a:p>
        </p:txBody>
      </p:sp>
      <p:sp>
        <p:nvSpPr>
          <p:cNvPr id="8" name="7 Header Diseno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r>
              <a:rPr lang="es-CO" b="1">
                <a:solidFill/>
              </a:rPr>
              <a:t>Diseno e implementacion</a:t>
            </a:r>
            <a:endParaRPr lang="es-CO"/>
          </a:p>
        </p:txBody>
      </p:sp>
      <p:sp>
        <p:nvSpPr>
          <p:cNvPr id="9" name="8 Header Resultados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lnSpcReduction="10000"/>
          </a:bodyPr>
          <a:lstStyle/>
          <a:p>
            <a:r>
              <a:rPr lang="es-CO" b="1">
                <a:solidFill/>
              </a:rPr>
              <a:t>Resultados</a:t>
            </a:r>
            <a:endParaRPr lang="es-CO"/>
          </a:p>
        </p:txBody>
      </p:sp>
      <p:sp>
        <p:nvSpPr>
          <p:cNvPr id="10" name="9 Header Conclusiones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r>
              <a:rPr lang="es-CO" b="1">
                <a:solidFill/>
              </a:rPr>
              <a:t>Conclusiones</a:t>
            </a:r>
            <a:endParaRPr lang="es-CO"/>
          </a:p>
        </p:txBody>
      </p:sp>
      <p:sp>
        <p:nvSpPr>
          <p:cNvPr id="11" name="10 Programa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s-CO" dirty="0">
                <a:solidFill/>
              </a:rPr>
              <a:t>COMIT – Seguridad y Sistemas Distribuidos / Maestria en Ingenieria de Sistemas y Computacion</a:t>
            </a:r>
            <a:endParaRPr lang="es-CO" dirty="0"/>
          </a:p>
        </p:txBody>
      </p:sp>
      <p:sp>
        <p:nvSpPr>
          <p:cNvPr id="12" name="11 Integrantes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s-CO">
                <a:solidFill/>
              </a:rPr>
              <a:t>Santiago Alejandro Jaimes Puerto, Nicolas Casas Ibarra</a:t>
            </a:r>
            <a:endParaRPr lang="es-CO"/>
          </a:p>
        </p:txBody>
      </p:sp>
      <p:sp>
        <p:nvSpPr>
          <p:cNvPr id="13" name="12 Correos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s-CO">
                <a:solidFill/>
              </a:rPr>
              <a:t>sa.jaimesp@uniandes.edu.co, ni.casas@uniandes.edu.co</a:t>
            </a:r>
            <a:endParaRPr lang="es-CO"/>
          </a:p>
        </p:txBody>
      </p:sp>
      <p:sp>
        <p:nvSpPr>
          <p:cNvPr id="14" name="13 Asesor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s-CO">
                <a:solidFill/>
              </a:rPr>
              <a:t>Asesor: Prof. Carlos Andres Lozano Garzon, PhD  (calozanog@uniandes.edu.co)</a:t>
            </a:r>
            <a:endParaRPr lang="es-CO"/>
          </a:p>
        </p:txBody>
      </p:sp>
      <p:sp>
        <p:nvSpPr>
          <p:cNvPr id="15" name="14 Introduccion contenido"/>
          <p:cNvSpPr>
            <a:spLocks noGrp="1"/>
          </p:cNvSpPr>
          <p:nvPr>
            <p:ph sz="quarter" idx="34"/>
          </p:nvPr>
        </p:nvSpPr>
        <p:spPr/>
        <p:txBody>
          <a:bodyPr>
            <a:normAutofit fontScale="92500" lnSpcReduction="10000"/>
          </a:bodyPr>
          <a:lstStyle/>
          <a:p>
            <a:r>
              <a:rPr sz="2200" b="0">
                <a:solidFill/>
              </a:rPr>
              <a:t>El despliegue masivo de redes IoT/MQTT amplia la superficie de ataque, pero los IDS clasicos asumen servidores capaces, datos centralizados y comunicaciones sin cifrar -- supuestos incompatibles con microcontroladores como el ESP32-S3.</a:t>
            </a:r>
            <a:endParaRPr lang="es-CO"/>
          </a:p>
          <a:p>
            <a:r>
              <a:rPr sz="2200" b="1">
                <a:solidFill/>
              </a:rPr>
              <a:t>Problema: </a:t>
            </a:r>
            <a:r>
              <a:rPr sz="2200" b="0">
                <a:solidFill/>
              </a:rPr>
              <a:t>los modelos de alta precision (Random Forest, SVM-RBF) superan 99% de accuracy pero requieren megabytes de memoria que un MCU no tiene; centralizar flujos de trafico es costoso y arriesga la privacidad; y los pesos federados intercambiados en cada ronda son activos sensibles que suelen viajar en claro o protegidos con esquemas ad-hoc ya comprometidos en la literatura.</a:t>
            </a:r>
          </a:p>
          <a:p>
            <a:r>
              <a:rPr sz="2200" b="1">
                <a:solidFill/>
              </a:rPr>
              <a:t>Solucion: </a:t>
            </a:r>
            <a:r>
              <a:rPr sz="2200" b="0">
                <a:solidFill/>
              </a:rPr>
              <a:t>este trabajo construye una arquitectura jerarquica Edge--Fog--Cloud (ESP32-S3 + Raspberry Pi 4 + PC) que combina TinyML para inferencia local, aprendizaje federado bidireccional para entrenamiento distribuido sin compartir datos crudos, y ASCON-128 (estandar NIST 2023 de criptografia ligera) para proteger confidencialidad e integridad en todos los canales MQTT/HTTP.</a:t>
            </a:r>
          </a:p>
          <a:p>
            <a:r>
              <a:rPr sz="2200" b="1">
                <a:solidFill/>
              </a:rPr>
              <a:t>Objetivo: </a:t>
            </a:r>
            <a:r>
              <a:rPr sz="2200" b="0">
                <a:solidFill/>
              </a:rPr>
              <a:t>validar empiricamente que esta combinacion es viable, segura y de bajo costo, comparando </a:t>
            </a:r>
            <a:r>
              <a:rPr sz="2200" b="0">
                <a:solidFill>
                  <a:srgbClr val="E66B17"/>
                </a:solidFill>
              </a:rPr>
              <a:t>8 variantes</a:t>
            </a:r>
            <a:r>
              <a:rPr sz="2200" b="0">
                <a:solidFill/>
              </a:rPr>
              <a:t> (RN/CNN x ASCON/PLAIN x NoFOG/FOG) sobre hardware real durante </a:t>
            </a:r>
            <a:r>
              <a:rPr sz="2200" b="0">
                <a:solidFill>
                  <a:srgbClr val="1F3A6E"/>
                </a:solidFill>
              </a:rPr>
              <a:t>58</a:t>
            </a:r>
            <a:r>
              <a:rPr sz="2200" b="0">
                <a:solidFill/>
              </a:rPr>
              <a:t> intentos federados.</a:t>
            </a:r>
          </a:p>
        </p:txBody>
      </p:sp>
      <p:sp>
        <p:nvSpPr>
          <p:cNvPr id="16" name="15 Objetivos contenido"/>
          <p:cNvSpPr>
            <a:spLocks noGrp="1"/>
          </p:cNvSpPr>
          <p:nvPr>
            <p:ph sz="quarter" idx="35"/>
          </p:nvPr>
        </p:nvSpPr>
        <p:spPr/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-"/>
            </a:pPr>
            <a:r>
              <a:rPr sz="2200" b="1">
                <a:solidFill/>
              </a:rPr>
              <a:t>General: </a:t>
            </a:r>
            <a:r>
              <a:rPr sz="2200" b="0">
                <a:solidFill/>
              </a:rPr>
              <a:t>Disenar, implementar y evaluar un IDS para redes IoT/MQTT que opere directamente sobre microcontroladores, combinando TinyML, aprendizaje federado jerarquico y cifrado ligero ASCON-128 sobre una arquitectura Edge-Fog-Cloud.</a:t>
            </a:r>
          </a:p>
          <a:p>
            <a:r>
              <a:rPr sz="2200" b="1">
                <a:solidFill/>
              </a:rPr>
              <a:t>Especificos:</a:t>
            </a:r>
          </a:p>
          <a:p>
            <a:r>
              <a:rPr sz="2200" b="0">
                <a:solidFill/>
              </a:rPr>
              <a:t>- Construir un pipeline de features de flujo y seleccionar datasets representativos.</a:t>
            </a:r>
          </a:p>
          <a:p>
            <a:r>
              <a:rPr sz="2200" b="0">
                <a:solidFill/>
              </a:rPr>
              <a:t>- Comparar modelos compactos y exportar el mas viable al microcontrolador.</a:t>
            </a:r>
          </a:p>
          <a:p>
            <a:r>
              <a:rPr sz="2200" b="0">
                <a:solidFill/>
              </a:rPr>
              <a:t>- Implementar el ciclo HFL bidireccional con cifrado ASCON-128 sobre hardware real.</a:t>
            </a:r>
          </a:p>
          <a:p>
            <a:r>
              <a:rPr sz="2200" b="0">
                <a:solidFill/>
              </a:rPr>
              <a:t>- Validar el sistema integrado midiendo precision, comunicacion y overhead criptografico.</a:t>
            </a:r>
          </a:p>
        </p:txBody>
      </p:sp>
      <p:sp>
        <p:nvSpPr>
          <p:cNvPr id="17" name="16 Diseno contenido"/>
          <p:cNvSpPr>
            <a:spLocks noGrp="1"/>
          </p:cNvSpPr>
          <p:nvPr>
            <p:ph sz="quarter" idx="36"/>
          </p:nvPr>
        </p:nvSpPr>
        <p:spPr>
          <a:xfrm>
            <a:off x="13393663" y="12313568"/>
            <a:ext cx="11520000" cy="2620859"/>
          </a:xfrm>
        </p:spPr>
        <p:txBody>
          <a:bodyPr>
            <a:normAutofit fontScale="90000" lnSpcReduction="10000"/>
          </a:bodyPr>
          <a:lstStyle/>
          <a:p>
            <a:r>
              <a:rPr sz="1800" b="1">
                <a:solidFill/>
              </a:rPr>
              <a:t>Por que Edge-Fog-Cloud: </a:t>
            </a:r>
            <a:r>
              <a:rPr sz="1800" b="0">
                <a:solidFill/>
              </a:rPr>
              <a:t>la jerarquia distribuye responsabilidades segun la capacidad de cada capa -- inferencia local de baja latencia en el borde, agregacion intermedia en el fog y coordinacion global en la nube -- sin enviar datos crudos al servidor.</a:t>
            </a:r>
          </a:p>
          <a:p>
            <a:r>
              <a:rPr sz="1800" b="1">
                <a:solidFill/>
              </a:rPr>
              <a:t>Hardware seleccionado:</a:t>
            </a:r>
          </a:p>
          <a:p>
            <a:r>
              <a:rPr sz="1800" b="1">
                <a:solidFill/>
              </a:rPr>
              <a:t>- ESP32-S3 </a:t>
            </a:r>
            <a:r>
              <a:rPr sz="1800" b="0">
                <a:solidFill/>
              </a:rPr>
              <a:t>(WiFi nativo, 512 KB SRAM, C++): suficiente para TinyML y ASCON-128 nativo.</a:t>
            </a:r>
          </a:p>
          <a:p>
            <a:r>
              <a:rPr sz="1800" b="1">
                <a:solidFill/>
              </a:rPr>
              <a:t>- Raspberry Pi 4: </a:t>
            </a:r>
            <a:r>
              <a:rPr sz="1800" b="0">
                <a:solidFill/>
              </a:rPr>
              <a:t>corre Mosquitto y entrenamiento Keras como gateway fog.</a:t>
            </a:r>
          </a:p>
          <a:p>
            <a:r>
              <a:rPr sz="1800" b="1">
                <a:solidFill/>
              </a:rPr>
              <a:t>- PC + FastAPI: </a:t>
            </a:r>
            <a:r>
              <a:rPr sz="1800" b="0">
                <a:solidFill/>
              </a:rPr>
              <a:t>coordinador flexible con dashboard analitico.</a:t>
            </a:r>
          </a:p>
          <a:p>
            <a:r>
              <a:rPr sz="1800" b="1">
                <a:solidFill/>
              </a:rPr>
              <a:t>Seleccion del modelo (notebook offline): </a:t>
            </a:r>
            <a:r>
              <a:rPr sz="1800" b="0">
                <a:solidFill/>
              </a:rPr>
              <a:t>se entrenaron y compararon MLP, CNN-1D, Residual MLP y Tiny Transformer sobre los datasets unificados. El MLP (~4.5 KB, 90.6% offline) gano por balance entre precision, tamano y simplicidad de exportacion a C++; la CNN-1D quedo como variante experimental (hfl_v7-CNN).</a:t>
            </a:r>
          </a:p>
          <a:p>
            <a:r>
              <a:rPr sz="1800" b="1">
                <a:solidFill/>
              </a:rPr>
              <a:t>Seguridad: </a:t>
            </a:r>
            <a:r>
              <a:rPr sz="1800" b="0">
                <a:solidFill/>
              </a:rPr>
              <a:t>ASCON-128 protege los 4 canales (envelope JSON); en modo FOG se anaden fog/weights y fog/global_model entre lider y peer.</a:t>
            </a:r>
          </a:p>
        </p:txBody>
      </p:sp>
      <p:sp>
        <p:nvSpPr>
          <p:cNvPr id="18" name="17 Metodologia contenido"/>
          <p:cNvSpPr>
            <a:spLocks noGrp="1"/>
          </p:cNvSpPr>
          <p:nvPr>
            <p:ph sz="quarter" idx="37"/>
          </p:nvPr>
        </p:nvSpPr>
        <p:spPr>
          <a:xfrm>
            <a:off x="648247" y="24482970"/>
            <a:ext cx="11520000" cy="3863199"/>
          </a:xfrm>
        </p:spPr>
        <p:txBody>
          <a:bodyPr>
            <a:normAutofit fontScale="92500" lnSpcReduction="10000"/>
          </a:bodyPr>
          <a:lstStyle/>
          <a:p>
            <a:r>
              <a:rPr sz="2800" b="1">
                <a:solidFill/>
              </a:rPr>
              <a:t>Protocolo HFL bidireccional en 3 fases:</a:t>
            </a:r>
            <a:endParaRPr lang="es-CO"/>
          </a:p>
          <a:p>
            <a:r>
              <a:rPr sz="2800" b="1">
                <a:solidFill/>
              </a:rPr>
              <a:t>1) Top-Down: </a:t>
            </a:r>
            <a:r>
              <a:rPr sz="2800" b="0">
                <a:solidFill/>
              </a:rPr>
              <a:t>PC -&gt; RPi -&gt; ESP32 (modelo global).</a:t>
            </a:r>
          </a:p>
          <a:p>
            <a:r>
              <a:rPr sz="2800" b="1">
                <a:solidFill/>
              </a:rPr>
              <a:t>2) Local: </a:t>
            </a:r>
            <a:r>
              <a:rPr sz="2800" b="0">
                <a:solidFill/>
              </a:rPr>
              <a:t>ESP32 publica features, RPi etiqueta y entrena.</a:t>
            </a:r>
          </a:p>
          <a:p>
            <a:r>
              <a:rPr sz="2800" b="1">
                <a:solidFill/>
              </a:rPr>
              <a:t>3) Bottom-Up: </a:t>
            </a:r>
            <a:r>
              <a:rPr sz="2800" b="0">
                <a:solidFill/>
              </a:rPr>
              <a:t>RPi reporta pesos, PC ejecuta FedAvg.</a:t>
            </a:r>
          </a:p>
          <a:p>
            <a:r>
              <a:rPr sz="2800" b="0">
                <a:solidFill/>
              </a:rPr>
              <a:t>Buffer N=30 muestras, 5 epocas, batch 8, Adam (lr=0.005).</a:t>
            </a:r>
          </a:p>
          <a:p>
            <a:r>
              <a:rPr sz="2800" b="0">
                <a:solidFill/>
              </a:rPr>
              <a:t>Modelo de amenazas explicito: confidencialidad, integridad y replay.</a:t>
            </a:r>
          </a:p>
        </p:txBody>
      </p:sp>
      <p:sp>
        <p:nvSpPr>
          <p:cNvPr id="19" name="18 Resultados contenido"/>
          <p:cNvSpPr>
            <a:spLocks noGrp="1"/>
          </p:cNvSpPr>
          <p:nvPr>
            <p:ph sz="quarter" idx="38"/>
          </p:nvPr>
        </p:nvSpPr>
        <p:spPr>
          <a:xfrm>
            <a:off x="13393663" y="20594488"/>
            <a:ext cx="11520000" cy="3340939"/>
          </a:xfrm>
        </p:spPr>
        <p:txBody>
          <a:bodyPr>
            <a:normAutofit fontScale="85000" lnSpcReduction="15000"/>
          </a:bodyPr>
          <a:lstStyle/>
          <a:p>
            <a:pPr marL="285750" indent="-285750">
              <a:buFont typeface="Arial" panose="020B0604020202020204" pitchFamily="34" charset="0"/>
              <a:buChar char="-"/>
            </a:pPr>
            <a:r>
              <a:rPr sz="2800" b="1">
                <a:solidFill/>
              </a:rPr>
              <a:t>Hallazgos clave (</a:t>
            </a:r>
            <a:r>
              <a:rPr sz="2800" b="1">
                <a:solidFill>
                  <a:srgbClr val="1F3A6E"/>
                </a:solidFill>
              </a:rPr>
              <a:t>58</a:t>
            </a:r>
            <a:r>
              <a:rPr sz="2800" b="1">
                <a:solidFill/>
              </a:rPr>
              <a:t> intentos sobre hardware):</a:t>
            </a:r>
          </a:p>
          <a:p>
            <a:r>
              <a:rPr sz="2800" b="1">
                <a:solidFill>
                  <a:srgbClr val="1F3A6E"/>
                </a:solidFill>
              </a:rPr>
              <a:t>CNN_ASCON_FOG</a:t>
            </a:r>
            <a:r>
              <a:rPr sz="2800" b="1">
                <a:solidFill>
                  <a:srgbClr val="1F3A6E"/>
                </a:solidFill>
              </a:rPr>
              <a:t>: </a:t>
            </a:r>
            <a:r>
              <a:rPr sz="2800" b="0">
                <a:solidFill/>
              </a:rPr>
              <a:t>acc </a:t>
            </a:r>
            <a:r>
              <a:rPr sz="2800" b="0">
                <a:solidFill>
                  <a:srgbClr val="1F6E4A"/>
                </a:solidFill>
              </a:rPr>
              <a:t>0.975</a:t>
            </a:r>
            <a:r>
              <a:rPr sz="2800" b="0">
                <a:solidFill/>
              </a:rPr>
              <a:t>, loss 0.091 (mejor variante).</a:t>
            </a:r>
          </a:p>
          <a:p>
            <a:r>
              <a:rPr sz="2800" b="0">
                <a:solidFill/>
              </a:rPr>
              <a:t>ASCON mejora la accuracy </a:t>
            </a:r>
            <a:r>
              <a:rPr sz="2800" b="0">
                <a:solidFill>
                  <a:srgbClr val="E66B17"/>
                </a:solidFill>
              </a:rPr>
              <a:t>+3.2 pts</a:t>
            </a:r>
            <a:r>
              <a:rPr sz="2800" b="0">
                <a:solidFill/>
              </a:rPr>
              <a:t> vs PLAIN.</a:t>
            </a:r>
          </a:p>
          <a:p>
            <a:r>
              <a:rPr sz="2800" b="0">
                <a:solidFill/>
              </a:rPr>
              <a:t>Overhead temporal ASCON: </a:t>
            </a:r>
            <a:r>
              <a:rPr sz="2800" b="0">
                <a:solidFill>
                  <a:srgbClr val="7E1E1E"/>
                </a:solidFill>
              </a:rPr>
              <a:t>0.10-0.27%</a:t>
            </a:r>
            <a:r>
              <a:rPr sz="2800" b="0">
                <a:solidFill/>
              </a:rPr>
              <a:t> del ciclo FL.</a:t>
            </a:r>
          </a:p>
          <a:p>
            <a:r>
              <a:rPr sz="2800" b="0">
                <a:solidFill/>
              </a:rPr>
              <a:t>Overhead de tamano: </a:t>
            </a:r>
            <a:r>
              <a:rPr sz="2800" b="0">
                <a:solidFill>
                  <a:srgbClr val="7E1E1E"/>
                </a:solidFill>
              </a:rPr>
              <a:t>+48%</a:t>
            </a:r>
            <a:r>
              <a:rPr sz="2800" b="0">
                <a:solidFill/>
              </a:rPr>
              <a:t> por mensaje (</a:t>
            </a:r>
            <a:r>
              <a:rPr sz="2800" b="0">
                <a:solidFill>
                  <a:srgbClr val="7E1E1E"/>
                </a:solidFill>
              </a:rPr>
              <a:t>~1.07 KB</a:t>
            </a:r>
            <a:r>
              <a:rPr sz="2800" b="0">
                <a:solidFill/>
              </a:rPr>
              <a:t>).</a:t>
            </a:r>
          </a:p>
          <a:p>
            <a:r>
              <a:rPr sz="2800" b="0">
                <a:solidFill/>
              </a:rPr>
              <a:t>Convergencia &gt;0.90 en 5-10 rondas.</a:t>
            </a:r>
          </a:p>
        </p:txBody>
      </p:sp>
      <p:sp>
        <p:nvSpPr>
          <p:cNvPr id="20" name="19 Conclusiones contenido"/>
          <p:cNvSpPr>
            <a:spLocks noGrp="1"/>
          </p:cNvSpPr>
          <p:nvPr>
            <p:ph sz="quarter" idx="39"/>
          </p:nvPr>
        </p:nvSpPr>
        <p:spPr/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-"/>
            </a:pPr>
            <a:r>
              <a:rPr sz="2000" b="1">
                <a:solidFill/>
              </a:rPr>
              <a:t>Viabilidad TinyML: </a:t>
            </a:r>
            <a:r>
              <a:rPr sz="2000" b="0">
                <a:solidFill/>
              </a:rPr>
              <a:t>un MLP de 1.139 parametros (~4.5 KB) y una CNN-1D federada se ejecutan en el ESP32-S3 con accuracy operativa entre 0.93 y 0.97, validando que MCUs comerciales pueden hospedar IDS de red sin acelerador externo ni cuantizacion agresiva.</a:t>
            </a:r>
          </a:p>
          <a:p>
            <a:r>
              <a:rPr sz="2000" b="1">
                <a:solidFill/>
              </a:rPr>
              <a:t>Privacidad sin sacrificio relevante: </a:t>
            </a:r>
            <a:r>
              <a:rPr sz="2000" b="0">
                <a:solidFill/>
              </a:rPr>
              <a:t>el HFL reduce </a:t>
            </a:r>
            <a:r>
              <a:rPr sz="2000" b="0">
                <a:solidFill>
                  <a:srgbClr val="E66B17"/>
                </a:solidFill>
              </a:rPr>
              <a:t>&gt;99.99%</a:t>
            </a:r>
            <a:r>
              <a:rPr sz="2000" b="0">
                <a:solidFill/>
              </a:rPr>
              <a:t> el intercambio de datos sensibles (de ~13.3M valores crudos a 163 parametros por ronda) con una penalizacion de solo 2-3 pts de accuracy frente al modelo centralizado equivalente.</a:t>
            </a:r>
          </a:p>
          <a:p>
            <a:r>
              <a:rPr sz="2000" b="1">
                <a:solidFill/>
              </a:rPr>
              <a:t>ASCON-128 mejora, no degrada: </a:t>
            </a:r>
            <a:r>
              <a:rPr sz="2000" b="0">
                <a:solidFill/>
              </a:rPr>
              <a:t>lejos de ser un costo a aceptar, el cifrado autenticado mejora </a:t>
            </a:r>
            <a:r>
              <a:rPr sz="2000" b="0">
                <a:solidFill>
                  <a:srgbClr val="E66B17"/>
                </a:solidFill>
              </a:rPr>
              <a:t>+3.2 pts</a:t>
            </a:r>
            <a:r>
              <a:rPr sz="2000" b="0">
                <a:solidFill/>
              </a:rPr>
              <a:t> la accuracy promedio frente a la baseline PLAIN porque su validacion de tag actua como filtro implicito de mensajes corruptos; el overhead temporal queda en </a:t>
            </a:r>
            <a:r>
              <a:rPr sz="2000" b="0">
                <a:solidFill>
                  <a:srgbClr val="7E1E1E"/>
                </a:solidFill>
              </a:rPr>
              <a:t>0.10-0.27%</a:t>
            </a:r>
            <a:r>
              <a:rPr sz="2000" b="0">
                <a:solidFill/>
              </a:rPr>
              <a:t> del ciclo federado.</a:t>
            </a:r>
          </a:p>
          <a:p>
            <a:r>
              <a:rPr sz="2000" b="1">
                <a:solidFill/>
              </a:rPr>
              <a:t>FOG depende de la integridad del canal: </a:t>
            </a:r>
            <a:r>
              <a:rPr sz="2000" b="0">
                <a:solidFill/>
              </a:rPr>
              <a:t>la pre-agregacion FOG mejora CNN +1.5 pts y RN+ASCON +2.5 pts, pero degrada RN_PLAIN_FOG (</a:t>
            </a:r>
            <a:r>
              <a:rPr sz="2000" b="0">
                <a:solidFill>
                  <a:srgbClr val="E66B17"/>
                </a:solidFill>
              </a:rPr>
              <a:t>-3 pts)</a:t>
            </a:r>
            <a:r>
              <a:rPr sz="2000" b="0">
                <a:solidFill/>
              </a:rPr>
              <a:t>, lo que muestra que la integridad autenticada no es complementaria a la topologia fog sino condicion habilitante.</a:t>
            </a:r>
          </a:p>
          <a:p>
            <a:r>
              <a:rPr sz="2000" b="1">
                <a:solidFill/>
              </a:rPr>
              <a:t>Trabajo futuro: </a:t>
            </a:r>
            <a:r>
              <a:rPr sz="2000" b="0">
                <a:solidFill/>
              </a:rPr>
              <a:t>extender la arquitectura con robustez bizantina (Krum, FLTrust), cuantizacion INT8 para MCUs aun mas pequenos, contramedidas de canal lateral sobre ASCON, datasets reales (CICIoT2023, TON_IoT) y privacidad diferencial.</a:t>
            </a:r>
          </a:p>
        </p:txBody>
      </p:sp>
      <p:pic>
        <p:nvPicPr>
          <p:cNvPr id="21" name="Picture 20" descr="hfl_v7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8561" y="15117307"/>
            <a:ext cx="5670204" cy="3657600"/>
          </a:xfrm>
          <a:prstGeom prst="rect">
            <a:avLst/>
          </a:prstGeom>
        </p:spPr>
      </p:pic>
      <p:pic>
        <p:nvPicPr>
          <p:cNvPr id="22" name="Picture 21" descr="hfl_v7_bidirectional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433" y="28529049"/>
            <a:ext cx="7015627" cy="5943600"/>
          </a:xfrm>
          <a:prstGeom prst="rect">
            <a:avLst/>
          </a:prstGeom>
        </p:spPr>
      </p:pic>
      <p:pic>
        <p:nvPicPr>
          <p:cNvPr id="23" name="Picture 22" descr="global_accuracy_l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6418" y="24118307"/>
            <a:ext cx="9274489" cy="3657600"/>
          </a:xfrm>
          <a:prstGeom prst="rect">
            <a:avLst/>
          </a:prstGeom>
        </p:spPr>
      </p:pic>
      <p:pic>
        <p:nvPicPr>
          <p:cNvPr id="24" name="Picture 23" descr="kpi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2661" y="10561320"/>
            <a:ext cx="20932117" cy="1554480"/>
          </a:xfrm>
          <a:prstGeom prst="rect">
            <a:avLst/>
          </a:prstGeom>
        </p:spPr>
      </p:pic>
      <p:pic>
        <p:nvPicPr>
          <p:cNvPr id="25" name="Picture 24" descr="weight_magnitude_trend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72255" y="27889200"/>
            <a:ext cx="6168850" cy="15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91945"/>
      </p:ext>
    </p:extLst>
  </p:cSld>
  <p:clrMapOvr>
    <a:masterClrMapping/>
  </p:clrMapOvr>
</p:sld>
</file>

<file path=ppt/theme/theme1.xml><?xml version="1.0" encoding="utf-8"?>
<a:theme xmlns:a="http://schemas.openxmlformats.org/drawingml/2006/main" name="FormatoPoster_ISI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stersInvestigacion" id="{D959789F-7C6C-C840-A820-9D76BA96E514}" vid="{DE1612A0-BF95-BF4E-B9AF-E78A0732F9A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0</Words>
  <Application>Microsoft Macintosh PowerPoint</Application>
  <PresentationFormat>Custom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Calibri</vt:lpstr>
      <vt:lpstr>Arial</vt:lpstr>
      <vt:lpstr>FormatoPoster_ISIS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Mario Eduardo Sanchez Puccini</dc:creator>
  <cp:lastModifiedBy>Mario Eduardo Sanchez Puccini</cp:lastModifiedBy>
  <cp:revision>4</cp:revision>
  <dcterms:created xsi:type="dcterms:W3CDTF">2016-02-24T12:38:22Z</dcterms:created>
  <dcterms:modified xsi:type="dcterms:W3CDTF">2016-02-24T12:45:05Z</dcterms:modified>
</cp:coreProperties>
</file>